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deck to walk leaders through how people in your organization use Microsoft 365 Copilot, Copilot Chat and agents, with the AI-in-One dashboard v2.0.0.
Every screenshot uses made-up example data. The numbers show how the pages work; they are not benchmarks or targets.
Suggested flow: three questions, five steps, four short acts, then agree one next step. Plan for 20 to 30 minutes. Keep the live report open so you can switch to your own team and dates when a question comes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session around three questions. Pick the one your audience cares about most and spend most of your time there.
Who is using Copilot? Start on Copilot Usage Explorer, then compare experiences on the two Copilot Overall pages.
Is it becoming a habit? The habit pages show how many days people used Copilot in a month. The usage-trend pages show whether people come back each week.
Where should we invest next? The agent pages show which agents reach people and keep them coming back. License Prioritization helps start a licensing conversation.
Keep the same team and dates as you move between pages; your selections follow you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steps work for any audience.
1. Choose the people. Org filters, beside Clear filters, lets you pick company, division, department, reporting team, user and license. Reporting team includes a manager's direct and indirect reports.
2. Choose the dates. End on a full month: the habit pages describe the month before the end of your selected range.
3. See the whole picture on Copilot Usage Explorer.
4. Look closer on the comparison, habit and agent pages.
5. Agree one next step.
Before you present, confirm the approved Minimum Group Size and that each viewer has the right row-level security role. In Power BI Desktop, hold Ctrl when you select report buttons; in the Power BI service a normal click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Usage Explorer is the starting page. It answers: how is my team, a manager's organization or one agent using Copilot right now?
1. Active users are people with recorded activity in the selected dates. Prompts are requests people sent. Sessions are conversations. Prompts per session shows depth, which can reflect useful work, retries or a difficult task. Repeat users have at least two sessions in the period.
2. The thin lines are daily values; the bold lines are 7-day averages.
3. One person can use several experiences, so these bars are not parts of one total.
4. The agent table lists every agent the selected people used. Right-click a name and choose Drill through, then Agent drillthrough, for that agent's details with the same team and dates.
Tip: Org filters, then Reporting team, lets you search for any manager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Combined Trends compares the three main experiences over time: agents, Copilot Chat used without a Microsoft 365 Copilot license, and licensed Microsoft 365 Copilot.
The key message: one person can appear in several groups. Don't add the user counts together and don't assume people moved from one experience to another.
Weekly sessions per user is each active user's sessions divided by the weeks they were active, then averaged. It is not divided by every calendar week.
Inactive licensed users are licensed people with no recorded licensed-chat activity in the selected dates. That alone doesn't prove a license has no value; it's a reason to ask what would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heat colors to spot the busiest departments quickly.
The agent percentages answer one question per table: of this table's chat users, what share also used agents? Agent-only users and people with unknown license status don't inflate it.
License status comes from the people file supplied when the data was collected. It is a snapshot, not a history of every license change. Unknown is shown as Unknown, never treated as unlicensed.
Department results come first. Individual people appear only when the report owner has approved Minimum Group Size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habit pages: agents, M365 Copilot and Copilot Chat. They all use the same four groups: Light is 1 to 5 active days in the month, Moderate 6 to 10, Frequent 11 to 15 and Daily 16 or more.
The habit month is printed at the top of each habit page. It is the calendar month before the end of your selected dates. If your dates end on 30 September, the cards describe August.
The cards and the previous-month bars describe that month. The department and agent tables describe the whole selected period, so their totals won't match the cards.
Use habits to discuss routines, not to rate people. Different roles naturally use Copilot on different numbers of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focuses on people recorded with a Microsoft 365 Copilot license in the supplied people file.
Read users, sessions and apps together rather than choosing one number as a verdict on licenses. Some apps record more detail than others, so a small count can reflect how activity is recorded.
Month-over-month change compares sessions with the previous period for the selected dates. It isn't a target.
Usage alone doesn't prove productivity gains or that a license paid for itself. Use the pattern to ask the team what is working and where training or access would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pages count recorded Copilot Chat activity from people listed without a Microsoft 365 Copilot license. Agent activity, Cowork and activity the report can't identify are kept separate and aren't counted as chat.
The repeat-use line is a share of that day's active users. For example, 50% means half the people active that day had another chat session. It doesn't mean half the company used chat.
More sessions can mean useful work, retries or a difficult task. Ask the team what was happening before drawing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 and repeat use tell you different things. Reach is how many people used an agent. Repeat use is the share with at least two separate conversations in the selected period; it's not next-month retention.
Agent adoption is agent users divided by all active Copilot users.
A widely used agent with little repeat use raises a different question from a specialist agent used regularly by a small team. Look at several weeks, not one busy day.
The filters on the right let you focus by return rate, review status, agent type, agent name and recency.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label combines reach and recency for the selected team and dates.
No usage: no recorded activity in this selection. Review: last activity more than 60 days before the end of the selected dates. High impact: user and organization thresholds are met for the agent's type (100 users and 10 organizations for Microsoft agents, 30 and 3 for Agent Builder, 50 and 5 for others). Keep: everything else with recent use.
These thresholds are rules of thumb built into the report, not validated benchmarks. An agent can be valuable for an occasional specialist task without much activity. Missing catalog details are different from no recorded use, and a group below the minimum size may not show at all.
Before improving, sharing or retiring an agent, ask its owner what it's for and what its users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to reach agent details.
1. Open the Agent Details tab to browse freely. It starts with all agents.
2. On any page with agent names, right-click a name, choose Drill through, then Agent drillthrough. The details open for that agent with the same team and dates. Back returns you to where you were, and Explore all agents lets you pick another while keeping the team and dates.
Repeat users means people with at least two sessions in the selected period, not a later-month retention measure.
The agent's listed capabilities describe what it can do, not proof that every feature was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Chat users, licensed users and inactive licensed users at a glance.
2. The unlicensed usage leaderboard ranks departments by how much people without a Microsoft 365 Copilot license use Copilot Chat, with median weekly sessions and active days.
3. The scatter plots each department by how often and how regularly people use Copilot Chat. Departments toward the High Priority corner use it most. The reference lines are the selected group's medians, not targets.
The score weights weekly sessions 60%, weekly active days 30% and sessions per active day 10%. These weights are choices made for the score, not universal measures of value.
Use the page to identify a licensing conversation worth having. Bring in role, need, cost and colleague feedback. Individual rankings appear only when Minimum Group Size 1 has been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when your audience starts drawing strong conclusions.
1. People in scope is the eligible headcount for the selected group; Minimum Group Size uses that headcount. Active users are those with recorded activity in the dates.
2. The same person can appear in several experience groups, so totals aren't additive.
3. The report counts user prompts and conversations. It doesn't measure answer quality, time saved, revenue or employee performance.
4. Habit cards use the month before the end of the selected dates.
5. License status comes from the people file supplied when the data was collected, not a history of every change.
6. Activity categories are inferred from audit records and agent descriptions; they aren't measured outcomes.
The Metric Glossary &amp; Guide page in the report has a definition for every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Minimum Group Size is set by the report owner. It counts eligible people in the group, not active users, so a qualifying team can show zero, one or two active users. The default of 3 keeps reporting at team level. A setting of 1 enables individual views, such as By user on the agent leaderboard, and needs approval.
The setting is a display rule, not anonymization, and it doesn't replace access permissions.
Row-level security decides whose data each viewer sees. Reporting hierarchy: viewers see themselves and everyone who reports to them, matched by sign-in name. All data viewers: everyone. Until people or groups are assigned to a role in the Power BI service, viewers can't see the report's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with a practical question. A pattern might point to training, an agent worth sharing or a task worth exploring, but the chart alone can't tell you which explanation is right.
Agree one change and revisit the same team with comparable dates next period. Ask colleagues whether the change helped their work, not just whether the numbers went up.
If the report will be used for recurring reviews, ask its owner to confirm that scheduled refresh brings in new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agreeing one next step and a date to look again.
Point people to the Interpretation Guide for detail on every page and number, and to the Metric Glossary &amp; Guide page inside the report. The dashboard at aka.ms/AI-in-One has the screenshot tour, setup instructions and the latest templates. More free reports from the Microsoft Copilot Analytics team are at aka.ms/Analytics-Hub.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microsoft/AI-in-One-Dashboard/blob/preview/AI-in-One%20-%20v2.0.0%20-%20Interpretation%20Guide.pdf" TargetMode="External"/><Relationship Id="rId4" Type="http://schemas.openxmlformats.org/officeDocument/2006/relationships/hyperlink" Target="https://github.com/microsoft/AI-in-One-Dashboard/blob/preview/Report%20Screenshots.md#page-17" TargetMode="External"/><Relationship Id="rId5" Type="http://schemas.openxmlformats.org/officeDocument/2006/relationships/hyperlink" Target="https://github.com/microsoft/AI-in-One-Dashboard/blob/preview/Report%20Screenshots.md" TargetMode="External"/><Relationship Id="rId6" Type="http://schemas.openxmlformats.org/officeDocument/2006/relationships/hyperlink" Target="https://aka.ms/Analytics-Hub" TargetMode="External"/><Relationship Id="rId7" Type="http://schemas.openxmlformats.org/officeDocument/2006/relationships/hyperlink" Target="https://aka.ms/AI-in-One" TargetMode="External"/><Relationship Id="rId1" Type="http://schemas.openxmlformats.org/officeDocument/2006/relationships/image" Target="../media/image-17-1.png"/><Relationship Id="rId2" Type="http://schemas.openxmlformats.org/officeDocument/2006/relationships/image" Target="../media/image-17-2.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1833"/>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612648" y="1143000"/>
            <a:ext cx="8686800" cy="2377440"/>
          </a:xfrm>
          <a:prstGeom prst="rect">
            <a:avLst/>
          </a:prstGeom>
          <a:noFill/>
          <a:ln/>
        </p:spPr>
        <p:txBody>
          <a:bodyPr wrap="square" lIns="0" tIns="0" rIns="0" bIns="0" rtlCol="0" anchor="t"/>
          <a:lstStyle/>
          <a:p>
            <a:pPr indent="0" marL="0">
              <a:buNone/>
            </a:pPr>
            <a:r>
              <a:rPr lang="en-US" sz="5400" dirty="0">
                <a:solidFill>
                  <a:srgbClr val="FFFFFF"/>
                </a:solidFill>
                <a:latin typeface="Segoe UI Semibold" pitchFamily="34" charset="0"/>
                <a:ea typeface="Segoe UI Semibold" pitchFamily="34" charset="-122"/>
                <a:cs typeface="Segoe UI Semibold" pitchFamily="34" charset="-120"/>
              </a:rPr>
              <a:t>Tell your Copilot</a:t>
            </a:r>
            <a:endParaRPr lang="en-US" sz="5400" dirty="0"/>
          </a:p>
          <a:p>
            <a:pPr indent="0" marL="0">
              <a:buNone/>
            </a:pPr>
            <a:r>
              <a:rPr lang="en-US" sz="5400" dirty="0">
                <a:solidFill>
                  <a:srgbClr val="FFFFFF"/>
                </a:solidFill>
                <a:latin typeface="Segoe UI Semibold" pitchFamily="34" charset="0"/>
                <a:ea typeface="Segoe UI Semibold" pitchFamily="34" charset="-122"/>
                <a:cs typeface="Segoe UI Semibold" pitchFamily="34" charset="-120"/>
              </a:rPr>
              <a:t>adoption story.</a:t>
            </a:r>
            <a:endParaRPr lang="en-US" sz="5400" dirty="0"/>
          </a:p>
        </p:txBody>
      </p:sp>
      <p:sp>
        <p:nvSpPr>
          <p:cNvPr id="5" name="Text 1"/>
          <p:cNvSpPr/>
          <p:nvPr/>
        </p:nvSpPr>
        <p:spPr>
          <a:xfrm>
            <a:off x="612648" y="3977640"/>
            <a:ext cx="6766560" cy="457200"/>
          </a:xfrm>
          <a:prstGeom prst="rect">
            <a:avLst/>
          </a:prstGeom>
          <a:noFill/>
          <a:ln/>
        </p:spPr>
        <p:txBody>
          <a:bodyPr wrap="square" lIns="0" tIns="0" rIns="0" bIns="0" rtlCol="0" anchor="ctr"/>
          <a:lstStyle/>
          <a:p>
            <a:pPr indent="0" marL="0">
              <a:buNone/>
            </a:pPr>
            <a:r>
              <a:rPr lang="en-US" sz="2200" dirty="0">
                <a:solidFill>
                  <a:srgbClr val="B9F3E0"/>
                </a:solidFill>
                <a:latin typeface="Segoe UI Semibold" pitchFamily="34" charset="0"/>
                <a:ea typeface="Segoe UI Semibold" pitchFamily="34" charset="-122"/>
                <a:cs typeface="Segoe UI Semibold" pitchFamily="34" charset="-120"/>
              </a:rPr>
              <a:t>AI-in-One Dashboard v2.0.0  ·  Storyboard</a:t>
            </a:r>
            <a:endParaRPr lang="en-US" sz="2200" dirty="0"/>
          </a:p>
        </p:txBody>
      </p:sp>
      <p:sp>
        <p:nvSpPr>
          <p:cNvPr id="6" name="Text 2"/>
          <p:cNvSpPr/>
          <p:nvPr/>
        </p:nvSpPr>
        <p:spPr>
          <a:xfrm>
            <a:off x="612648" y="4572000"/>
            <a:ext cx="6400800" cy="1097280"/>
          </a:xfrm>
          <a:prstGeom prst="rect">
            <a:avLst/>
          </a:prstGeom>
          <a:noFill/>
          <a:ln/>
        </p:spPr>
        <p:txBody>
          <a:bodyPr wrap="square" lIns="0" tIns="0" rIns="0" bIns="0" rtlCol="0" anchor="t"/>
          <a:lstStyle/>
          <a:p>
            <a:pPr indent="0" marL="0">
              <a:buNone/>
            </a:pPr>
            <a:r>
              <a:rPr lang="en-US" sz="1800" dirty="0">
                <a:solidFill>
                  <a:srgbClr val="CEBEDC"/>
                </a:solidFill>
                <a:latin typeface="Segoe UI" pitchFamily="34" charset="0"/>
                <a:ea typeface="Segoe UI" pitchFamily="34" charset="-122"/>
                <a:cs typeface="Segoe UI" pitchFamily="34" charset="-120"/>
              </a:rPr>
              <a:t>A ready-to-present walkthrough for leadership reviews, adoption councils and stakeholder briefings.</a:t>
            </a:r>
            <a:endParaRPr lang="en-US" sz="1800" dirty="0"/>
          </a:p>
        </p:txBody>
      </p:sp>
      <p:sp>
        <p:nvSpPr>
          <p:cNvPr id="7" name="Text 3"/>
          <p:cNvSpPr/>
          <p:nvPr/>
        </p:nvSpPr>
        <p:spPr>
          <a:xfrm>
            <a:off x="612648" y="8092440"/>
            <a:ext cx="5486400" cy="731520"/>
          </a:xfrm>
          <a:prstGeom prst="rect">
            <a:avLst/>
          </a:prstGeom>
          <a:noFill/>
          <a:ln/>
        </p:spPr>
        <p:txBody>
          <a:bodyPr wrap="square" lIns="0" tIns="0" rIns="0" bIns="0" rtlCol="0" anchor="b"/>
          <a:lstStyle/>
          <a:p>
            <a:pPr indent="0" marL="0">
              <a:buNone/>
            </a:pPr>
            <a:r>
              <a:rPr lang="en-US" sz="1400" dirty="0">
                <a:solidFill>
                  <a:srgbClr val="CEBEDC"/>
                </a:solidFill>
                <a:latin typeface="Segoe UI" pitchFamily="34" charset="0"/>
                <a:ea typeface="Segoe UI" pitchFamily="34" charset="-122"/>
                <a:cs typeface="Segoe UI" pitchFamily="34" charset="-120"/>
              </a:rPr>
              <a:t>Microsoft Copilot Analytics Team</a:t>
            </a:r>
            <a:endParaRPr lang="en-US" sz="1400" dirty="0"/>
          </a:p>
          <a:p>
            <a:pPr indent="0" marL="0">
              <a:buNone/>
            </a:pPr>
            <a:r>
              <a:rPr lang="en-US" sz="1400" dirty="0">
                <a:solidFill>
                  <a:srgbClr val="CEBEDC"/>
                </a:solidFill>
                <a:latin typeface="Segoe UI" pitchFamily="34" charset="0"/>
                <a:ea typeface="Segoe UI" pitchFamily="34" charset="-122"/>
                <a:cs typeface="Segoe UI" pitchFamily="34" charset="-120"/>
              </a:rPr>
              <a:t>October 2026</a:t>
            </a:r>
            <a:endParaRPr lang="en-US" sz="1400" dirty="0"/>
          </a:p>
        </p:txBody>
      </p:sp>
      <p:sp>
        <p:nvSpPr>
          <p:cNvPr id="8" name="Shape 4"/>
          <p:cNvSpPr/>
          <p:nvPr/>
        </p:nvSpPr>
        <p:spPr>
          <a:xfrm>
            <a:off x="7635240" y="3063240"/>
            <a:ext cx="10040112" cy="6446520"/>
          </a:xfrm>
          <a:prstGeom prst="roundRect">
            <a:avLst>
              <a:gd name="adj" fmla="val 1418"/>
            </a:avLst>
          </a:prstGeom>
          <a:solidFill>
            <a:srgbClr val="FFFFFF"/>
          </a:solidFill>
          <a:ln/>
        </p:spPr>
      </p:sp>
      <p:pic>
        <p:nvPicPr>
          <p:cNvPr id="9" name="Image 2" descr="Copilot Usage Explorer page">    </p:cNvPr>
          <p:cNvPicPr>
            <a:picLocks noChangeAspect="1"/>
          </p:cNvPicPr>
          <p:nvPr/>
        </p:nvPicPr>
        <p:blipFill>
          <a:blip r:embed="rId3"/>
          <a:stretch>
            <a:fillRect/>
          </a:stretch>
        </p:blipFill>
        <p:spPr>
          <a:xfrm>
            <a:off x="7863840" y="3291840"/>
            <a:ext cx="9582912" cy="59114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F8"/>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637087"/>
                </a:solidFill>
                <a:latin typeface="Segoe UI" pitchFamily="34" charset="0"/>
                <a:ea typeface="Segoe UI" pitchFamily="34" charset="-122"/>
                <a:cs typeface="Segoe UI" pitchFamily="34" charset="-120"/>
              </a:rPr>
              <a:t>02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indent="0" marL="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THE STORY</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251833"/>
                </a:solidFill>
                <a:latin typeface="Segoe UI Semibold" pitchFamily="34" charset="0"/>
                <a:ea typeface="Segoe UI Semibold" pitchFamily="34" charset="-122"/>
                <a:cs typeface="Segoe UI Semibold" pitchFamily="34" charset="-120"/>
              </a:rPr>
              <a:t>Three questions every leader asks</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indent="0" marL="0">
              <a:buNone/>
            </a:pPr>
            <a:r>
              <a:rPr lang="en-US" sz="2000" dirty="0">
                <a:solidFill>
                  <a:srgbClr val="637087"/>
                </a:solidFill>
                <a:latin typeface="Segoe UI" pitchFamily="34" charset="0"/>
                <a:ea typeface="Segoe UI" pitchFamily="34" charset="-122"/>
                <a:cs typeface="Segoe UI" pitchFamily="34" charset="-120"/>
              </a:rPr>
              <a:t>Answer them in order, keeping the same team and dates on every page.</a:t>
            </a:r>
            <a:endParaRPr lang="en-US" sz="2000" dirty="0"/>
          </a:p>
        </p:txBody>
      </p:sp>
      <p:sp>
        <p:nvSpPr>
          <p:cNvPr id="9" name="Shape 5"/>
          <p:cNvSpPr/>
          <p:nvPr/>
        </p:nvSpPr>
        <p:spPr>
          <a:xfrm>
            <a:off x="612648" y="2331720"/>
            <a:ext cx="5504688" cy="6446520"/>
          </a:xfrm>
          <a:prstGeom prst="roundRect">
            <a:avLst>
              <a:gd name="adj" fmla="val 1661"/>
            </a:avLst>
          </a:prstGeom>
          <a:solidFill>
            <a:srgbClr val="FFFFFF"/>
          </a:solidFill>
          <a:ln w="12700">
            <a:solidFill>
              <a:srgbClr val="E2DDEB"/>
            </a:solidFill>
            <a:prstDash val="solid"/>
          </a:ln>
        </p:spPr>
      </p:sp>
      <p:sp>
        <p:nvSpPr>
          <p:cNvPr id="10" name="Text 6"/>
          <p:cNvSpPr/>
          <p:nvPr/>
        </p:nvSpPr>
        <p:spPr>
          <a:xfrm>
            <a:off x="978408" y="2606040"/>
            <a:ext cx="1828800" cy="914400"/>
          </a:xfrm>
          <a:prstGeom prst="rect">
            <a:avLst/>
          </a:prstGeom>
          <a:noFill/>
          <a:ln/>
        </p:spPr>
        <p:txBody>
          <a:bodyPr wrap="square" lIns="0" tIns="0" rIns="0" bIns="0" rtlCol="0" anchor="ctr"/>
          <a:lstStyle/>
          <a:p>
            <a:pPr indent="0" marL="0">
              <a:buNone/>
            </a:pPr>
            <a:r>
              <a:rPr lang="en-US" sz="4800" dirty="0">
                <a:solidFill>
                  <a:srgbClr val="7953B8"/>
                </a:solidFill>
                <a:latin typeface="Segoe UI Semibold" pitchFamily="34" charset="0"/>
                <a:ea typeface="Segoe UI Semibold" pitchFamily="34" charset="-122"/>
                <a:cs typeface="Segoe UI Semibold" pitchFamily="34" charset="-120"/>
              </a:rPr>
              <a:t>01</a:t>
            </a:r>
            <a:endParaRPr lang="en-US" sz="4800" dirty="0"/>
          </a:p>
        </p:txBody>
      </p:sp>
      <p:sp>
        <p:nvSpPr>
          <p:cNvPr id="11" name="Text 7"/>
          <p:cNvSpPr/>
          <p:nvPr/>
        </p:nvSpPr>
        <p:spPr>
          <a:xfrm>
            <a:off x="978408" y="3657600"/>
            <a:ext cx="4773168" cy="822960"/>
          </a:xfrm>
          <a:prstGeom prst="rect">
            <a:avLst/>
          </a:prstGeom>
          <a:noFill/>
          <a:ln/>
        </p:spPr>
        <p:txBody>
          <a:bodyPr wrap="square" lIns="0" tIns="0" rIns="0" bIns="0" rtlCol="0" anchor="t"/>
          <a:lstStyle/>
          <a:p>
            <a:pPr indent="0" marL="0">
              <a:buNone/>
            </a:pPr>
            <a:r>
              <a:rPr lang="en-US" sz="2600" dirty="0">
                <a:solidFill>
                  <a:srgbClr val="251833"/>
                </a:solidFill>
                <a:latin typeface="Segoe UI Semibold" pitchFamily="34" charset="0"/>
                <a:ea typeface="Segoe UI Semibold" pitchFamily="34" charset="-122"/>
                <a:cs typeface="Segoe UI Semibold" pitchFamily="34" charset="-120"/>
              </a:rPr>
              <a:t>Who is using Copilot?</a:t>
            </a:r>
            <a:endParaRPr lang="en-US" sz="2600" dirty="0"/>
          </a:p>
        </p:txBody>
      </p:sp>
      <p:sp>
        <p:nvSpPr>
          <p:cNvPr id="12" name="Text 8"/>
          <p:cNvSpPr/>
          <p:nvPr/>
        </p:nvSpPr>
        <p:spPr>
          <a:xfrm>
            <a:off x="978408" y="4526280"/>
            <a:ext cx="4773168" cy="1417320"/>
          </a:xfrm>
          <a:prstGeom prst="rect">
            <a:avLst/>
          </a:prstGeom>
          <a:noFill/>
          <a:ln/>
        </p:spPr>
        <p:txBody>
          <a:bodyPr wrap="square" lIns="0" tIns="0" rIns="0" bIns="0" rtlCol="0" anchor="t"/>
          <a:lstStyle/>
          <a:p>
            <a:pPr indent="0" marL="0">
              <a:buNone/>
            </a:pPr>
            <a:r>
              <a:rPr lang="en-US" sz="1900" dirty="0">
                <a:solidFill>
                  <a:srgbClr val="637087"/>
                </a:solidFill>
                <a:latin typeface="Segoe UI" pitchFamily="34" charset="0"/>
                <a:ea typeface="Segoe UI" pitchFamily="34" charset="-122"/>
                <a:cs typeface="Segoe UI" pitchFamily="34" charset="-120"/>
              </a:rPr>
              <a:t>How many people use Microsoft 365 Copilot, Copilot Chat and agents, and how much.</a:t>
            </a:r>
            <a:endParaRPr lang="en-US" sz="1900" dirty="0"/>
          </a:p>
        </p:txBody>
      </p:sp>
      <p:sp>
        <p:nvSpPr>
          <p:cNvPr id="13" name="Shape 9"/>
          <p:cNvSpPr/>
          <p:nvPr/>
        </p:nvSpPr>
        <p:spPr>
          <a:xfrm>
            <a:off x="978408" y="6172200"/>
            <a:ext cx="4773168" cy="18288"/>
          </a:xfrm>
          <a:prstGeom prst="rect">
            <a:avLst/>
          </a:prstGeom>
          <a:solidFill>
            <a:srgbClr val="E2DDEB"/>
          </a:solidFill>
          <a:ln/>
        </p:spPr>
      </p:sp>
      <p:sp>
        <p:nvSpPr>
          <p:cNvPr id="14" name="Text 10"/>
          <p:cNvSpPr/>
          <p:nvPr/>
        </p:nvSpPr>
        <p:spPr>
          <a:xfrm>
            <a:off x="978408" y="6355080"/>
            <a:ext cx="4773168" cy="320040"/>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WHERE TO LOOK</a:t>
            </a:r>
            <a:endParaRPr lang="en-US" sz="1200" dirty="0"/>
          </a:p>
        </p:txBody>
      </p:sp>
      <p:sp>
        <p:nvSpPr>
          <p:cNvPr id="15" name="Text 11"/>
          <p:cNvSpPr/>
          <p:nvPr/>
        </p:nvSpPr>
        <p:spPr>
          <a:xfrm>
            <a:off x="978408" y="6748272"/>
            <a:ext cx="4773168" cy="1463040"/>
          </a:xfrm>
          <a:prstGeom prst="rect">
            <a:avLst/>
          </a:prstGeom>
          <a:noFill/>
          <a:ln/>
        </p:spPr>
        <p:txBody>
          <a:bodyPr wrap="square" lIns="0" tIns="0" rIns="0" bIns="0" rtlCol="0" anchor="t"/>
          <a:lstStyle/>
          <a:p>
            <a:pPr indent="0" marL="0">
              <a:spcAft>
                <a:spcPts val="400"/>
              </a:spcAft>
              <a:buNone/>
            </a:pPr>
            <a:r>
              <a:rPr lang="en-US" sz="1800" dirty="0">
                <a:solidFill>
                  <a:srgbClr val="26354A"/>
                </a:solidFill>
                <a:latin typeface="Segoe UI" pitchFamily="34" charset="0"/>
                <a:ea typeface="Segoe UI" pitchFamily="34" charset="-122"/>
                <a:cs typeface="Segoe UI" pitchFamily="34" charset="-120"/>
              </a:rPr>
              <a:t>Copilot Usage Explorer</a:t>
            </a:r>
            <a:endParaRPr lang="en-US" sz="1800" dirty="0"/>
          </a:p>
          <a:p>
            <a:pPr indent="0" marL="0">
              <a:spcAft>
                <a:spcPts val="400"/>
              </a:spcAft>
              <a:buNone/>
            </a:pPr>
            <a:r>
              <a:rPr lang="en-US" sz="1800" dirty="0">
                <a:solidFill>
                  <a:srgbClr val="26354A"/>
                </a:solidFill>
                <a:latin typeface="Segoe UI" pitchFamily="34" charset="0"/>
                <a:ea typeface="Segoe UI" pitchFamily="34" charset="-122"/>
                <a:cs typeface="Segoe UI" pitchFamily="34" charset="-120"/>
              </a:rPr>
              <a:t>Combined Trends</a:t>
            </a:r>
            <a:endParaRPr lang="en-US" sz="1800" dirty="0"/>
          </a:p>
          <a:p>
            <a:pPr indent="0" marL="0">
              <a:spcAft>
                <a:spcPts val="400"/>
              </a:spcAft>
              <a:buNone/>
            </a:pPr>
            <a:r>
              <a:rPr lang="en-US" sz="1800" dirty="0">
                <a:solidFill>
                  <a:srgbClr val="26354A"/>
                </a:solidFill>
                <a:latin typeface="Segoe UI" pitchFamily="34" charset="0"/>
                <a:ea typeface="Segoe UI" pitchFamily="34" charset="-122"/>
                <a:cs typeface="Segoe UI" pitchFamily="34" charset="-120"/>
              </a:rPr>
              <a:t>Combined Leaderboard</a:t>
            </a:r>
            <a:endParaRPr lang="en-US" sz="1800" dirty="0"/>
          </a:p>
        </p:txBody>
      </p:sp>
      <p:sp>
        <p:nvSpPr>
          <p:cNvPr id="16" name="Shape 12"/>
          <p:cNvSpPr/>
          <p:nvPr/>
        </p:nvSpPr>
        <p:spPr>
          <a:xfrm>
            <a:off x="6391656" y="2331720"/>
            <a:ext cx="5504688" cy="6446520"/>
          </a:xfrm>
          <a:prstGeom prst="roundRect">
            <a:avLst>
              <a:gd name="adj" fmla="val 1661"/>
            </a:avLst>
          </a:prstGeom>
          <a:solidFill>
            <a:srgbClr val="FFFFFF"/>
          </a:solidFill>
          <a:ln w="12700">
            <a:solidFill>
              <a:srgbClr val="E2DDEB"/>
            </a:solidFill>
            <a:prstDash val="solid"/>
          </a:ln>
        </p:spPr>
      </p:sp>
      <p:sp>
        <p:nvSpPr>
          <p:cNvPr id="17" name="Text 13"/>
          <p:cNvSpPr/>
          <p:nvPr/>
        </p:nvSpPr>
        <p:spPr>
          <a:xfrm>
            <a:off x="6757416" y="2606040"/>
            <a:ext cx="1828800" cy="914400"/>
          </a:xfrm>
          <a:prstGeom prst="rect">
            <a:avLst/>
          </a:prstGeom>
          <a:noFill/>
          <a:ln/>
        </p:spPr>
        <p:txBody>
          <a:bodyPr wrap="square" lIns="0" tIns="0" rIns="0" bIns="0" rtlCol="0" anchor="ctr"/>
          <a:lstStyle/>
          <a:p>
            <a:pPr indent="0" marL="0">
              <a:buNone/>
            </a:pPr>
            <a:r>
              <a:rPr lang="en-US" sz="4800" dirty="0">
                <a:solidFill>
                  <a:srgbClr val="008774"/>
                </a:solidFill>
                <a:latin typeface="Segoe UI Semibold" pitchFamily="34" charset="0"/>
                <a:ea typeface="Segoe UI Semibold" pitchFamily="34" charset="-122"/>
                <a:cs typeface="Segoe UI Semibold" pitchFamily="34" charset="-120"/>
              </a:rPr>
              <a:t>02</a:t>
            </a:r>
            <a:endParaRPr lang="en-US" sz="4800" dirty="0"/>
          </a:p>
        </p:txBody>
      </p:sp>
      <p:sp>
        <p:nvSpPr>
          <p:cNvPr id="18" name="Text 14"/>
          <p:cNvSpPr/>
          <p:nvPr/>
        </p:nvSpPr>
        <p:spPr>
          <a:xfrm>
            <a:off x="6757416" y="3657600"/>
            <a:ext cx="4773168" cy="822960"/>
          </a:xfrm>
          <a:prstGeom prst="rect">
            <a:avLst/>
          </a:prstGeom>
          <a:noFill/>
          <a:ln/>
        </p:spPr>
        <p:txBody>
          <a:bodyPr wrap="square" lIns="0" tIns="0" rIns="0" bIns="0" rtlCol="0" anchor="t"/>
          <a:lstStyle/>
          <a:p>
            <a:pPr indent="0" marL="0">
              <a:buNone/>
            </a:pPr>
            <a:r>
              <a:rPr lang="en-US" sz="2600" dirty="0">
                <a:solidFill>
                  <a:srgbClr val="251833"/>
                </a:solidFill>
                <a:latin typeface="Segoe UI Semibold" pitchFamily="34" charset="0"/>
                <a:ea typeface="Segoe UI Semibold" pitchFamily="34" charset="-122"/>
                <a:cs typeface="Segoe UI Semibold" pitchFamily="34" charset="-120"/>
              </a:rPr>
              <a:t>Is it becoming a habit?</a:t>
            </a:r>
            <a:endParaRPr lang="en-US" sz="2600" dirty="0"/>
          </a:p>
        </p:txBody>
      </p:sp>
      <p:sp>
        <p:nvSpPr>
          <p:cNvPr id="19" name="Text 15"/>
          <p:cNvSpPr/>
          <p:nvPr/>
        </p:nvSpPr>
        <p:spPr>
          <a:xfrm>
            <a:off x="6757416" y="4526280"/>
            <a:ext cx="4773168" cy="1417320"/>
          </a:xfrm>
          <a:prstGeom prst="rect">
            <a:avLst/>
          </a:prstGeom>
          <a:noFill/>
          <a:ln/>
        </p:spPr>
        <p:txBody>
          <a:bodyPr wrap="square" lIns="0" tIns="0" rIns="0" bIns="0" rtlCol="0" anchor="t"/>
          <a:lstStyle/>
          <a:p>
            <a:pPr indent="0" marL="0">
              <a:buNone/>
            </a:pPr>
            <a:r>
              <a:rPr lang="en-US" sz="1900" dirty="0">
                <a:solidFill>
                  <a:srgbClr val="637087"/>
                </a:solidFill>
                <a:latin typeface="Segoe UI" pitchFamily="34" charset="0"/>
                <a:ea typeface="Segoe UI" pitchFamily="34" charset="-122"/>
                <a:cs typeface="Segoe UI" pitchFamily="34" charset="-120"/>
              </a:rPr>
              <a:t>Whether people come back week after week, and how many active days they have each month.</a:t>
            </a:r>
            <a:endParaRPr lang="en-US" sz="1900" dirty="0"/>
          </a:p>
        </p:txBody>
      </p:sp>
      <p:sp>
        <p:nvSpPr>
          <p:cNvPr id="20" name="Shape 16"/>
          <p:cNvSpPr/>
          <p:nvPr/>
        </p:nvSpPr>
        <p:spPr>
          <a:xfrm>
            <a:off x="6757416" y="6172200"/>
            <a:ext cx="4773168" cy="18288"/>
          </a:xfrm>
          <a:prstGeom prst="rect">
            <a:avLst/>
          </a:prstGeom>
          <a:solidFill>
            <a:srgbClr val="E2DDEB"/>
          </a:solidFill>
          <a:ln/>
        </p:spPr>
      </p:sp>
      <p:sp>
        <p:nvSpPr>
          <p:cNvPr id="21" name="Text 17"/>
          <p:cNvSpPr/>
          <p:nvPr/>
        </p:nvSpPr>
        <p:spPr>
          <a:xfrm>
            <a:off x="6757416" y="6355080"/>
            <a:ext cx="4773168" cy="320040"/>
          </a:xfrm>
          <a:prstGeom prst="rect">
            <a:avLst/>
          </a:prstGeom>
          <a:noFill/>
          <a:ln/>
        </p:spPr>
        <p:txBody>
          <a:bodyPr wrap="square" lIns="0" tIns="0" rIns="0" bIns="0" rtlCol="0" anchor="ctr"/>
          <a:lstStyle/>
          <a:p>
            <a:pPr indent="0" marL="0">
              <a:buNone/>
            </a:pPr>
            <a:r>
              <a:rPr lang="en-US" sz="1200" spc="150" kern="0" dirty="0">
                <a:solidFill>
                  <a:srgbClr val="008774"/>
                </a:solidFill>
                <a:latin typeface="Segoe UI Semibold" pitchFamily="34" charset="0"/>
                <a:ea typeface="Segoe UI Semibold" pitchFamily="34" charset="-122"/>
                <a:cs typeface="Segoe UI Semibold" pitchFamily="34" charset="-120"/>
              </a:rPr>
              <a:t>WHERE TO LOOK</a:t>
            </a:r>
            <a:endParaRPr lang="en-US" sz="1200" dirty="0"/>
          </a:p>
        </p:txBody>
      </p:sp>
      <p:sp>
        <p:nvSpPr>
          <p:cNvPr id="22" name="Text 18"/>
          <p:cNvSpPr/>
          <p:nvPr/>
        </p:nvSpPr>
        <p:spPr>
          <a:xfrm>
            <a:off x="6757416" y="6748272"/>
            <a:ext cx="4773168" cy="1463040"/>
          </a:xfrm>
          <a:prstGeom prst="rect">
            <a:avLst/>
          </a:prstGeom>
          <a:noFill/>
          <a:ln/>
        </p:spPr>
        <p:txBody>
          <a:bodyPr wrap="square" lIns="0" tIns="0" rIns="0" bIns="0" rtlCol="0" anchor="t"/>
          <a:lstStyle/>
          <a:p>
            <a:pPr indent="0" marL="0">
              <a:spcAft>
                <a:spcPts val="400"/>
              </a:spcAft>
              <a:buNone/>
            </a:pPr>
            <a:r>
              <a:rPr lang="en-US" sz="1800" dirty="0">
                <a:solidFill>
                  <a:srgbClr val="26354A"/>
                </a:solidFill>
                <a:latin typeface="Segoe UI" pitchFamily="34" charset="0"/>
                <a:ea typeface="Segoe UI" pitchFamily="34" charset="-122"/>
                <a:cs typeface="Segoe UI" pitchFamily="34" charset="-120"/>
              </a:rPr>
              <a:t>Habit Formation pages</a:t>
            </a:r>
            <a:endParaRPr lang="en-US" sz="1800" dirty="0"/>
          </a:p>
          <a:p>
            <a:pPr indent="0" marL="0">
              <a:spcAft>
                <a:spcPts val="400"/>
              </a:spcAft>
              <a:buNone/>
            </a:pPr>
            <a:r>
              <a:rPr lang="en-US" sz="1800" dirty="0">
                <a:solidFill>
                  <a:srgbClr val="26354A"/>
                </a:solidFill>
                <a:latin typeface="Segoe UI" pitchFamily="34" charset="0"/>
                <a:ea typeface="Segoe UI" pitchFamily="34" charset="-122"/>
                <a:cs typeface="Segoe UI" pitchFamily="34" charset="-120"/>
              </a:rPr>
              <a:t>M365 Copilot: Usage Trends</a:t>
            </a:r>
            <a:endParaRPr lang="en-US" sz="1800" dirty="0"/>
          </a:p>
          <a:p>
            <a:pPr indent="0" marL="0">
              <a:spcAft>
                <a:spcPts val="400"/>
              </a:spcAft>
              <a:buNone/>
            </a:pPr>
            <a:r>
              <a:rPr lang="en-US" sz="1800" dirty="0">
                <a:solidFill>
                  <a:srgbClr val="26354A"/>
                </a:solidFill>
                <a:latin typeface="Segoe UI" pitchFamily="34" charset="0"/>
                <a:ea typeface="Segoe UI" pitchFamily="34" charset="-122"/>
                <a:cs typeface="Segoe UI" pitchFamily="34" charset="-120"/>
              </a:rPr>
              <a:t>Chat (Web): Usage Trends</a:t>
            </a:r>
            <a:endParaRPr lang="en-US" sz="1800" dirty="0"/>
          </a:p>
        </p:txBody>
      </p:sp>
      <p:sp>
        <p:nvSpPr>
          <p:cNvPr id="23" name="Shape 19"/>
          <p:cNvSpPr/>
          <p:nvPr/>
        </p:nvSpPr>
        <p:spPr>
          <a:xfrm>
            <a:off x="12170664" y="2331720"/>
            <a:ext cx="5504688" cy="6446520"/>
          </a:xfrm>
          <a:prstGeom prst="roundRect">
            <a:avLst>
              <a:gd name="adj" fmla="val 1661"/>
            </a:avLst>
          </a:prstGeom>
          <a:solidFill>
            <a:srgbClr val="FFFFFF"/>
          </a:solidFill>
          <a:ln w="12700">
            <a:solidFill>
              <a:srgbClr val="E2DDEB"/>
            </a:solidFill>
            <a:prstDash val="solid"/>
          </a:ln>
        </p:spPr>
      </p:sp>
      <p:sp>
        <p:nvSpPr>
          <p:cNvPr id="24" name="Text 20"/>
          <p:cNvSpPr/>
          <p:nvPr/>
        </p:nvSpPr>
        <p:spPr>
          <a:xfrm>
            <a:off x="12536424" y="2606040"/>
            <a:ext cx="1828800" cy="914400"/>
          </a:xfrm>
          <a:prstGeom prst="rect">
            <a:avLst/>
          </a:prstGeom>
          <a:noFill/>
          <a:ln/>
        </p:spPr>
        <p:txBody>
          <a:bodyPr wrap="square" lIns="0" tIns="0" rIns="0" bIns="0" rtlCol="0" anchor="ctr"/>
          <a:lstStyle/>
          <a:p>
            <a:pPr indent="0" marL="0">
              <a:buNone/>
            </a:pPr>
            <a:r>
              <a:rPr lang="en-US" sz="4800" dirty="0">
                <a:solidFill>
                  <a:srgbClr val="BF5B25"/>
                </a:solidFill>
                <a:latin typeface="Segoe UI Semibold" pitchFamily="34" charset="0"/>
                <a:ea typeface="Segoe UI Semibold" pitchFamily="34" charset="-122"/>
                <a:cs typeface="Segoe UI Semibold" pitchFamily="34" charset="-120"/>
              </a:rPr>
              <a:t>03</a:t>
            </a:r>
            <a:endParaRPr lang="en-US" sz="4800" dirty="0"/>
          </a:p>
        </p:txBody>
      </p:sp>
      <p:sp>
        <p:nvSpPr>
          <p:cNvPr id="25" name="Text 21"/>
          <p:cNvSpPr/>
          <p:nvPr/>
        </p:nvSpPr>
        <p:spPr>
          <a:xfrm>
            <a:off x="12536424" y="3657600"/>
            <a:ext cx="4773168" cy="822960"/>
          </a:xfrm>
          <a:prstGeom prst="rect">
            <a:avLst/>
          </a:prstGeom>
          <a:noFill/>
          <a:ln/>
        </p:spPr>
        <p:txBody>
          <a:bodyPr wrap="square" lIns="0" tIns="0" rIns="0" bIns="0" rtlCol="0" anchor="t"/>
          <a:lstStyle/>
          <a:p>
            <a:pPr indent="0" marL="0">
              <a:buNone/>
            </a:pPr>
            <a:r>
              <a:rPr lang="en-US" sz="2600" dirty="0">
                <a:solidFill>
                  <a:srgbClr val="251833"/>
                </a:solidFill>
                <a:latin typeface="Segoe UI Semibold" pitchFamily="34" charset="0"/>
                <a:ea typeface="Segoe UI Semibold" pitchFamily="34" charset="-122"/>
                <a:cs typeface="Segoe UI Semibold" pitchFamily="34" charset="-120"/>
              </a:rPr>
              <a:t>Where should we invest next?</a:t>
            </a:r>
            <a:endParaRPr lang="en-US" sz="2600" dirty="0"/>
          </a:p>
        </p:txBody>
      </p:sp>
      <p:sp>
        <p:nvSpPr>
          <p:cNvPr id="26" name="Text 22"/>
          <p:cNvSpPr/>
          <p:nvPr/>
        </p:nvSpPr>
        <p:spPr>
          <a:xfrm>
            <a:off x="12536424" y="4526280"/>
            <a:ext cx="4773168" cy="1417320"/>
          </a:xfrm>
          <a:prstGeom prst="rect">
            <a:avLst/>
          </a:prstGeom>
          <a:noFill/>
          <a:ln/>
        </p:spPr>
        <p:txBody>
          <a:bodyPr wrap="square" lIns="0" tIns="0" rIns="0" bIns="0" rtlCol="0" anchor="t"/>
          <a:lstStyle/>
          <a:p>
            <a:pPr indent="0" marL="0">
              <a:buNone/>
            </a:pPr>
            <a:r>
              <a:rPr lang="en-US" sz="1900" dirty="0">
                <a:solidFill>
                  <a:srgbClr val="637087"/>
                </a:solidFill>
                <a:latin typeface="Segoe UI" pitchFamily="34" charset="0"/>
                <a:ea typeface="Segoe UI" pitchFamily="34" charset="-122"/>
                <a:cs typeface="Segoe UI" pitchFamily="34" charset="-120"/>
              </a:rPr>
              <a:t>Which agents to grow or review, and where a licensing conversation is worth having.</a:t>
            </a:r>
            <a:endParaRPr lang="en-US" sz="1900" dirty="0"/>
          </a:p>
        </p:txBody>
      </p:sp>
      <p:sp>
        <p:nvSpPr>
          <p:cNvPr id="27" name="Shape 23"/>
          <p:cNvSpPr/>
          <p:nvPr/>
        </p:nvSpPr>
        <p:spPr>
          <a:xfrm>
            <a:off x="12536424" y="6172200"/>
            <a:ext cx="4773168" cy="18288"/>
          </a:xfrm>
          <a:prstGeom prst="rect">
            <a:avLst/>
          </a:prstGeom>
          <a:solidFill>
            <a:srgbClr val="E2DDEB"/>
          </a:solidFill>
          <a:ln/>
        </p:spPr>
      </p:sp>
      <p:sp>
        <p:nvSpPr>
          <p:cNvPr id="28" name="Text 24"/>
          <p:cNvSpPr/>
          <p:nvPr/>
        </p:nvSpPr>
        <p:spPr>
          <a:xfrm>
            <a:off x="12536424" y="6355080"/>
            <a:ext cx="4773168" cy="320040"/>
          </a:xfrm>
          <a:prstGeom prst="rect">
            <a:avLst/>
          </a:prstGeom>
          <a:noFill/>
          <a:ln/>
        </p:spPr>
        <p:txBody>
          <a:bodyPr wrap="square" lIns="0" tIns="0" rIns="0" bIns="0" rtlCol="0" anchor="ctr"/>
          <a:lstStyle/>
          <a:p>
            <a:pPr indent="0" marL="0">
              <a:buNone/>
            </a:pPr>
            <a:r>
              <a:rPr lang="en-US" sz="1200" spc="150" kern="0" dirty="0">
                <a:solidFill>
                  <a:srgbClr val="BF5B25"/>
                </a:solidFill>
                <a:latin typeface="Segoe UI Semibold" pitchFamily="34" charset="0"/>
                <a:ea typeface="Segoe UI Semibold" pitchFamily="34" charset="-122"/>
                <a:cs typeface="Segoe UI Semibold" pitchFamily="34" charset="-120"/>
              </a:rPr>
              <a:t>WHERE TO LOOK</a:t>
            </a:r>
            <a:endParaRPr lang="en-US" sz="1200" dirty="0"/>
          </a:p>
        </p:txBody>
      </p:sp>
      <p:sp>
        <p:nvSpPr>
          <p:cNvPr id="29" name="Text 25"/>
          <p:cNvSpPr/>
          <p:nvPr/>
        </p:nvSpPr>
        <p:spPr>
          <a:xfrm>
            <a:off x="12536424" y="6748272"/>
            <a:ext cx="4773168" cy="1463040"/>
          </a:xfrm>
          <a:prstGeom prst="rect">
            <a:avLst/>
          </a:prstGeom>
          <a:noFill/>
          <a:ln/>
        </p:spPr>
        <p:txBody>
          <a:bodyPr wrap="square" lIns="0" tIns="0" rIns="0" bIns="0" rtlCol="0" anchor="t"/>
          <a:lstStyle/>
          <a:p>
            <a:pPr indent="0" marL="0">
              <a:spcAft>
                <a:spcPts val="400"/>
              </a:spcAft>
              <a:buNone/>
            </a:pPr>
            <a:r>
              <a:rPr lang="en-US" sz="1800" dirty="0">
                <a:solidFill>
                  <a:srgbClr val="26354A"/>
                </a:solidFill>
                <a:latin typeface="Segoe UI" pitchFamily="34" charset="0"/>
                <a:ea typeface="Segoe UI" pitchFamily="34" charset="-122"/>
                <a:cs typeface="Segoe UI" pitchFamily="34" charset="-120"/>
              </a:rPr>
              <a:t>Agents pages</a:t>
            </a:r>
            <a:endParaRPr lang="en-US" sz="1800" dirty="0"/>
          </a:p>
          <a:p>
            <a:pPr indent="0" marL="0">
              <a:spcAft>
                <a:spcPts val="400"/>
              </a:spcAft>
              <a:buNone/>
            </a:pPr>
            <a:r>
              <a:rPr lang="en-US" sz="1800" dirty="0">
                <a:solidFill>
                  <a:srgbClr val="26354A"/>
                </a:solidFill>
                <a:latin typeface="Segoe UI" pitchFamily="34" charset="0"/>
                <a:ea typeface="Segoe UI" pitchFamily="34" charset="-122"/>
                <a:cs typeface="Segoe UI" pitchFamily="34" charset="-120"/>
              </a:rPr>
              <a:t>Agent Details</a:t>
            </a:r>
            <a:endParaRPr lang="en-US" sz="1800" dirty="0"/>
          </a:p>
          <a:p>
            <a:pPr indent="0" marL="0">
              <a:spcAft>
                <a:spcPts val="400"/>
              </a:spcAft>
              <a:buNone/>
            </a:pPr>
            <a:r>
              <a:rPr lang="en-US" sz="1800" dirty="0">
                <a:solidFill>
                  <a:srgbClr val="26354A"/>
                </a:solidFill>
                <a:latin typeface="Segoe UI" pitchFamily="34" charset="0"/>
                <a:ea typeface="Segoe UI" pitchFamily="34" charset="-122"/>
                <a:cs typeface="Segoe UI" pitchFamily="34" charset="-120"/>
              </a:rPr>
              <a:t>License Prioritization</a:t>
            </a:r>
            <a:endParaRPr lang="en-US" sz="1800" dirty="0"/>
          </a:p>
        </p:txBody>
      </p:sp>
      <p:sp>
        <p:nvSpPr>
          <p:cNvPr id="30" name="Shape 26"/>
          <p:cNvSpPr/>
          <p:nvPr/>
        </p:nvSpPr>
        <p:spPr>
          <a:xfrm>
            <a:off x="612648" y="9144000"/>
            <a:ext cx="17062704" cy="566928"/>
          </a:xfrm>
          <a:prstGeom prst="roundRect">
            <a:avLst>
              <a:gd name="adj" fmla="val 12903"/>
            </a:avLst>
          </a:prstGeom>
          <a:solidFill>
            <a:srgbClr val="251833"/>
          </a:solidFill>
          <a:ln/>
        </p:spPr>
      </p:sp>
      <p:sp>
        <p:nvSpPr>
          <p:cNvPr id="31" name="Text 27"/>
          <p:cNvSpPr/>
          <p:nvPr/>
        </p:nvSpPr>
        <p:spPr>
          <a:xfrm>
            <a:off x="841248" y="9144000"/>
            <a:ext cx="1463040" cy="566928"/>
          </a:xfrm>
          <a:prstGeom prst="rect">
            <a:avLst/>
          </a:prstGeom>
          <a:noFill/>
          <a:ln/>
        </p:spPr>
        <p:txBody>
          <a:bodyPr wrap="square" lIns="0" tIns="0" rIns="0" bIns="0" rtlCol="0" anchor="ctr"/>
          <a:lstStyle/>
          <a:p>
            <a:pPr indent="0" marL="0">
              <a:buNone/>
            </a:pPr>
            <a:r>
              <a:rPr lang="en-US" sz="1300" spc="100" kern="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32" name="Text 28"/>
          <p:cNvSpPr/>
          <p:nvPr/>
        </p:nvSpPr>
        <p:spPr>
          <a:xfrm>
            <a:off x="2304288" y="9144000"/>
            <a:ext cx="15142464" cy="56692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Today we'll see who is using Copilot, whether it's becoming part of how we work, and where to focus next.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F8"/>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637087"/>
                </a:solidFill>
                <a:latin typeface="Segoe UI" pitchFamily="34" charset="0"/>
                <a:ea typeface="Segoe UI" pitchFamily="34" charset="-122"/>
                <a:cs typeface="Segoe UI" pitchFamily="34" charset="-120"/>
              </a:rPr>
              <a:t>03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indent="0" marL="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HOW TO PRESENT IT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251833"/>
                </a:solidFill>
                <a:latin typeface="Segoe UI Semibold" pitchFamily="34" charset="0"/>
                <a:ea typeface="Segoe UI Semibold" pitchFamily="34" charset="-122"/>
                <a:cs typeface="Segoe UI Semibold" pitchFamily="34" charset="-120"/>
              </a:rPr>
              <a:t>Set the scene in five steps</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indent="0" marL="0">
              <a:buNone/>
            </a:pPr>
            <a:r>
              <a:rPr lang="en-US" sz="2000" dirty="0">
                <a:solidFill>
                  <a:srgbClr val="637087"/>
                </a:solidFill>
                <a:latin typeface="Segoe UI" pitchFamily="34" charset="0"/>
                <a:ea typeface="Segoe UI" pitchFamily="34" charset="-122"/>
                <a:cs typeface="Segoe UI" pitchFamily="34" charset="-120"/>
              </a:rPr>
              <a:t>A simple path through the report that works for any team or audience.</a:t>
            </a:r>
            <a:endParaRPr lang="en-US" sz="2000" dirty="0"/>
          </a:p>
        </p:txBody>
      </p:sp>
      <p:sp>
        <p:nvSpPr>
          <p:cNvPr id="9" name="Shape 5"/>
          <p:cNvSpPr/>
          <p:nvPr/>
        </p:nvSpPr>
        <p:spPr>
          <a:xfrm>
            <a:off x="612648" y="2331720"/>
            <a:ext cx="3200400" cy="3886200"/>
          </a:xfrm>
          <a:prstGeom prst="roundRect">
            <a:avLst>
              <a:gd name="adj" fmla="val 2857"/>
            </a:avLst>
          </a:prstGeom>
          <a:solidFill>
            <a:srgbClr val="FFFFFF"/>
          </a:solidFill>
          <a:ln w="12700">
            <a:solidFill>
              <a:srgbClr val="E2DDEB"/>
            </a:solidFill>
            <a:prstDash val="solid"/>
          </a:ln>
        </p:spPr>
      </p:sp>
      <p:sp>
        <p:nvSpPr>
          <p:cNvPr id="10" name="Shape 6"/>
          <p:cNvSpPr/>
          <p:nvPr/>
        </p:nvSpPr>
        <p:spPr>
          <a:xfrm>
            <a:off x="886968" y="2606040"/>
            <a:ext cx="502920" cy="502920"/>
          </a:xfrm>
          <a:prstGeom prst="ellipse">
            <a:avLst/>
          </a:prstGeom>
          <a:solidFill>
            <a:srgbClr val="7953B8"/>
          </a:solidFill>
          <a:ln w="25400">
            <a:solidFill>
              <a:srgbClr val="FFFFFF"/>
            </a:solidFill>
            <a:prstDash val="solid"/>
          </a:ln>
        </p:spPr>
      </p:sp>
      <p:sp>
        <p:nvSpPr>
          <p:cNvPr id="11" name="Text 7"/>
          <p:cNvSpPr/>
          <p:nvPr/>
        </p:nvSpPr>
        <p:spPr>
          <a:xfrm>
            <a:off x="886968" y="2615184"/>
            <a:ext cx="50292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1</a:t>
            </a:r>
            <a:endParaRPr lang="en-US" sz="1800" dirty="0"/>
          </a:p>
        </p:txBody>
      </p:sp>
      <p:sp>
        <p:nvSpPr>
          <p:cNvPr id="12" name="Text 8"/>
          <p:cNvSpPr/>
          <p:nvPr/>
        </p:nvSpPr>
        <p:spPr>
          <a:xfrm>
            <a:off x="886968" y="3291840"/>
            <a:ext cx="2651760" cy="777240"/>
          </a:xfrm>
          <a:prstGeom prst="rect">
            <a:avLst/>
          </a:prstGeom>
          <a:noFill/>
          <a:ln/>
        </p:spPr>
        <p:txBody>
          <a:bodyPr wrap="square" lIns="0" tIns="0" rIns="0" bIns="0" rtlCol="0" anchor="t"/>
          <a:lstStyle/>
          <a:p>
            <a:pPr indent="0" marL="0">
              <a:buNone/>
            </a:pPr>
            <a:r>
              <a:rPr lang="en-US" sz="2000" dirty="0">
                <a:solidFill>
                  <a:srgbClr val="251833"/>
                </a:solidFill>
                <a:latin typeface="Segoe UI Semibold" pitchFamily="34" charset="0"/>
                <a:ea typeface="Segoe UI Semibold" pitchFamily="34" charset="-122"/>
                <a:cs typeface="Segoe UI Semibold" pitchFamily="34" charset="-120"/>
              </a:rPr>
              <a:t>Choose the people</a:t>
            </a:r>
            <a:endParaRPr lang="en-US" sz="2000" dirty="0"/>
          </a:p>
        </p:txBody>
      </p:sp>
      <p:sp>
        <p:nvSpPr>
          <p:cNvPr id="13" name="Text 9"/>
          <p:cNvSpPr/>
          <p:nvPr/>
        </p:nvSpPr>
        <p:spPr>
          <a:xfrm>
            <a:off x="886968" y="4069080"/>
            <a:ext cx="2651760" cy="1554480"/>
          </a:xfrm>
          <a:prstGeom prst="rect">
            <a:avLst/>
          </a:prstGeom>
          <a:noFill/>
          <a:ln/>
        </p:spPr>
        <p:txBody>
          <a:bodyPr wrap="square" lIns="0" tIns="0" rIns="0" bIns="0" rtlCol="0" anchor="t"/>
          <a:lstStyle/>
          <a:p>
            <a:pPr indent="0" marL="0">
              <a:buNone/>
            </a:pPr>
            <a:r>
              <a:rPr lang="en-US" sz="1450" dirty="0">
                <a:solidFill>
                  <a:srgbClr val="637087"/>
                </a:solidFill>
                <a:latin typeface="Segoe UI" pitchFamily="34" charset="0"/>
                <a:ea typeface="Segoe UI" pitchFamily="34" charset="-122"/>
                <a:cs typeface="Segoe UI" pitchFamily="34" charset="-120"/>
              </a:rPr>
              <a:t>Open Org filters. Pick a company, division, department or a manager's whole reporting team.</a:t>
            </a:r>
            <a:endParaRPr lang="en-US" sz="1450" dirty="0"/>
          </a:p>
        </p:txBody>
      </p:sp>
      <p:sp>
        <p:nvSpPr>
          <p:cNvPr id="14" name="Text 10"/>
          <p:cNvSpPr/>
          <p:nvPr/>
        </p:nvSpPr>
        <p:spPr>
          <a:xfrm>
            <a:off x="886968" y="5715000"/>
            <a:ext cx="2651760" cy="347472"/>
          </a:xfrm>
          <a:prstGeom prst="rect">
            <a:avLst/>
          </a:prstGeom>
          <a:noFill/>
          <a:ln/>
        </p:spPr>
        <p:txBody>
          <a:bodyPr wrap="square" lIns="0" tIns="0" rIns="0" bIns="0" rtlCol="0" anchor="ctr"/>
          <a:lstStyle/>
          <a:p>
            <a:pPr indent="0" marL="0">
              <a:buNone/>
            </a:pPr>
            <a:r>
              <a:rPr lang="en-US" sz="1300" dirty="0">
                <a:solidFill>
                  <a:srgbClr val="7953B8"/>
                </a:solidFill>
                <a:latin typeface="Segoe UI Semibold" pitchFamily="34" charset="0"/>
                <a:ea typeface="Segoe UI Semibold" pitchFamily="34" charset="-122"/>
                <a:cs typeface="Segoe UI Semibold" pitchFamily="34" charset="-120"/>
              </a:rPr>
              <a:t>Org filters</a:t>
            </a:r>
            <a:endParaRPr lang="en-US" sz="1300" dirty="0"/>
          </a:p>
        </p:txBody>
      </p:sp>
      <p:sp>
        <p:nvSpPr>
          <p:cNvPr id="15" name="Shape 11"/>
          <p:cNvSpPr/>
          <p:nvPr/>
        </p:nvSpPr>
        <p:spPr>
          <a:xfrm>
            <a:off x="4080053" y="2331720"/>
            <a:ext cx="3200400" cy="3886200"/>
          </a:xfrm>
          <a:prstGeom prst="roundRect">
            <a:avLst>
              <a:gd name="adj" fmla="val 2857"/>
            </a:avLst>
          </a:prstGeom>
          <a:solidFill>
            <a:srgbClr val="FFFFFF"/>
          </a:solidFill>
          <a:ln w="12700">
            <a:solidFill>
              <a:srgbClr val="E2DDEB"/>
            </a:solidFill>
            <a:prstDash val="solid"/>
          </a:ln>
        </p:spPr>
      </p:sp>
      <p:sp>
        <p:nvSpPr>
          <p:cNvPr id="16" name="Shape 12"/>
          <p:cNvSpPr/>
          <p:nvPr/>
        </p:nvSpPr>
        <p:spPr>
          <a:xfrm>
            <a:off x="4354373" y="2606040"/>
            <a:ext cx="502920" cy="502920"/>
          </a:xfrm>
          <a:prstGeom prst="ellipse">
            <a:avLst/>
          </a:prstGeom>
          <a:solidFill>
            <a:srgbClr val="008774"/>
          </a:solidFill>
          <a:ln w="25400">
            <a:solidFill>
              <a:srgbClr val="FFFFFF"/>
            </a:solidFill>
            <a:prstDash val="solid"/>
          </a:ln>
        </p:spPr>
      </p:sp>
      <p:sp>
        <p:nvSpPr>
          <p:cNvPr id="17" name="Text 13"/>
          <p:cNvSpPr/>
          <p:nvPr/>
        </p:nvSpPr>
        <p:spPr>
          <a:xfrm>
            <a:off x="4354373" y="2615184"/>
            <a:ext cx="50292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2</a:t>
            </a:r>
            <a:endParaRPr lang="en-US" sz="1800" dirty="0"/>
          </a:p>
        </p:txBody>
      </p:sp>
      <p:sp>
        <p:nvSpPr>
          <p:cNvPr id="18" name="Text 14"/>
          <p:cNvSpPr/>
          <p:nvPr/>
        </p:nvSpPr>
        <p:spPr>
          <a:xfrm>
            <a:off x="4354373" y="3291840"/>
            <a:ext cx="2651760" cy="777240"/>
          </a:xfrm>
          <a:prstGeom prst="rect">
            <a:avLst/>
          </a:prstGeom>
          <a:noFill/>
          <a:ln/>
        </p:spPr>
        <p:txBody>
          <a:bodyPr wrap="square" lIns="0" tIns="0" rIns="0" bIns="0" rtlCol="0" anchor="t"/>
          <a:lstStyle/>
          <a:p>
            <a:pPr indent="0" marL="0">
              <a:buNone/>
            </a:pPr>
            <a:r>
              <a:rPr lang="en-US" sz="2000" dirty="0">
                <a:solidFill>
                  <a:srgbClr val="251833"/>
                </a:solidFill>
                <a:latin typeface="Segoe UI Semibold" pitchFamily="34" charset="0"/>
                <a:ea typeface="Segoe UI Semibold" pitchFamily="34" charset="-122"/>
                <a:cs typeface="Segoe UI Semibold" pitchFamily="34" charset="-120"/>
              </a:rPr>
              <a:t>Choose the dates</a:t>
            </a:r>
            <a:endParaRPr lang="en-US" sz="2000" dirty="0"/>
          </a:p>
        </p:txBody>
      </p:sp>
      <p:sp>
        <p:nvSpPr>
          <p:cNvPr id="19" name="Text 15"/>
          <p:cNvSpPr/>
          <p:nvPr/>
        </p:nvSpPr>
        <p:spPr>
          <a:xfrm>
            <a:off x="4354373" y="4069080"/>
            <a:ext cx="2651760" cy="1554480"/>
          </a:xfrm>
          <a:prstGeom prst="rect">
            <a:avLst/>
          </a:prstGeom>
          <a:noFill/>
          <a:ln/>
        </p:spPr>
        <p:txBody>
          <a:bodyPr wrap="square" lIns="0" tIns="0" rIns="0" bIns="0" rtlCol="0" anchor="t"/>
          <a:lstStyle/>
          <a:p>
            <a:pPr indent="0" marL="0">
              <a:buNone/>
            </a:pPr>
            <a:r>
              <a:rPr lang="en-US" sz="1450" dirty="0">
                <a:solidFill>
                  <a:srgbClr val="637087"/>
                </a:solidFill>
                <a:latin typeface="Segoe UI" pitchFamily="34" charset="0"/>
                <a:ea typeface="Segoe UI" pitchFamily="34" charset="-122"/>
                <a:cs typeface="Segoe UI" pitchFamily="34" charset="-120"/>
              </a:rPr>
              <a:t>Use the date slider. End on a full month so the habit pages describe a complete month.</a:t>
            </a:r>
            <a:endParaRPr lang="en-US" sz="1450" dirty="0"/>
          </a:p>
        </p:txBody>
      </p:sp>
      <p:sp>
        <p:nvSpPr>
          <p:cNvPr id="20" name="Text 16"/>
          <p:cNvSpPr/>
          <p:nvPr/>
        </p:nvSpPr>
        <p:spPr>
          <a:xfrm>
            <a:off x="4354373" y="5715000"/>
            <a:ext cx="2651760" cy="347472"/>
          </a:xfrm>
          <a:prstGeom prst="rect">
            <a:avLst/>
          </a:prstGeom>
          <a:noFill/>
          <a:ln/>
        </p:spPr>
        <p:txBody>
          <a:bodyPr wrap="square" lIns="0" tIns="0" rIns="0" bIns="0" rtlCol="0" anchor="ctr"/>
          <a:lstStyle/>
          <a:p>
            <a:pPr indent="0" marL="0">
              <a:buNone/>
            </a:pPr>
            <a:r>
              <a:rPr lang="en-US" sz="1300" dirty="0">
                <a:solidFill>
                  <a:srgbClr val="008774"/>
                </a:solidFill>
                <a:latin typeface="Segoe UI Semibold" pitchFamily="34" charset="0"/>
                <a:ea typeface="Segoe UI Semibold" pitchFamily="34" charset="-122"/>
                <a:cs typeface="Segoe UI Semibold" pitchFamily="34" charset="-120"/>
              </a:rPr>
              <a:t>Date slider</a:t>
            </a:r>
            <a:endParaRPr lang="en-US" sz="1300" dirty="0"/>
          </a:p>
        </p:txBody>
      </p:sp>
      <p:sp>
        <p:nvSpPr>
          <p:cNvPr id="21" name="Shape 17"/>
          <p:cNvSpPr/>
          <p:nvPr/>
        </p:nvSpPr>
        <p:spPr>
          <a:xfrm>
            <a:off x="7547458" y="2331720"/>
            <a:ext cx="3200400" cy="3886200"/>
          </a:xfrm>
          <a:prstGeom prst="roundRect">
            <a:avLst>
              <a:gd name="adj" fmla="val 2857"/>
            </a:avLst>
          </a:prstGeom>
          <a:solidFill>
            <a:srgbClr val="FFFFFF"/>
          </a:solidFill>
          <a:ln w="12700">
            <a:solidFill>
              <a:srgbClr val="E2DDEB"/>
            </a:solidFill>
            <a:prstDash val="solid"/>
          </a:ln>
        </p:spPr>
      </p:sp>
      <p:sp>
        <p:nvSpPr>
          <p:cNvPr id="22" name="Shape 18"/>
          <p:cNvSpPr/>
          <p:nvPr/>
        </p:nvSpPr>
        <p:spPr>
          <a:xfrm>
            <a:off x="7821778" y="2606040"/>
            <a:ext cx="502920" cy="502920"/>
          </a:xfrm>
          <a:prstGeom prst="ellipse">
            <a:avLst/>
          </a:prstGeom>
          <a:solidFill>
            <a:srgbClr val="BF5B25"/>
          </a:solidFill>
          <a:ln w="25400">
            <a:solidFill>
              <a:srgbClr val="FFFFFF"/>
            </a:solidFill>
            <a:prstDash val="solid"/>
          </a:ln>
        </p:spPr>
      </p:sp>
      <p:sp>
        <p:nvSpPr>
          <p:cNvPr id="23" name="Text 19"/>
          <p:cNvSpPr/>
          <p:nvPr/>
        </p:nvSpPr>
        <p:spPr>
          <a:xfrm>
            <a:off x="7821778" y="2615184"/>
            <a:ext cx="50292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3</a:t>
            </a:r>
            <a:endParaRPr lang="en-US" sz="1800" dirty="0"/>
          </a:p>
        </p:txBody>
      </p:sp>
      <p:sp>
        <p:nvSpPr>
          <p:cNvPr id="24" name="Text 20"/>
          <p:cNvSpPr/>
          <p:nvPr/>
        </p:nvSpPr>
        <p:spPr>
          <a:xfrm>
            <a:off x="7821778" y="3291840"/>
            <a:ext cx="2651760" cy="777240"/>
          </a:xfrm>
          <a:prstGeom prst="rect">
            <a:avLst/>
          </a:prstGeom>
          <a:noFill/>
          <a:ln/>
        </p:spPr>
        <p:txBody>
          <a:bodyPr wrap="square" lIns="0" tIns="0" rIns="0" bIns="0" rtlCol="0" anchor="t"/>
          <a:lstStyle/>
          <a:p>
            <a:pPr indent="0" marL="0">
              <a:buNone/>
            </a:pPr>
            <a:r>
              <a:rPr lang="en-US" sz="2000" dirty="0">
                <a:solidFill>
                  <a:srgbClr val="251833"/>
                </a:solidFill>
                <a:latin typeface="Segoe UI Semibold" pitchFamily="34" charset="0"/>
                <a:ea typeface="Segoe UI Semibold" pitchFamily="34" charset="-122"/>
                <a:cs typeface="Segoe UI Semibold" pitchFamily="34" charset="-120"/>
              </a:rPr>
              <a:t>See the whole picture</a:t>
            </a:r>
            <a:endParaRPr lang="en-US" sz="2000" dirty="0"/>
          </a:p>
        </p:txBody>
      </p:sp>
      <p:sp>
        <p:nvSpPr>
          <p:cNvPr id="25" name="Text 21"/>
          <p:cNvSpPr/>
          <p:nvPr/>
        </p:nvSpPr>
        <p:spPr>
          <a:xfrm>
            <a:off x="7821778" y="4069080"/>
            <a:ext cx="2651760" cy="1554480"/>
          </a:xfrm>
          <a:prstGeom prst="rect">
            <a:avLst/>
          </a:prstGeom>
          <a:noFill/>
          <a:ln/>
        </p:spPr>
        <p:txBody>
          <a:bodyPr wrap="square" lIns="0" tIns="0" rIns="0" bIns="0" rtlCol="0" anchor="t"/>
          <a:lstStyle/>
          <a:p>
            <a:pPr indent="0" marL="0">
              <a:buNone/>
            </a:pPr>
            <a:r>
              <a:rPr lang="en-US" sz="1450" dirty="0">
                <a:solidFill>
                  <a:srgbClr val="637087"/>
                </a:solidFill>
                <a:latin typeface="Segoe UI" pitchFamily="34" charset="0"/>
                <a:ea typeface="Segoe UI" pitchFamily="34" charset="-122"/>
                <a:cs typeface="Segoe UI" pitchFamily="34" charset="-120"/>
              </a:rPr>
              <a:t>Read the six headline numbers, the daily trend and which experiences people use.</a:t>
            </a:r>
            <a:endParaRPr lang="en-US" sz="1450" dirty="0"/>
          </a:p>
        </p:txBody>
      </p:sp>
      <p:sp>
        <p:nvSpPr>
          <p:cNvPr id="26" name="Text 22"/>
          <p:cNvSpPr/>
          <p:nvPr/>
        </p:nvSpPr>
        <p:spPr>
          <a:xfrm>
            <a:off x="7821778" y="5715000"/>
            <a:ext cx="2651760" cy="347472"/>
          </a:xfrm>
          <a:prstGeom prst="rect">
            <a:avLst/>
          </a:prstGeom>
          <a:noFill/>
          <a:ln/>
        </p:spPr>
        <p:txBody>
          <a:bodyPr wrap="square" lIns="0" tIns="0" rIns="0" bIns="0" rtlCol="0" anchor="ctr"/>
          <a:lstStyle/>
          <a:p>
            <a:pPr indent="0" marL="0">
              <a:buNone/>
            </a:pPr>
            <a:r>
              <a:rPr lang="en-US" sz="1300" dirty="0">
                <a:solidFill>
                  <a:srgbClr val="BF5B25"/>
                </a:solidFill>
                <a:latin typeface="Segoe UI Semibold" pitchFamily="34" charset="0"/>
                <a:ea typeface="Segoe UI Semibold" pitchFamily="34" charset="-122"/>
                <a:cs typeface="Segoe UI Semibold" pitchFamily="34" charset="-120"/>
              </a:rPr>
              <a:t>Copilot Usage Explorer</a:t>
            </a:r>
            <a:endParaRPr lang="en-US" sz="1300" dirty="0"/>
          </a:p>
        </p:txBody>
      </p:sp>
      <p:sp>
        <p:nvSpPr>
          <p:cNvPr id="27" name="Shape 23"/>
          <p:cNvSpPr/>
          <p:nvPr/>
        </p:nvSpPr>
        <p:spPr>
          <a:xfrm>
            <a:off x="11014862" y="2331720"/>
            <a:ext cx="3200400" cy="3886200"/>
          </a:xfrm>
          <a:prstGeom prst="roundRect">
            <a:avLst>
              <a:gd name="adj" fmla="val 2857"/>
            </a:avLst>
          </a:prstGeom>
          <a:solidFill>
            <a:srgbClr val="FFFFFF"/>
          </a:solidFill>
          <a:ln w="12700">
            <a:solidFill>
              <a:srgbClr val="E2DDEB"/>
            </a:solidFill>
            <a:prstDash val="solid"/>
          </a:ln>
        </p:spPr>
      </p:sp>
      <p:sp>
        <p:nvSpPr>
          <p:cNvPr id="28" name="Shape 24"/>
          <p:cNvSpPr/>
          <p:nvPr/>
        </p:nvSpPr>
        <p:spPr>
          <a:xfrm>
            <a:off x="11289182" y="2606040"/>
            <a:ext cx="502920" cy="502920"/>
          </a:xfrm>
          <a:prstGeom prst="ellipse">
            <a:avLst/>
          </a:prstGeom>
          <a:solidFill>
            <a:srgbClr val="4268B2"/>
          </a:solidFill>
          <a:ln w="25400">
            <a:solidFill>
              <a:srgbClr val="FFFFFF"/>
            </a:solidFill>
            <a:prstDash val="solid"/>
          </a:ln>
        </p:spPr>
      </p:sp>
      <p:sp>
        <p:nvSpPr>
          <p:cNvPr id="29" name="Text 25"/>
          <p:cNvSpPr/>
          <p:nvPr/>
        </p:nvSpPr>
        <p:spPr>
          <a:xfrm>
            <a:off x="11289182" y="2615184"/>
            <a:ext cx="50292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4</a:t>
            </a:r>
            <a:endParaRPr lang="en-US" sz="1800" dirty="0"/>
          </a:p>
        </p:txBody>
      </p:sp>
      <p:sp>
        <p:nvSpPr>
          <p:cNvPr id="30" name="Text 26"/>
          <p:cNvSpPr/>
          <p:nvPr/>
        </p:nvSpPr>
        <p:spPr>
          <a:xfrm>
            <a:off x="11289182" y="3291840"/>
            <a:ext cx="2651760" cy="777240"/>
          </a:xfrm>
          <a:prstGeom prst="rect">
            <a:avLst/>
          </a:prstGeom>
          <a:noFill/>
          <a:ln/>
        </p:spPr>
        <p:txBody>
          <a:bodyPr wrap="square" lIns="0" tIns="0" rIns="0" bIns="0" rtlCol="0" anchor="t"/>
          <a:lstStyle/>
          <a:p>
            <a:pPr indent="0" marL="0">
              <a:buNone/>
            </a:pPr>
            <a:r>
              <a:rPr lang="en-US" sz="2000" dirty="0">
                <a:solidFill>
                  <a:srgbClr val="251833"/>
                </a:solidFill>
                <a:latin typeface="Segoe UI Semibold" pitchFamily="34" charset="0"/>
                <a:ea typeface="Segoe UI Semibold" pitchFamily="34" charset="-122"/>
                <a:cs typeface="Segoe UI Semibold" pitchFamily="34" charset="-120"/>
              </a:rPr>
              <a:t>Look closer</a:t>
            </a:r>
            <a:endParaRPr lang="en-US" sz="2000" dirty="0"/>
          </a:p>
        </p:txBody>
      </p:sp>
      <p:sp>
        <p:nvSpPr>
          <p:cNvPr id="31" name="Text 27"/>
          <p:cNvSpPr/>
          <p:nvPr/>
        </p:nvSpPr>
        <p:spPr>
          <a:xfrm>
            <a:off x="11289182" y="4069080"/>
            <a:ext cx="2651760" cy="1554480"/>
          </a:xfrm>
          <a:prstGeom prst="rect">
            <a:avLst/>
          </a:prstGeom>
          <a:noFill/>
          <a:ln/>
        </p:spPr>
        <p:txBody>
          <a:bodyPr wrap="square" lIns="0" tIns="0" rIns="0" bIns="0" rtlCol="0" anchor="t"/>
          <a:lstStyle/>
          <a:p>
            <a:pPr indent="0" marL="0">
              <a:buNone/>
            </a:pPr>
            <a:r>
              <a:rPr lang="en-US" sz="1450" dirty="0">
                <a:solidFill>
                  <a:srgbClr val="637087"/>
                </a:solidFill>
                <a:latin typeface="Segoe UI" pitchFamily="34" charset="0"/>
                <a:ea typeface="Segoe UI" pitchFamily="34" charset="-122"/>
                <a:cs typeface="Segoe UI" pitchFamily="34" charset="-120"/>
              </a:rPr>
              <a:t>Compare experiences, read habits, then look at agents and departments.</a:t>
            </a:r>
            <a:endParaRPr lang="en-US" sz="1450" dirty="0"/>
          </a:p>
        </p:txBody>
      </p:sp>
      <p:sp>
        <p:nvSpPr>
          <p:cNvPr id="32" name="Text 28"/>
          <p:cNvSpPr/>
          <p:nvPr/>
        </p:nvSpPr>
        <p:spPr>
          <a:xfrm>
            <a:off x="11289182" y="5715000"/>
            <a:ext cx="2651760" cy="347472"/>
          </a:xfrm>
          <a:prstGeom prst="rect">
            <a:avLst/>
          </a:prstGeom>
          <a:noFill/>
          <a:ln/>
        </p:spPr>
        <p:txBody>
          <a:bodyPr wrap="square" lIns="0" tIns="0" rIns="0" bIns="0" rtlCol="0" anchor="ctr"/>
          <a:lstStyle/>
          <a:p>
            <a:pPr indent="0" marL="0">
              <a:buNone/>
            </a:pPr>
            <a:r>
              <a:rPr lang="en-US" sz="1300" dirty="0">
                <a:solidFill>
                  <a:srgbClr val="4268B2"/>
                </a:solidFill>
                <a:latin typeface="Segoe UI Semibold" pitchFamily="34" charset="0"/>
                <a:ea typeface="Segoe UI Semibold" pitchFamily="34" charset="-122"/>
                <a:cs typeface="Segoe UI Semibold" pitchFamily="34" charset="-120"/>
              </a:rPr>
              <a:t>Overall, habit and agent pages</a:t>
            </a:r>
            <a:endParaRPr lang="en-US" sz="1300" dirty="0"/>
          </a:p>
        </p:txBody>
      </p:sp>
      <p:sp>
        <p:nvSpPr>
          <p:cNvPr id="33" name="Shape 29"/>
          <p:cNvSpPr/>
          <p:nvPr/>
        </p:nvSpPr>
        <p:spPr>
          <a:xfrm>
            <a:off x="14482267" y="2331720"/>
            <a:ext cx="3200400" cy="3886200"/>
          </a:xfrm>
          <a:prstGeom prst="roundRect">
            <a:avLst>
              <a:gd name="adj" fmla="val 2857"/>
            </a:avLst>
          </a:prstGeom>
          <a:solidFill>
            <a:srgbClr val="FFFFFF"/>
          </a:solidFill>
          <a:ln w="12700">
            <a:solidFill>
              <a:srgbClr val="E2DDEB"/>
            </a:solidFill>
            <a:prstDash val="solid"/>
          </a:ln>
        </p:spPr>
      </p:sp>
      <p:sp>
        <p:nvSpPr>
          <p:cNvPr id="34" name="Shape 30"/>
          <p:cNvSpPr/>
          <p:nvPr/>
        </p:nvSpPr>
        <p:spPr>
          <a:xfrm>
            <a:off x="14756587" y="2606040"/>
            <a:ext cx="502920" cy="502920"/>
          </a:xfrm>
          <a:prstGeom prst="ellipse">
            <a:avLst/>
          </a:prstGeom>
          <a:solidFill>
            <a:srgbClr val="7953B8"/>
          </a:solidFill>
          <a:ln w="25400">
            <a:solidFill>
              <a:srgbClr val="FFFFFF"/>
            </a:solidFill>
            <a:prstDash val="solid"/>
          </a:ln>
        </p:spPr>
      </p:sp>
      <p:sp>
        <p:nvSpPr>
          <p:cNvPr id="35" name="Text 31"/>
          <p:cNvSpPr/>
          <p:nvPr/>
        </p:nvSpPr>
        <p:spPr>
          <a:xfrm>
            <a:off x="14756587" y="2615184"/>
            <a:ext cx="502920" cy="50292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5</a:t>
            </a:r>
            <a:endParaRPr lang="en-US" sz="1800" dirty="0"/>
          </a:p>
        </p:txBody>
      </p:sp>
      <p:sp>
        <p:nvSpPr>
          <p:cNvPr id="36" name="Text 32"/>
          <p:cNvSpPr/>
          <p:nvPr/>
        </p:nvSpPr>
        <p:spPr>
          <a:xfrm>
            <a:off x="14756587" y="3291840"/>
            <a:ext cx="2651760" cy="777240"/>
          </a:xfrm>
          <a:prstGeom prst="rect">
            <a:avLst/>
          </a:prstGeom>
          <a:noFill/>
          <a:ln/>
        </p:spPr>
        <p:txBody>
          <a:bodyPr wrap="square" lIns="0" tIns="0" rIns="0" bIns="0" rtlCol="0" anchor="t"/>
          <a:lstStyle/>
          <a:p>
            <a:pPr indent="0" marL="0">
              <a:buNone/>
            </a:pPr>
            <a:r>
              <a:rPr lang="en-US" sz="2000" dirty="0">
                <a:solidFill>
                  <a:srgbClr val="251833"/>
                </a:solidFill>
                <a:latin typeface="Segoe UI Semibold" pitchFamily="34" charset="0"/>
                <a:ea typeface="Segoe UI Semibold" pitchFamily="34" charset="-122"/>
                <a:cs typeface="Segoe UI Semibold" pitchFamily="34" charset="-120"/>
              </a:rPr>
              <a:t>Agree a next step</a:t>
            </a:r>
            <a:endParaRPr lang="en-US" sz="2000" dirty="0"/>
          </a:p>
        </p:txBody>
      </p:sp>
      <p:sp>
        <p:nvSpPr>
          <p:cNvPr id="37" name="Text 33"/>
          <p:cNvSpPr/>
          <p:nvPr/>
        </p:nvSpPr>
        <p:spPr>
          <a:xfrm>
            <a:off x="14756587" y="4069080"/>
            <a:ext cx="2651760" cy="1554480"/>
          </a:xfrm>
          <a:prstGeom prst="rect">
            <a:avLst/>
          </a:prstGeom>
          <a:noFill/>
          <a:ln/>
        </p:spPr>
        <p:txBody>
          <a:bodyPr wrap="square" lIns="0" tIns="0" rIns="0" bIns="0" rtlCol="0" anchor="t"/>
          <a:lstStyle/>
          <a:p>
            <a:pPr indent="0" marL="0">
              <a:buNone/>
            </a:pPr>
            <a:r>
              <a:rPr lang="en-US" sz="1450" dirty="0">
                <a:solidFill>
                  <a:srgbClr val="637087"/>
                </a:solidFill>
                <a:latin typeface="Segoe UI" pitchFamily="34" charset="0"/>
                <a:ea typeface="Segoe UI" pitchFamily="34" charset="-122"/>
                <a:cs typeface="Segoe UI" pitchFamily="34" charset="-120"/>
              </a:rPr>
              <a:t>Pick one change to try, such as training, sharing an agent or reviewing licenses.</a:t>
            </a:r>
            <a:endParaRPr lang="en-US" sz="1450" dirty="0"/>
          </a:p>
        </p:txBody>
      </p:sp>
      <p:sp>
        <p:nvSpPr>
          <p:cNvPr id="38" name="Text 34"/>
          <p:cNvSpPr/>
          <p:nvPr/>
        </p:nvSpPr>
        <p:spPr>
          <a:xfrm>
            <a:off x="14756587" y="5715000"/>
            <a:ext cx="2651760" cy="347472"/>
          </a:xfrm>
          <a:prstGeom prst="rect">
            <a:avLst/>
          </a:prstGeom>
          <a:noFill/>
          <a:ln/>
        </p:spPr>
        <p:txBody>
          <a:bodyPr wrap="square" lIns="0" tIns="0" rIns="0" bIns="0" rtlCol="0" anchor="ctr"/>
          <a:lstStyle/>
          <a:p>
            <a:pPr indent="0" marL="0">
              <a:buNone/>
            </a:pPr>
            <a:r>
              <a:rPr lang="en-US" sz="1300" dirty="0">
                <a:solidFill>
                  <a:srgbClr val="7953B8"/>
                </a:solidFill>
                <a:latin typeface="Segoe UI Semibold" pitchFamily="34" charset="0"/>
                <a:ea typeface="Segoe UI Semibold" pitchFamily="34" charset="-122"/>
                <a:cs typeface="Segoe UI Semibold" pitchFamily="34" charset="-120"/>
              </a:rPr>
              <a:t>License Prioritization</a:t>
            </a:r>
            <a:endParaRPr lang="en-US" sz="1300" dirty="0"/>
          </a:p>
        </p:txBody>
      </p:sp>
      <p:sp>
        <p:nvSpPr>
          <p:cNvPr id="39" name="Shape 35"/>
          <p:cNvSpPr/>
          <p:nvPr/>
        </p:nvSpPr>
        <p:spPr>
          <a:xfrm>
            <a:off x="612648" y="6492240"/>
            <a:ext cx="17062704" cy="2377440"/>
          </a:xfrm>
          <a:prstGeom prst="roundRect">
            <a:avLst>
              <a:gd name="adj" fmla="val 3846"/>
            </a:avLst>
          </a:prstGeom>
          <a:solidFill>
            <a:srgbClr val="FFFFFF"/>
          </a:solidFill>
          <a:ln w="12700">
            <a:solidFill>
              <a:srgbClr val="E2DDEB"/>
            </a:solidFill>
            <a:prstDash val="solid"/>
          </a:ln>
        </p:spPr>
      </p:sp>
      <p:sp>
        <p:nvSpPr>
          <p:cNvPr id="40" name="Text 36"/>
          <p:cNvSpPr/>
          <p:nvPr/>
        </p:nvSpPr>
        <p:spPr>
          <a:xfrm>
            <a:off x="978408" y="6720840"/>
            <a:ext cx="7315200" cy="320040"/>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BEFORE YOU PRESENT</a:t>
            </a:r>
            <a:endParaRPr lang="en-US" sz="1200" dirty="0"/>
          </a:p>
        </p:txBody>
      </p:sp>
      <p:sp>
        <p:nvSpPr>
          <p:cNvPr id="41" name="Text 37"/>
          <p:cNvSpPr/>
          <p:nvPr/>
        </p:nvSpPr>
        <p:spPr>
          <a:xfrm>
            <a:off x="978408" y="7132320"/>
            <a:ext cx="5212080" cy="365760"/>
          </a:xfrm>
          <a:prstGeom prst="rect">
            <a:avLst/>
          </a:prstGeom>
          <a:noFill/>
          <a:ln/>
        </p:spPr>
        <p:txBody>
          <a:bodyPr wrap="square" lIns="0" tIns="0" rIns="0" bIns="0" rtlCol="0" anchor="ctr"/>
          <a:lstStyle/>
          <a:p>
            <a:pPr indent="0" marL="0">
              <a:buNone/>
            </a:pPr>
            <a:r>
              <a:rPr lang="en-US" sz="1700" dirty="0">
                <a:solidFill>
                  <a:srgbClr val="251833"/>
                </a:solidFill>
                <a:latin typeface="Segoe UI Semibold" pitchFamily="34" charset="0"/>
                <a:ea typeface="Segoe UI Semibold" pitchFamily="34" charset="-122"/>
                <a:cs typeface="Segoe UI Semibold" pitchFamily="34" charset="-120"/>
              </a:rPr>
              <a:t>Confirm the team size setting</a:t>
            </a:r>
            <a:endParaRPr lang="en-US" sz="1700" dirty="0"/>
          </a:p>
        </p:txBody>
      </p:sp>
      <p:sp>
        <p:nvSpPr>
          <p:cNvPr id="42" name="Text 38"/>
          <p:cNvSpPr/>
          <p:nvPr/>
        </p:nvSpPr>
        <p:spPr>
          <a:xfrm>
            <a:off x="978408" y="7543800"/>
            <a:ext cx="5212080" cy="1097280"/>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Ask the report owner which Minimum Group Size is approved. The default, 3, shows team-level results only.</a:t>
            </a:r>
            <a:endParaRPr lang="en-US" sz="1500" dirty="0"/>
          </a:p>
        </p:txBody>
      </p:sp>
      <p:sp>
        <p:nvSpPr>
          <p:cNvPr id="43" name="Text 39"/>
          <p:cNvSpPr/>
          <p:nvPr/>
        </p:nvSpPr>
        <p:spPr>
          <a:xfrm>
            <a:off x="6574536" y="7132320"/>
            <a:ext cx="5212080" cy="365760"/>
          </a:xfrm>
          <a:prstGeom prst="rect">
            <a:avLst/>
          </a:prstGeom>
          <a:noFill/>
          <a:ln/>
        </p:spPr>
        <p:txBody>
          <a:bodyPr wrap="square" lIns="0" tIns="0" rIns="0" bIns="0" rtlCol="0" anchor="ctr"/>
          <a:lstStyle/>
          <a:p>
            <a:pPr indent="0" marL="0">
              <a:buNone/>
            </a:pPr>
            <a:r>
              <a:rPr lang="en-US" sz="1700" dirty="0">
                <a:solidFill>
                  <a:srgbClr val="251833"/>
                </a:solidFill>
                <a:latin typeface="Segoe UI Semibold" pitchFamily="34" charset="0"/>
                <a:ea typeface="Segoe UI Semibold" pitchFamily="34" charset="-122"/>
                <a:cs typeface="Segoe UI Semibold" pitchFamily="34" charset="-120"/>
              </a:rPr>
              <a:t>Check who can see what</a:t>
            </a:r>
            <a:endParaRPr lang="en-US" sz="1700" dirty="0"/>
          </a:p>
        </p:txBody>
      </p:sp>
      <p:sp>
        <p:nvSpPr>
          <p:cNvPr id="44" name="Text 40"/>
          <p:cNvSpPr/>
          <p:nvPr/>
        </p:nvSpPr>
        <p:spPr>
          <a:xfrm>
            <a:off x="6574536" y="7543800"/>
            <a:ext cx="5212080" cy="1097280"/>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The report uses row-level security. Make sure your audience has the right role before you share it.</a:t>
            </a:r>
            <a:endParaRPr lang="en-US" sz="1500" dirty="0"/>
          </a:p>
        </p:txBody>
      </p:sp>
      <p:sp>
        <p:nvSpPr>
          <p:cNvPr id="45" name="Text 41"/>
          <p:cNvSpPr/>
          <p:nvPr/>
        </p:nvSpPr>
        <p:spPr>
          <a:xfrm>
            <a:off x="12170664" y="7132320"/>
            <a:ext cx="5212080" cy="365760"/>
          </a:xfrm>
          <a:prstGeom prst="rect">
            <a:avLst/>
          </a:prstGeom>
          <a:noFill/>
          <a:ln/>
        </p:spPr>
        <p:txBody>
          <a:bodyPr wrap="square" lIns="0" tIns="0" rIns="0" bIns="0" rtlCol="0" anchor="ctr"/>
          <a:lstStyle/>
          <a:p>
            <a:pPr indent="0" marL="0">
              <a:buNone/>
            </a:pPr>
            <a:r>
              <a:rPr lang="en-US" sz="1700" dirty="0">
                <a:solidFill>
                  <a:srgbClr val="251833"/>
                </a:solidFill>
                <a:latin typeface="Segoe UI Semibold" pitchFamily="34" charset="0"/>
                <a:ea typeface="Segoe UI Semibold" pitchFamily="34" charset="-122"/>
                <a:cs typeface="Segoe UI Semibold" pitchFamily="34" charset="-120"/>
              </a:rPr>
              <a:t>Know how fresh the data is</a:t>
            </a:r>
            <a:endParaRPr lang="en-US" sz="1700" dirty="0"/>
          </a:p>
        </p:txBody>
      </p:sp>
      <p:sp>
        <p:nvSpPr>
          <p:cNvPr id="46" name="Text 42"/>
          <p:cNvSpPr/>
          <p:nvPr/>
        </p:nvSpPr>
        <p:spPr>
          <a:xfrm>
            <a:off x="12170664" y="7543800"/>
            <a:ext cx="5212080" cy="1097280"/>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Look at the last activity dates on the agent and usage tables, and keep the same dates on every page.</a:t>
            </a:r>
            <a:endParaRPr lang="en-US" sz="1500" dirty="0"/>
          </a:p>
        </p:txBody>
      </p:sp>
      <p:sp>
        <p:nvSpPr>
          <p:cNvPr id="47" name="Shape 43"/>
          <p:cNvSpPr/>
          <p:nvPr/>
        </p:nvSpPr>
        <p:spPr>
          <a:xfrm>
            <a:off x="612648" y="9144000"/>
            <a:ext cx="17062704" cy="566928"/>
          </a:xfrm>
          <a:prstGeom prst="roundRect">
            <a:avLst>
              <a:gd name="adj" fmla="val 12903"/>
            </a:avLst>
          </a:prstGeom>
          <a:solidFill>
            <a:srgbClr val="251833"/>
          </a:solidFill>
          <a:ln/>
        </p:spPr>
      </p:sp>
      <p:sp>
        <p:nvSpPr>
          <p:cNvPr id="48" name="Text 44"/>
          <p:cNvSpPr/>
          <p:nvPr/>
        </p:nvSpPr>
        <p:spPr>
          <a:xfrm>
            <a:off x="841248" y="9144000"/>
            <a:ext cx="1463040" cy="566928"/>
          </a:xfrm>
          <a:prstGeom prst="rect">
            <a:avLst/>
          </a:prstGeom>
          <a:noFill/>
          <a:ln/>
        </p:spPr>
        <p:txBody>
          <a:bodyPr wrap="square" lIns="0" tIns="0" rIns="0" bIns="0" rtlCol="0" anchor="ctr"/>
          <a:lstStyle/>
          <a:p>
            <a:pPr indent="0" marL="0">
              <a:buNone/>
            </a:pPr>
            <a:r>
              <a:rPr lang="en-US" sz="1300" spc="100" kern="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9" name="Text 45"/>
          <p:cNvSpPr/>
          <p:nvPr/>
        </p:nvSpPr>
        <p:spPr>
          <a:xfrm>
            <a:off x="2304288" y="9144000"/>
            <a:ext cx="15142464" cy="56692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Everything we look at today uses the same people and dates, so the pages tell one consistent story.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F8"/>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637087"/>
                </a:solidFill>
                <a:latin typeface="Segoe UI" pitchFamily="34" charset="0"/>
                <a:ea typeface="Segoe UI" pitchFamily="34" charset="-122"/>
                <a:cs typeface="Segoe UI" pitchFamily="34" charset="-120"/>
              </a:rPr>
              <a:t>04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indent="0" marL="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ACT 1 · WHO IS USING COPILOT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251833"/>
                </a:solidFill>
                <a:latin typeface="Segoe UI Semibold" pitchFamily="34" charset="0"/>
                <a:ea typeface="Segoe UI Semibold" pitchFamily="34" charset="-122"/>
                <a:cs typeface="Segoe UI Semibold" pitchFamily="34" charset="-120"/>
              </a:rPr>
              <a:t>Start with one view of your team</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indent="0" marL="0">
              <a:buNone/>
            </a:pPr>
            <a:r>
              <a:rPr lang="en-US" sz="2000" dirty="0">
                <a:solidFill>
                  <a:srgbClr val="637087"/>
                </a:solidFill>
                <a:latin typeface="Segoe UI" pitchFamily="34" charset="0"/>
                <a:ea typeface="Segoe UI" pitchFamily="34" charset="-122"/>
                <a:cs typeface="Segoe UI" pitchFamily="34" charset="-120"/>
              </a:rPr>
              <a:t>Copilot Usage Explorer brings people, prompts, sessions and agents together.</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sp>
      <p:pic>
        <p:nvPicPr>
          <p:cNvPr id="10" name="Image 2" descr="Copilot Usage Explorer page">    </p:cNvPr>
          <p:cNvPicPr>
            <a:picLocks noChangeAspect="1"/>
          </p:cNvPicPr>
          <p:nvPr/>
        </p:nvPicPr>
        <p:blipFill>
          <a:blip r:embed="rId3"/>
          <a:stretch>
            <a:fillRect/>
          </a:stretch>
        </p:blipFill>
        <p:spPr>
          <a:xfrm>
            <a:off x="868680" y="2468880"/>
            <a:ext cx="10003536" cy="6170931"/>
          </a:xfrm>
          <a:prstGeom prst="rect">
            <a:avLst/>
          </a:prstGeom>
        </p:spPr>
      </p:pic>
      <p:sp>
        <p:nvSpPr>
          <p:cNvPr id="11" name="Shape 6"/>
          <p:cNvSpPr/>
          <p:nvPr/>
        </p:nvSpPr>
        <p:spPr>
          <a:xfrm>
            <a:off x="968715" y="3857340"/>
            <a:ext cx="9353306" cy="462820"/>
          </a:xfrm>
          <a:prstGeom prst="roundRect">
            <a:avLst>
              <a:gd name="adj" fmla="val 9879"/>
            </a:avLst>
          </a:prstGeom>
          <a:ln w="22225">
            <a:solidFill>
              <a:srgbClr val="7953B8"/>
            </a:solidFill>
            <a:prstDash val="solid"/>
          </a:ln>
        </p:spPr>
      </p:sp>
      <p:sp>
        <p:nvSpPr>
          <p:cNvPr id="12" name="Shape 7"/>
          <p:cNvSpPr/>
          <p:nvPr/>
        </p:nvSpPr>
        <p:spPr>
          <a:xfrm>
            <a:off x="767547" y="3674460"/>
            <a:ext cx="329184" cy="329184"/>
          </a:xfrm>
          <a:prstGeom prst="ellipse">
            <a:avLst/>
          </a:prstGeom>
          <a:solidFill>
            <a:srgbClr val="7953B8"/>
          </a:solidFill>
          <a:ln w="25400">
            <a:solidFill>
              <a:srgbClr val="FFFFFF"/>
            </a:solidFill>
            <a:prstDash val="solid"/>
          </a:ln>
        </p:spPr>
      </p:sp>
      <p:sp>
        <p:nvSpPr>
          <p:cNvPr id="13" name="Text 8"/>
          <p:cNvSpPr/>
          <p:nvPr/>
        </p:nvSpPr>
        <p:spPr>
          <a:xfrm>
            <a:off x="767547" y="3683604"/>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968715" y="4381869"/>
            <a:ext cx="5902086" cy="1789570"/>
          </a:xfrm>
          <a:prstGeom prst="roundRect">
            <a:avLst>
              <a:gd name="adj" fmla="val 2555"/>
            </a:avLst>
          </a:prstGeom>
          <a:ln w="22225">
            <a:solidFill>
              <a:srgbClr val="008774"/>
            </a:solidFill>
            <a:prstDash val="solid"/>
          </a:ln>
        </p:spPr>
      </p:sp>
      <p:sp>
        <p:nvSpPr>
          <p:cNvPr id="15" name="Shape 10"/>
          <p:cNvSpPr/>
          <p:nvPr/>
        </p:nvSpPr>
        <p:spPr>
          <a:xfrm>
            <a:off x="767547" y="4198989"/>
            <a:ext cx="329184" cy="329184"/>
          </a:xfrm>
          <a:prstGeom prst="ellipse">
            <a:avLst/>
          </a:prstGeom>
          <a:solidFill>
            <a:srgbClr val="008774"/>
          </a:solidFill>
          <a:ln w="25400">
            <a:solidFill>
              <a:srgbClr val="FFFFFF"/>
            </a:solidFill>
            <a:prstDash val="solid"/>
          </a:ln>
        </p:spPr>
      </p:sp>
      <p:sp>
        <p:nvSpPr>
          <p:cNvPr id="16" name="Text 11"/>
          <p:cNvSpPr/>
          <p:nvPr/>
        </p:nvSpPr>
        <p:spPr>
          <a:xfrm>
            <a:off x="767547" y="4208133"/>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6920819" y="4381869"/>
            <a:ext cx="3401202" cy="1789570"/>
          </a:xfrm>
          <a:prstGeom prst="roundRect">
            <a:avLst>
              <a:gd name="adj" fmla="val 2555"/>
            </a:avLst>
          </a:prstGeom>
          <a:ln w="22225">
            <a:solidFill>
              <a:srgbClr val="BF5B25"/>
            </a:solidFill>
            <a:prstDash val="solid"/>
          </a:ln>
        </p:spPr>
      </p:sp>
      <p:sp>
        <p:nvSpPr>
          <p:cNvPr id="18" name="Shape 13"/>
          <p:cNvSpPr/>
          <p:nvPr/>
        </p:nvSpPr>
        <p:spPr>
          <a:xfrm>
            <a:off x="6719651" y="4198989"/>
            <a:ext cx="329184" cy="329184"/>
          </a:xfrm>
          <a:prstGeom prst="ellipse">
            <a:avLst/>
          </a:prstGeom>
          <a:solidFill>
            <a:srgbClr val="BF5B25"/>
          </a:solidFill>
          <a:ln w="25400">
            <a:solidFill>
              <a:srgbClr val="FFFFFF"/>
            </a:solidFill>
            <a:prstDash val="solid"/>
          </a:ln>
        </p:spPr>
      </p:sp>
      <p:sp>
        <p:nvSpPr>
          <p:cNvPr id="19" name="Text 14"/>
          <p:cNvSpPr/>
          <p:nvPr/>
        </p:nvSpPr>
        <p:spPr>
          <a:xfrm>
            <a:off x="6719651" y="4208133"/>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968715" y="6233148"/>
            <a:ext cx="5902086" cy="2036407"/>
          </a:xfrm>
          <a:prstGeom prst="roundRect">
            <a:avLst>
              <a:gd name="adj" fmla="val 2245"/>
            </a:avLst>
          </a:prstGeom>
          <a:ln w="22225">
            <a:solidFill>
              <a:srgbClr val="4268B2"/>
            </a:solidFill>
            <a:prstDash val="solid"/>
          </a:ln>
        </p:spPr>
      </p:sp>
      <p:sp>
        <p:nvSpPr>
          <p:cNvPr id="21" name="Shape 16"/>
          <p:cNvSpPr/>
          <p:nvPr/>
        </p:nvSpPr>
        <p:spPr>
          <a:xfrm>
            <a:off x="767547" y="6050268"/>
            <a:ext cx="329184" cy="329184"/>
          </a:xfrm>
          <a:prstGeom prst="ellipse">
            <a:avLst/>
          </a:prstGeom>
          <a:solidFill>
            <a:srgbClr val="4268B2"/>
          </a:solidFill>
          <a:ln w="25400">
            <a:solidFill>
              <a:srgbClr val="FFFFFF"/>
            </a:solidFill>
            <a:prstDash val="solid"/>
          </a:ln>
        </p:spPr>
      </p:sp>
      <p:sp>
        <p:nvSpPr>
          <p:cNvPr id="22" name="Text 17"/>
          <p:cNvSpPr/>
          <p:nvPr/>
        </p:nvSpPr>
        <p:spPr>
          <a:xfrm>
            <a:off x="767547" y="6059412"/>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23" name="Shape 18"/>
          <p:cNvSpPr/>
          <p:nvPr/>
        </p:nvSpPr>
        <p:spPr>
          <a:xfrm>
            <a:off x="11384280" y="2212848"/>
            <a:ext cx="6291072" cy="1561338"/>
          </a:xfrm>
          <a:prstGeom prst="roundRect">
            <a:avLst>
              <a:gd name="adj" fmla="val 5857"/>
            </a:avLst>
          </a:prstGeom>
          <a:solidFill>
            <a:srgbClr val="FFFFFF"/>
          </a:solidFill>
          <a:ln w="12700">
            <a:solidFill>
              <a:srgbClr val="E2DDEB"/>
            </a:solidFill>
            <a:prstDash val="solid"/>
          </a:ln>
        </p:spPr>
      </p:sp>
      <p:sp>
        <p:nvSpPr>
          <p:cNvPr id="24" name="Shape 19"/>
          <p:cNvSpPr/>
          <p:nvPr/>
        </p:nvSpPr>
        <p:spPr>
          <a:xfrm>
            <a:off x="11567160" y="2395728"/>
            <a:ext cx="347472" cy="347472"/>
          </a:xfrm>
          <a:prstGeom prst="ellipse">
            <a:avLst/>
          </a:prstGeom>
          <a:solidFill>
            <a:srgbClr val="7953B8"/>
          </a:solidFill>
          <a:ln w="25400">
            <a:solidFill>
              <a:srgbClr val="FFFFFF"/>
            </a:solidFill>
            <a:prstDash val="solid"/>
          </a:ln>
        </p:spPr>
      </p:sp>
      <p:sp>
        <p:nvSpPr>
          <p:cNvPr id="25" name="Text 20"/>
          <p:cNvSpPr/>
          <p:nvPr/>
        </p:nvSpPr>
        <p:spPr>
          <a:xfrm>
            <a:off x="11567160" y="2404872"/>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26" name="Text 21"/>
          <p:cNvSpPr/>
          <p:nvPr/>
        </p:nvSpPr>
        <p:spPr>
          <a:xfrm>
            <a:off x="12042648" y="2395728"/>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Six headline numbers</a:t>
            </a:r>
            <a:endParaRPr lang="en-US" sz="1900" dirty="0"/>
          </a:p>
        </p:txBody>
      </p:sp>
      <p:sp>
        <p:nvSpPr>
          <p:cNvPr id="27" name="Text 22"/>
          <p:cNvSpPr/>
          <p:nvPr/>
        </p:nvSpPr>
        <p:spPr>
          <a:xfrm>
            <a:off x="11612880" y="2805684"/>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Active users, prompts, sessions, prompts per session, active days per user and repeat users.</a:t>
            </a:r>
            <a:endParaRPr lang="en-US" sz="1500" dirty="0"/>
          </a:p>
        </p:txBody>
      </p:sp>
      <p:sp>
        <p:nvSpPr>
          <p:cNvPr id="28" name="Shape 23"/>
          <p:cNvSpPr/>
          <p:nvPr/>
        </p:nvSpPr>
        <p:spPr>
          <a:xfrm>
            <a:off x="11384280" y="3920490"/>
            <a:ext cx="6291072" cy="1561338"/>
          </a:xfrm>
          <a:prstGeom prst="roundRect">
            <a:avLst>
              <a:gd name="adj" fmla="val 5857"/>
            </a:avLst>
          </a:prstGeom>
          <a:solidFill>
            <a:srgbClr val="FFFFFF"/>
          </a:solidFill>
          <a:ln w="12700">
            <a:solidFill>
              <a:srgbClr val="E2DDEB"/>
            </a:solidFill>
            <a:prstDash val="solid"/>
          </a:ln>
        </p:spPr>
      </p:sp>
      <p:sp>
        <p:nvSpPr>
          <p:cNvPr id="29" name="Shape 24"/>
          <p:cNvSpPr/>
          <p:nvPr/>
        </p:nvSpPr>
        <p:spPr>
          <a:xfrm>
            <a:off x="11567160" y="4103370"/>
            <a:ext cx="347472" cy="347472"/>
          </a:xfrm>
          <a:prstGeom prst="ellipse">
            <a:avLst/>
          </a:prstGeom>
          <a:solidFill>
            <a:srgbClr val="008774"/>
          </a:solidFill>
          <a:ln w="25400">
            <a:solidFill>
              <a:srgbClr val="FFFFFF"/>
            </a:solidFill>
            <a:prstDash val="solid"/>
          </a:ln>
        </p:spPr>
      </p:sp>
      <p:sp>
        <p:nvSpPr>
          <p:cNvPr id="30" name="Text 25"/>
          <p:cNvSpPr/>
          <p:nvPr/>
        </p:nvSpPr>
        <p:spPr>
          <a:xfrm>
            <a:off x="11567160" y="4112514"/>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31" name="Text 26"/>
          <p:cNvSpPr/>
          <p:nvPr/>
        </p:nvSpPr>
        <p:spPr>
          <a:xfrm>
            <a:off x="12042648" y="4103370"/>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The weekly rhythm</a:t>
            </a:r>
            <a:endParaRPr lang="en-US" sz="1900" dirty="0"/>
          </a:p>
        </p:txBody>
      </p:sp>
      <p:sp>
        <p:nvSpPr>
          <p:cNvPr id="32" name="Text 27"/>
          <p:cNvSpPr/>
          <p:nvPr/>
        </p:nvSpPr>
        <p:spPr>
          <a:xfrm>
            <a:off x="11612880" y="4513326"/>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Thin lines show each day. Bold lines show the 7-day average, so the pattern is easy to follow.</a:t>
            </a:r>
            <a:endParaRPr lang="en-US" sz="1500" dirty="0"/>
          </a:p>
        </p:txBody>
      </p:sp>
      <p:sp>
        <p:nvSpPr>
          <p:cNvPr id="33" name="Shape 28"/>
          <p:cNvSpPr/>
          <p:nvPr/>
        </p:nvSpPr>
        <p:spPr>
          <a:xfrm>
            <a:off x="11384280" y="5628132"/>
            <a:ext cx="6291072" cy="1561338"/>
          </a:xfrm>
          <a:prstGeom prst="roundRect">
            <a:avLst>
              <a:gd name="adj" fmla="val 5857"/>
            </a:avLst>
          </a:prstGeom>
          <a:solidFill>
            <a:srgbClr val="FFFFFF"/>
          </a:solidFill>
          <a:ln w="12700">
            <a:solidFill>
              <a:srgbClr val="E2DDEB"/>
            </a:solidFill>
            <a:prstDash val="solid"/>
          </a:ln>
        </p:spPr>
      </p:sp>
      <p:sp>
        <p:nvSpPr>
          <p:cNvPr id="34" name="Shape 29"/>
          <p:cNvSpPr/>
          <p:nvPr/>
        </p:nvSpPr>
        <p:spPr>
          <a:xfrm>
            <a:off x="11567160" y="5811012"/>
            <a:ext cx="347472" cy="347472"/>
          </a:xfrm>
          <a:prstGeom prst="ellipse">
            <a:avLst/>
          </a:prstGeom>
          <a:solidFill>
            <a:srgbClr val="BF5B25"/>
          </a:solidFill>
          <a:ln w="25400">
            <a:solidFill>
              <a:srgbClr val="FFFFFF"/>
            </a:solidFill>
            <a:prstDash val="solid"/>
          </a:ln>
        </p:spPr>
      </p:sp>
      <p:sp>
        <p:nvSpPr>
          <p:cNvPr id="35" name="Text 30"/>
          <p:cNvSpPr/>
          <p:nvPr/>
        </p:nvSpPr>
        <p:spPr>
          <a:xfrm>
            <a:off x="11567160" y="5820156"/>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36" name="Text 31"/>
          <p:cNvSpPr/>
          <p:nvPr/>
        </p:nvSpPr>
        <p:spPr>
          <a:xfrm>
            <a:off x="12042648" y="5811012"/>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Where people use Copilot</a:t>
            </a:r>
            <a:endParaRPr lang="en-US" sz="1900" dirty="0"/>
          </a:p>
        </p:txBody>
      </p:sp>
      <p:sp>
        <p:nvSpPr>
          <p:cNvPr id="37" name="Text 32"/>
          <p:cNvSpPr/>
          <p:nvPr/>
        </p:nvSpPr>
        <p:spPr>
          <a:xfrm>
            <a:off x="11612880" y="6220968"/>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Sessions by experience: M365 Copilot, agents, Copilot Chat, other AI, unclassified activity and Cowork.</a:t>
            </a:r>
            <a:endParaRPr lang="en-US" sz="1500" dirty="0"/>
          </a:p>
        </p:txBody>
      </p:sp>
      <p:sp>
        <p:nvSpPr>
          <p:cNvPr id="38" name="Shape 33"/>
          <p:cNvSpPr/>
          <p:nvPr/>
        </p:nvSpPr>
        <p:spPr>
          <a:xfrm>
            <a:off x="11384280" y="7335774"/>
            <a:ext cx="6291072" cy="1561338"/>
          </a:xfrm>
          <a:prstGeom prst="roundRect">
            <a:avLst>
              <a:gd name="adj" fmla="val 5857"/>
            </a:avLst>
          </a:prstGeom>
          <a:solidFill>
            <a:srgbClr val="FFFFFF"/>
          </a:solidFill>
          <a:ln w="12700">
            <a:solidFill>
              <a:srgbClr val="E2DDEB"/>
            </a:solidFill>
            <a:prstDash val="solid"/>
          </a:ln>
        </p:spPr>
      </p:sp>
      <p:sp>
        <p:nvSpPr>
          <p:cNvPr id="39" name="Shape 34"/>
          <p:cNvSpPr/>
          <p:nvPr/>
        </p:nvSpPr>
        <p:spPr>
          <a:xfrm>
            <a:off x="11567160" y="7518654"/>
            <a:ext cx="347472" cy="347472"/>
          </a:xfrm>
          <a:prstGeom prst="ellipse">
            <a:avLst/>
          </a:prstGeom>
          <a:solidFill>
            <a:srgbClr val="4268B2"/>
          </a:solidFill>
          <a:ln w="25400">
            <a:solidFill>
              <a:srgbClr val="FFFFFF"/>
            </a:solidFill>
            <a:prstDash val="solid"/>
          </a:ln>
        </p:spPr>
      </p:sp>
      <p:sp>
        <p:nvSpPr>
          <p:cNvPr id="40" name="Text 35"/>
          <p:cNvSpPr/>
          <p:nvPr/>
        </p:nvSpPr>
        <p:spPr>
          <a:xfrm>
            <a:off x="11567160" y="7527798"/>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41" name="Text 36"/>
          <p:cNvSpPr/>
          <p:nvPr/>
        </p:nvSpPr>
        <p:spPr>
          <a:xfrm>
            <a:off x="12042648" y="7518654"/>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Every agent in use</a:t>
            </a:r>
            <a:endParaRPr lang="en-US" sz="1900" dirty="0"/>
          </a:p>
        </p:txBody>
      </p:sp>
      <p:sp>
        <p:nvSpPr>
          <p:cNvPr id="42" name="Text 37"/>
          <p:cNvSpPr/>
          <p:nvPr/>
        </p:nvSpPr>
        <p:spPr>
          <a:xfrm>
            <a:off x="11612880" y="7928610"/>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Users, prompts, sessions, type and last activity. Right-click a name to open its details.</a:t>
            </a:r>
            <a:endParaRPr lang="en-US" sz="1500" dirty="0"/>
          </a:p>
        </p:txBody>
      </p:sp>
      <p:sp>
        <p:nvSpPr>
          <p:cNvPr id="43" name="Shape 38"/>
          <p:cNvSpPr/>
          <p:nvPr/>
        </p:nvSpPr>
        <p:spPr>
          <a:xfrm>
            <a:off x="612648" y="9144000"/>
            <a:ext cx="17062704" cy="566928"/>
          </a:xfrm>
          <a:prstGeom prst="roundRect">
            <a:avLst>
              <a:gd name="adj" fmla="val 12903"/>
            </a:avLst>
          </a:prstGeom>
          <a:solidFill>
            <a:srgbClr val="251833"/>
          </a:solidFill>
          <a:ln/>
        </p:spPr>
      </p:sp>
      <p:sp>
        <p:nvSpPr>
          <p:cNvPr id="44" name="Text 39"/>
          <p:cNvSpPr/>
          <p:nvPr/>
        </p:nvSpPr>
        <p:spPr>
          <a:xfrm>
            <a:off x="841248" y="9144000"/>
            <a:ext cx="1463040" cy="566928"/>
          </a:xfrm>
          <a:prstGeom prst="rect">
            <a:avLst/>
          </a:prstGeom>
          <a:noFill/>
          <a:ln/>
        </p:spPr>
        <p:txBody>
          <a:bodyPr wrap="square" lIns="0" tIns="0" rIns="0" bIns="0" rtlCol="0" anchor="ctr"/>
          <a:lstStyle/>
          <a:p>
            <a:pPr indent="0" marL="0">
              <a:buNone/>
            </a:pPr>
            <a:r>
              <a:rPr lang="en-US" sz="1300" spc="100" kern="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5" name="Text 40"/>
          <p:cNvSpPr/>
          <p:nvPr/>
        </p:nvSpPr>
        <p:spPr>
          <a:xfrm>
            <a:off x="2304288" y="9144000"/>
            <a:ext cx="15142464" cy="56692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This is our team at a glance: how many people use Copilot, how much, and where.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F8"/>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637087"/>
                </a:solidFill>
                <a:latin typeface="Segoe UI" pitchFamily="34" charset="0"/>
                <a:ea typeface="Segoe UI" pitchFamily="34" charset="-122"/>
                <a:cs typeface="Segoe UI" pitchFamily="34" charset="-120"/>
              </a:rPr>
              <a:t>05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indent="0" marL="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ACT 1 · WHO IS USING COPILOT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251833"/>
                </a:solidFill>
                <a:latin typeface="Segoe UI Semibold" pitchFamily="34" charset="0"/>
                <a:ea typeface="Segoe UI Semibold" pitchFamily="34" charset="-122"/>
                <a:cs typeface="Segoe UI Semibold" pitchFamily="34" charset="-120"/>
              </a:rPr>
              <a:t>Compare experiences side by side</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indent="0" marL="0">
              <a:buNone/>
            </a:pPr>
            <a:r>
              <a:rPr lang="en-US" sz="2000" dirty="0">
                <a:solidFill>
                  <a:srgbClr val="637087"/>
                </a:solidFill>
                <a:latin typeface="Segoe UI" pitchFamily="34" charset="0"/>
                <a:ea typeface="Segoe UI" pitchFamily="34" charset="-122"/>
                <a:cs typeface="Segoe UI" pitchFamily="34" charset="-120"/>
              </a:rPr>
              <a:t>Combined Trends shows agents, Copilot Chat and licensed Copilot over time.</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sp>
      <p:pic>
        <p:nvPicPr>
          <p:cNvPr id="10" name="Image 2" descr="Copilot Overall: Combined Trends page">    </p:cNvPr>
          <p:cNvPicPr>
            <a:picLocks noChangeAspect="1"/>
          </p:cNvPicPr>
          <p:nvPr/>
        </p:nvPicPr>
        <p:blipFill>
          <a:blip r:embed="rId3"/>
          <a:stretch>
            <a:fillRect/>
          </a:stretch>
        </p:blipFill>
        <p:spPr>
          <a:xfrm>
            <a:off x="868680" y="2468880"/>
            <a:ext cx="10003536" cy="6170931"/>
          </a:xfrm>
          <a:prstGeom prst="rect">
            <a:avLst/>
          </a:prstGeom>
        </p:spPr>
      </p:pic>
      <p:sp>
        <p:nvSpPr>
          <p:cNvPr id="11" name="Shape 6"/>
          <p:cNvSpPr/>
          <p:nvPr/>
        </p:nvSpPr>
        <p:spPr>
          <a:xfrm>
            <a:off x="968715" y="3980758"/>
            <a:ext cx="800283" cy="1912989"/>
          </a:xfrm>
          <a:prstGeom prst="roundRect">
            <a:avLst>
              <a:gd name="adj" fmla="val 5713"/>
            </a:avLst>
          </a:prstGeom>
          <a:ln w="22225">
            <a:solidFill>
              <a:srgbClr val="7953B8"/>
            </a:solidFill>
            <a:prstDash val="solid"/>
          </a:ln>
        </p:spPr>
      </p:sp>
      <p:sp>
        <p:nvSpPr>
          <p:cNvPr id="12" name="Shape 7"/>
          <p:cNvSpPr/>
          <p:nvPr/>
        </p:nvSpPr>
        <p:spPr>
          <a:xfrm>
            <a:off x="767547" y="3797878"/>
            <a:ext cx="329184" cy="329184"/>
          </a:xfrm>
          <a:prstGeom prst="ellipse">
            <a:avLst/>
          </a:prstGeom>
          <a:solidFill>
            <a:srgbClr val="7953B8"/>
          </a:solidFill>
          <a:ln w="25400">
            <a:solidFill>
              <a:srgbClr val="FFFFFF"/>
            </a:solidFill>
            <a:prstDash val="solid"/>
          </a:ln>
        </p:spPr>
      </p:sp>
      <p:sp>
        <p:nvSpPr>
          <p:cNvPr id="13" name="Text 8"/>
          <p:cNvSpPr/>
          <p:nvPr/>
        </p:nvSpPr>
        <p:spPr>
          <a:xfrm>
            <a:off x="767547" y="3807022"/>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1819016" y="3980758"/>
            <a:ext cx="7302581" cy="1974698"/>
          </a:xfrm>
          <a:prstGeom prst="roundRect">
            <a:avLst>
              <a:gd name="adj" fmla="val 2315"/>
            </a:avLst>
          </a:prstGeom>
          <a:ln w="22225">
            <a:solidFill>
              <a:srgbClr val="008774"/>
            </a:solidFill>
            <a:prstDash val="solid"/>
          </a:ln>
        </p:spPr>
      </p:sp>
      <p:sp>
        <p:nvSpPr>
          <p:cNvPr id="15" name="Shape 10"/>
          <p:cNvSpPr/>
          <p:nvPr/>
        </p:nvSpPr>
        <p:spPr>
          <a:xfrm>
            <a:off x="1617848" y="3797878"/>
            <a:ext cx="329184" cy="329184"/>
          </a:xfrm>
          <a:prstGeom prst="ellipse">
            <a:avLst/>
          </a:prstGeom>
          <a:solidFill>
            <a:srgbClr val="008774"/>
          </a:solidFill>
          <a:ln w="25400">
            <a:solidFill>
              <a:srgbClr val="FFFFFF"/>
            </a:solidFill>
            <a:prstDash val="solid"/>
          </a:ln>
        </p:spPr>
      </p:sp>
      <p:sp>
        <p:nvSpPr>
          <p:cNvPr id="16" name="Text 11"/>
          <p:cNvSpPr/>
          <p:nvPr/>
        </p:nvSpPr>
        <p:spPr>
          <a:xfrm>
            <a:off x="1617848" y="3807022"/>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968715" y="6171439"/>
            <a:ext cx="4001414" cy="2344954"/>
          </a:xfrm>
          <a:prstGeom prst="roundRect">
            <a:avLst>
              <a:gd name="adj" fmla="val 1950"/>
            </a:avLst>
          </a:prstGeom>
          <a:ln w="22225">
            <a:solidFill>
              <a:srgbClr val="BF5B25"/>
            </a:solidFill>
            <a:prstDash val="solid"/>
          </a:ln>
        </p:spPr>
      </p:sp>
      <p:sp>
        <p:nvSpPr>
          <p:cNvPr id="18" name="Shape 13"/>
          <p:cNvSpPr/>
          <p:nvPr/>
        </p:nvSpPr>
        <p:spPr>
          <a:xfrm>
            <a:off x="767547" y="5988559"/>
            <a:ext cx="329184" cy="329184"/>
          </a:xfrm>
          <a:prstGeom prst="ellipse">
            <a:avLst/>
          </a:prstGeom>
          <a:solidFill>
            <a:srgbClr val="BF5B25"/>
          </a:solidFill>
          <a:ln w="25400">
            <a:solidFill>
              <a:srgbClr val="FFFFFF"/>
            </a:solidFill>
            <a:prstDash val="solid"/>
          </a:ln>
        </p:spPr>
      </p:sp>
      <p:sp>
        <p:nvSpPr>
          <p:cNvPr id="19" name="Text 14"/>
          <p:cNvSpPr/>
          <p:nvPr/>
        </p:nvSpPr>
        <p:spPr>
          <a:xfrm>
            <a:off x="767547" y="5997703"/>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5070165" y="6171439"/>
            <a:ext cx="4051432" cy="2344954"/>
          </a:xfrm>
          <a:prstGeom prst="roundRect">
            <a:avLst>
              <a:gd name="adj" fmla="val 1950"/>
            </a:avLst>
          </a:prstGeom>
          <a:ln w="22225">
            <a:solidFill>
              <a:srgbClr val="4268B2"/>
            </a:solidFill>
            <a:prstDash val="solid"/>
          </a:ln>
        </p:spPr>
      </p:sp>
      <p:sp>
        <p:nvSpPr>
          <p:cNvPr id="21" name="Shape 16"/>
          <p:cNvSpPr/>
          <p:nvPr/>
        </p:nvSpPr>
        <p:spPr>
          <a:xfrm>
            <a:off x="4868997" y="5988559"/>
            <a:ext cx="329184" cy="329184"/>
          </a:xfrm>
          <a:prstGeom prst="ellipse">
            <a:avLst/>
          </a:prstGeom>
          <a:solidFill>
            <a:srgbClr val="4268B2"/>
          </a:solidFill>
          <a:ln w="25400">
            <a:solidFill>
              <a:srgbClr val="FFFFFF"/>
            </a:solidFill>
            <a:prstDash val="solid"/>
          </a:ln>
        </p:spPr>
      </p:sp>
      <p:sp>
        <p:nvSpPr>
          <p:cNvPr id="22" name="Text 17"/>
          <p:cNvSpPr/>
          <p:nvPr/>
        </p:nvSpPr>
        <p:spPr>
          <a:xfrm>
            <a:off x="4868997" y="5997703"/>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23" name="Shape 18"/>
          <p:cNvSpPr/>
          <p:nvPr/>
        </p:nvSpPr>
        <p:spPr>
          <a:xfrm>
            <a:off x="11384280" y="2212848"/>
            <a:ext cx="6291072" cy="1561338"/>
          </a:xfrm>
          <a:prstGeom prst="roundRect">
            <a:avLst>
              <a:gd name="adj" fmla="val 5857"/>
            </a:avLst>
          </a:prstGeom>
          <a:solidFill>
            <a:srgbClr val="FFFFFF"/>
          </a:solidFill>
          <a:ln w="12700">
            <a:solidFill>
              <a:srgbClr val="E2DDEB"/>
            </a:solidFill>
            <a:prstDash val="solid"/>
          </a:ln>
        </p:spPr>
      </p:sp>
      <p:sp>
        <p:nvSpPr>
          <p:cNvPr id="24" name="Shape 19"/>
          <p:cNvSpPr/>
          <p:nvPr/>
        </p:nvSpPr>
        <p:spPr>
          <a:xfrm>
            <a:off x="11567160" y="2395728"/>
            <a:ext cx="347472" cy="347472"/>
          </a:xfrm>
          <a:prstGeom prst="ellipse">
            <a:avLst/>
          </a:prstGeom>
          <a:solidFill>
            <a:srgbClr val="7953B8"/>
          </a:solidFill>
          <a:ln w="25400">
            <a:solidFill>
              <a:srgbClr val="FFFFFF"/>
            </a:solidFill>
            <a:prstDash val="solid"/>
          </a:ln>
        </p:spPr>
      </p:sp>
      <p:sp>
        <p:nvSpPr>
          <p:cNvPr id="25" name="Text 20"/>
          <p:cNvSpPr/>
          <p:nvPr/>
        </p:nvSpPr>
        <p:spPr>
          <a:xfrm>
            <a:off x="11567160" y="2404872"/>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26" name="Text 21"/>
          <p:cNvSpPr/>
          <p:nvPr/>
        </p:nvSpPr>
        <p:spPr>
          <a:xfrm>
            <a:off x="12042648" y="2395728"/>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Who uses what</a:t>
            </a:r>
            <a:endParaRPr lang="en-US" sz="1900" dirty="0"/>
          </a:p>
        </p:txBody>
      </p:sp>
      <p:sp>
        <p:nvSpPr>
          <p:cNvPr id="27" name="Text 22"/>
          <p:cNvSpPr/>
          <p:nvPr/>
        </p:nvSpPr>
        <p:spPr>
          <a:xfrm>
            <a:off x="11612880" y="2805684"/>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Agent users, chat users, licensed users, and licensed users with no recorded licensed-chat activity.</a:t>
            </a:r>
            <a:endParaRPr lang="en-US" sz="1500" dirty="0"/>
          </a:p>
        </p:txBody>
      </p:sp>
      <p:sp>
        <p:nvSpPr>
          <p:cNvPr id="28" name="Shape 23"/>
          <p:cNvSpPr/>
          <p:nvPr/>
        </p:nvSpPr>
        <p:spPr>
          <a:xfrm>
            <a:off x="11384280" y="3920490"/>
            <a:ext cx="6291072" cy="1561338"/>
          </a:xfrm>
          <a:prstGeom prst="roundRect">
            <a:avLst>
              <a:gd name="adj" fmla="val 5857"/>
            </a:avLst>
          </a:prstGeom>
          <a:solidFill>
            <a:srgbClr val="FFFFFF"/>
          </a:solidFill>
          <a:ln w="12700">
            <a:solidFill>
              <a:srgbClr val="E2DDEB"/>
            </a:solidFill>
            <a:prstDash val="solid"/>
          </a:ln>
        </p:spPr>
      </p:sp>
      <p:sp>
        <p:nvSpPr>
          <p:cNvPr id="29" name="Shape 24"/>
          <p:cNvSpPr/>
          <p:nvPr/>
        </p:nvSpPr>
        <p:spPr>
          <a:xfrm>
            <a:off x="11567160" y="4103370"/>
            <a:ext cx="347472" cy="347472"/>
          </a:xfrm>
          <a:prstGeom prst="ellipse">
            <a:avLst/>
          </a:prstGeom>
          <a:solidFill>
            <a:srgbClr val="008774"/>
          </a:solidFill>
          <a:ln w="25400">
            <a:solidFill>
              <a:srgbClr val="FFFFFF"/>
            </a:solidFill>
            <a:prstDash val="solid"/>
          </a:ln>
        </p:spPr>
      </p:sp>
      <p:sp>
        <p:nvSpPr>
          <p:cNvPr id="30" name="Text 25"/>
          <p:cNvSpPr/>
          <p:nvPr/>
        </p:nvSpPr>
        <p:spPr>
          <a:xfrm>
            <a:off x="11567160" y="4112514"/>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31" name="Text 26"/>
          <p:cNvSpPr/>
          <p:nvPr/>
        </p:nvSpPr>
        <p:spPr>
          <a:xfrm>
            <a:off x="12042648" y="4103370"/>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Sessions per user over time</a:t>
            </a:r>
            <a:endParaRPr lang="en-US" sz="1900" dirty="0"/>
          </a:p>
        </p:txBody>
      </p:sp>
      <p:sp>
        <p:nvSpPr>
          <p:cNvPr id="32" name="Text 27"/>
          <p:cNvSpPr/>
          <p:nvPr/>
        </p:nvSpPr>
        <p:spPr>
          <a:xfrm>
            <a:off x="11612880" y="4513326"/>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One line each for agents, unlicensed Copilot Chat and M365 Copilot.</a:t>
            </a:r>
            <a:endParaRPr lang="en-US" sz="1500" dirty="0"/>
          </a:p>
        </p:txBody>
      </p:sp>
      <p:sp>
        <p:nvSpPr>
          <p:cNvPr id="33" name="Shape 28"/>
          <p:cNvSpPr/>
          <p:nvPr/>
        </p:nvSpPr>
        <p:spPr>
          <a:xfrm>
            <a:off x="11384280" y="5628132"/>
            <a:ext cx="6291072" cy="1561338"/>
          </a:xfrm>
          <a:prstGeom prst="roundRect">
            <a:avLst>
              <a:gd name="adj" fmla="val 5857"/>
            </a:avLst>
          </a:prstGeom>
          <a:solidFill>
            <a:srgbClr val="FFFFFF"/>
          </a:solidFill>
          <a:ln w="12700">
            <a:solidFill>
              <a:srgbClr val="E2DDEB"/>
            </a:solidFill>
            <a:prstDash val="solid"/>
          </a:ln>
        </p:spPr>
      </p:sp>
      <p:sp>
        <p:nvSpPr>
          <p:cNvPr id="34" name="Shape 29"/>
          <p:cNvSpPr/>
          <p:nvPr/>
        </p:nvSpPr>
        <p:spPr>
          <a:xfrm>
            <a:off x="11567160" y="5811012"/>
            <a:ext cx="347472" cy="347472"/>
          </a:xfrm>
          <a:prstGeom prst="ellipse">
            <a:avLst/>
          </a:prstGeom>
          <a:solidFill>
            <a:srgbClr val="BF5B25"/>
          </a:solidFill>
          <a:ln w="25400">
            <a:solidFill>
              <a:srgbClr val="FFFFFF"/>
            </a:solidFill>
            <a:prstDash val="solid"/>
          </a:ln>
        </p:spPr>
      </p:sp>
      <p:sp>
        <p:nvSpPr>
          <p:cNvPr id="35" name="Text 30"/>
          <p:cNvSpPr/>
          <p:nvPr/>
        </p:nvSpPr>
        <p:spPr>
          <a:xfrm>
            <a:off x="11567160" y="5820156"/>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36" name="Text 31"/>
          <p:cNvSpPr/>
          <p:nvPr/>
        </p:nvSpPr>
        <p:spPr>
          <a:xfrm>
            <a:off x="12042648" y="5811012"/>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Departments, not totals</a:t>
            </a:r>
            <a:endParaRPr lang="en-US" sz="1900" dirty="0"/>
          </a:p>
        </p:txBody>
      </p:sp>
      <p:sp>
        <p:nvSpPr>
          <p:cNvPr id="37" name="Text 32"/>
          <p:cNvSpPr/>
          <p:nvPr/>
        </p:nvSpPr>
        <p:spPr>
          <a:xfrm>
            <a:off x="11612880" y="6220968"/>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Separate bars for each experience. They overlap, so read them side by side.</a:t>
            </a:r>
            <a:endParaRPr lang="en-US" sz="1500" dirty="0"/>
          </a:p>
        </p:txBody>
      </p:sp>
      <p:sp>
        <p:nvSpPr>
          <p:cNvPr id="38" name="Shape 33"/>
          <p:cNvSpPr/>
          <p:nvPr/>
        </p:nvSpPr>
        <p:spPr>
          <a:xfrm>
            <a:off x="11384280" y="7335774"/>
            <a:ext cx="6291072" cy="1561338"/>
          </a:xfrm>
          <a:prstGeom prst="roundRect">
            <a:avLst>
              <a:gd name="adj" fmla="val 5857"/>
            </a:avLst>
          </a:prstGeom>
          <a:solidFill>
            <a:srgbClr val="FFFFFF"/>
          </a:solidFill>
          <a:ln w="12700">
            <a:solidFill>
              <a:srgbClr val="E2DDEB"/>
            </a:solidFill>
            <a:prstDash val="solid"/>
          </a:ln>
        </p:spPr>
      </p:sp>
      <p:sp>
        <p:nvSpPr>
          <p:cNvPr id="39" name="Shape 34"/>
          <p:cNvSpPr/>
          <p:nvPr/>
        </p:nvSpPr>
        <p:spPr>
          <a:xfrm>
            <a:off x="11567160" y="7518654"/>
            <a:ext cx="347472" cy="347472"/>
          </a:xfrm>
          <a:prstGeom prst="ellipse">
            <a:avLst/>
          </a:prstGeom>
          <a:solidFill>
            <a:srgbClr val="4268B2"/>
          </a:solidFill>
          <a:ln w="25400">
            <a:solidFill>
              <a:srgbClr val="FFFFFF"/>
            </a:solidFill>
            <a:prstDash val="solid"/>
          </a:ln>
        </p:spPr>
      </p:sp>
      <p:sp>
        <p:nvSpPr>
          <p:cNvPr id="40" name="Text 35"/>
          <p:cNvSpPr/>
          <p:nvPr/>
        </p:nvSpPr>
        <p:spPr>
          <a:xfrm>
            <a:off x="11567160" y="7527798"/>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41" name="Text 36"/>
          <p:cNvSpPr/>
          <p:nvPr/>
        </p:nvSpPr>
        <p:spPr>
          <a:xfrm>
            <a:off x="12042648" y="7518654"/>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How often and how much</a:t>
            </a:r>
            <a:endParaRPr lang="en-US" sz="1900" dirty="0"/>
          </a:p>
        </p:txBody>
      </p:sp>
      <p:sp>
        <p:nvSpPr>
          <p:cNvPr id="42" name="Text 37"/>
          <p:cNvSpPr/>
          <p:nvPr/>
        </p:nvSpPr>
        <p:spPr>
          <a:xfrm>
            <a:off x="11612880" y="7928610"/>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Departments plotted by frequency and intensity. Tabs switch between experiences.</a:t>
            </a:r>
            <a:endParaRPr lang="en-US" sz="1500" dirty="0"/>
          </a:p>
        </p:txBody>
      </p:sp>
      <p:sp>
        <p:nvSpPr>
          <p:cNvPr id="43" name="Shape 38"/>
          <p:cNvSpPr/>
          <p:nvPr/>
        </p:nvSpPr>
        <p:spPr>
          <a:xfrm>
            <a:off x="612648" y="9144000"/>
            <a:ext cx="17062704" cy="566928"/>
          </a:xfrm>
          <a:prstGeom prst="roundRect">
            <a:avLst>
              <a:gd name="adj" fmla="val 12903"/>
            </a:avLst>
          </a:prstGeom>
          <a:solidFill>
            <a:srgbClr val="251833"/>
          </a:solidFill>
          <a:ln/>
        </p:spPr>
      </p:sp>
      <p:sp>
        <p:nvSpPr>
          <p:cNvPr id="44" name="Text 39"/>
          <p:cNvSpPr/>
          <p:nvPr/>
        </p:nvSpPr>
        <p:spPr>
          <a:xfrm>
            <a:off x="841248" y="9144000"/>
            <a:ext cx="1463040" cy="566928"/>
          </a:xfrm>
          <a:prstGeom prst="rect">
            <a:avLst/>
          </a:prstGeom>
          <a:noFill/>
          <a:ln/>
        </p:spPr>
        <p:txBody>
          <a:bodyPr wrap="square" lIns="0" tIns="0" rIns="0" bIns="0" rtlCol="0" anchor="ctr"/>
          <a:lstStyle/>
          <a:p>
            <a:pPr indent="0" marL="0">
              <a:buNone/>
            </a:pPr>
            <a:r>
              <a:rPr lang="en-US" sz="1300" spc="100" kern="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5" name="Text 40"/>
          <p:cNvSpPr/>
          <p:nvPr/>
        </p:nvSpPr>
        <p:spPr>
          <a:xfrm>
            <a:off x="2304288" y="9144000"/>
            <a:ext cx="15142464" cy="56692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These experiences meet different needs, and many people use more than one of them.</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F8"/>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637087"/>
                </a:solidFill>
                <a:latin typeface="Segoe UI" pitchFamily="34" charset="0"/>
                <a:ea typeface="Segoe UI" pitchFamily="34" charset="-122"/>
                <a:cs typeface="Segoe UI" pitchFamily="34" charset="-120"/>
              </a:rPr>
              <a:t>06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indent="0" marL="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ACT 1 · WHO IS USING COPILOT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251833"/>
                </a:solidFill>
                <a:latin typeface="Segoe UI Semibold" pitchFamily="34" charset="0"/>
                <a:ea typeface="Segoe UI Semibold" pitchFamily="34" charset="-122"/>
                <a:cs typeface="Segoe UI Semibold" pitchFamily="34" charset="-120"/>
              </a:rPr>
              <a:t>See which departments lead</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indent="0" marL="0">
              <a:buNone/>
            </a:pPr>
            <a:r>
              <a:rPr lang="en-US" sz="2000" dirty="0">
                <a:solidFill>
                  <a:srgbClr val="637087"/>
                </a:solidFill>
                <a:latin typeface="Segoe UI" pitchFamily="34" charset="0"/>
                <a:ea typeface="Segoe UI" pitchFamily="34" charset="-122"/>
                <a:cs typeface="Segoe UI" pitchFamily="34" charset="-120"/>
              </a:rPr>
              <a:t>Combined Leaderboard compares licensed and unlicensed use by department.</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sp>
      <p:pic>
        <p:nvPicPr>
          <p:cNvPr id="10" name="Image 2" descr="Copilot Overall: Combined Leaderboard page">    </p:cNvPr>
          <p:cNvPicPr>
            <a:picLocks noChangeAspect="1"/>
          </p:cNvPicPr>
          <p:nvPr/>
        </p:nvPicPr>
        <p:blipFill>
          <a:blip r:embed="rId3"/>
          <a:stretch>
            <a:fillRect/>
          </a:stretch>
        </p:blipFill>
        <p:spPr>
          <a:xfrm>
            <a:off x="868680" y="2468880"/>
            <a:ext cx="10003536" cy="6170931"/>
          </a:xfrm>
          <a:prstGeom prst="rect">
            <a:avLst/>
          </a:prstGeom>
        </p:spPr>
      </p:pic>
      <p:sp>
        <p:nvSpPr>
          <p:cNvPr id="11" name="Shape 6"/>
          <p:cNvSpPr/>
          <p:nvPr/>
        </p:nvSpPr>
        <p:spPr>
          <a:xfrm>
            <a:off x="968715" y="4011613"/>
            <a:ext cx="8803112" cy="524529"/>
          </a:xfrm>
          <a:prstGeom prst="roundRect">
            <a:avLst>
              <a:gd name="adj" fmla="val 8716"/>
            </a:avLst>
          </a:prstGeom>
          <a:ln w="22225">
            <a:solidFill>
              <a:srgbClr val="7953B8"/>
            </a:solidFill>
            <a:prstDash val="solid"/>
          </a:ln>
        </p:spPr>
      </p:sp>
      <p:sp>
        <p:nvSpPr>
          <p:cNvPr id="12" name="Shape 7"/>
          <p:cNvSpPr/>
          <p:nvPr/>
        </p:nvSpPr>
        <p:spPr>
          <a:xfrm>
            <a:off x="767547" y="3828733"/>
            <a:ext cx="329184" cy="329184"/>
          </a:xfrm>
          <a:prstGeom prst="ellipse">
            <a:avLst/>
          </a:prstGeom>
          <a:solidFill>
            <a:srgbClr val="7953B8"/>
          </a:solidFill>
          <a:ln w="25400">
            <a:solidFill>
              <a:srgbClr val="FFFFFF"/>
            </a:solidFill>
            <a:prstDash val="solid"/>
          </a:ln>
        </p:spPr>
      </p:sp>
      <p:sp>
        <p:nvSpPr>
          <p:cNvPr id="13" name="Text 8"/>
          <p:cNvSpPr/>
          <p:nvPr/>
        </p:nvSpPr>
        <p:spPr>
          <a:xfrm>
            <a:off x="767547" y="3837877"/>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968715" y="4659561"/>
            <a:ext cx="4001414" cy="2560936"/>
          </a:xfrm>
          <a:prstGeom prst="roundRect">
            <a:avLst>
              <a:gd name="adj" fmla="val 1785"/>
            </a:avLst>
          </a:prstGeom>
          <a:ln w="22225">
            <a:solidFill>
              <a:srgbClr val="008774"/>
            </a:solidFill>
            <a:prstDash val="solid"/>
          </a:ln>
        </p:spPr>
      </p:sp>
      <p:sp>
        <p:nvSpPr>
          <p:cNvPr id="15" name="Shape 10"/>
          <p:cNvSpPr/>
          <p:nvPr/>
        </p:nvSpPr>
        <p:spPr>
          <a:xfrm>
            <a:off x="767547" y="4476681"/>
            <a:ext cx="329184" cy="329184"/>
          </a:xfrm>
          <a:prstGeom prst="ellipse">
            <a:avLst/>
          </a:prstGeom>
          <a:solidFill>
            <a:srgbClr val="008774"/>
          </a:solidFill>
          <a:ln w="25400">
            <a:solidFill>
              <a:srgbClr val="FFFFFF"/>
            </a:solidFill>
            <a:prstDash val="solid"/>
          </a:ln>
        </p:spPr>
      </p:sp>
      <p:sp>
        <p:nvSpPr>
          <p:cNvPr id="16" name="Text 11"/>
          <p:cNvSpPr/>
          <p:nvPr/>
        </p:nvSpPr>
        <p:spPr>
          <a:xfrm>
            <a:off x="767547" y="4485825"/>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5070165" y="4659561"/>
            <a:ext cx="4001414" cy="2560936"/>
          </a:xfrm>
          <a:prstGeom prst="roundRect">
            <a:avLst>
              <a:gd name="adj" fmla="val 1785"/>
            </a:avLst>
          </a:prstGeom>
          <a:ln w="22225">
            <a:solidFill>
              <a:srgbClr val="BF5B25"/>
            </a:solidFill>
            <a:prstDash val="solid"/>
          </a:ln>
        </p:spPr>
      </p:sp>
      <p:sp>
        <p:nvSpPr>
          <p:cNvPr id="18" name="Shape 13"/>
          <p:cNvSpPr/>
          <p:nvPr/>
        </p:nvSpPr>
        <p:spPr>
          <a:xfrm>
            <a:off x="4868997" y="4476681"/>
            <a:ext cx="329184" cy="329184"/>
          </a:xfrm>
          <a:prstGeom prst="ellipse">
            <a:avLst/>
          </a:prstGeom>
          <a:solidFill>
            <a:srgbClr val="BF5B25"/>
          </a:solidFill>
          <a:ln w="25400">
            <a:solidFill>
              <a:srgbClr val="FFFFFF"/>
            </a:solidFill>
            <a:prstDash val="solid"/>
          </a:ln>
        </p:spPr>
      </p:sp>
      <p:sp>
        <p:nvSpPr>
          <p:cNvPr id="19" name="Text 14"/>
          <p:cNvSpPr/>
          <p:nvPr/>
        </p:nvSpPr>
        <p:spPr>
          <a:xfrm>
            <a:off x="4868997" y="4485825"/>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11384280" y="2212848"/>
            <a:ext cx="6291072" cy="1561338"/>
          </a:xfrm>
          <a:prstGeom prst="roundRect">
            <a:avLst>
              <a:gd name="adj" fmla="val 5857"/>
            </a:avLst>
          </a:prstGeom>
          <a:solidFill>
            <a:srgbClr val="FFFFFF"/>
          </a:solidFill>
          <a:ln w="12700">
            <a:solidFill>
              <a:srgbClr val="E2DDEB"/>
            </a:solidFill>
            <a:prstDash val="solid"/>
          </a:ln>
        </p:spPr>
      </p:sp>
      <p:sp>
        <p:nvSpPr>
          <p:cNvPr id="21" name="Shape 16"/>
          <p:cNvSpPr/>
          <p:nvPr/>
        </p:nvSpPr>
        <p:spPr>
          <a:xfrm>
            <a:off x="11567160" y="2395728"/>
            <a:ext cx="347472" cy="347472"/>
          </a:xfrm>
          <a:prstGeom prst="ellipse">
            <a:avLst/>
          </a:prstGeom>
          <a:solidFill>
            <a:srgbClr val="7953B8"/>
          </a:solidFill>
          <a:ln w="25400">
            <a:solidFill>
              <a:srgbClr val="FFFFFF"/>
            </a:solidFill>
            <a:prstDash val="solid"/>
          </a:ln>
        </p:spPr>
      </p:sp>
      <p:sp>
        <p:nvSpPr>
          <p:cNvPr id="22" name="Text 17"/>
          <p:cNvSpPr/>
          <p:nvPr/>
        </p:nvSpPr>
        <p:spPr>
          <a:xfrm>
            <a:off x="11567160" y="2404872"/>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23" name="Text 18"/>
          <p:cNvSpPr/>
          <p:nvPr/>
        </p:nvSpPr>
        <p:spPr>
          <a:xfrm>
            <a:off x="12042648" y="2395728"/>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The headline comparison</a:t>
            </a:r>
            <a:endParaRPr lang="en-US" sz="1900" dirty="0"/>
          </a:p>
        </p:txBody>
      </p:sp>
      <p:sp>
        <p:nvSpPr>
          <p:cNvPr id="24" name="Text 19"/>
          <p:cNvSpPr/>
          <p:nvPr/>
        </p:nvSpPr>
        <p:spPr>
          <a:xfrm>
            <a:off x="11612880" y="2805684"/>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Users and weekly sessions per user for agents, Copilot Chat and licensed Copilot.</a:t>
            </a:r>
            <a:endParaRPr lang="en-US" sz="1500" dirty="0"/>
          </a:p>
        </p:txBody>
      </p:sp>
      <p:sp>
        <p:nvSpPr>
          <p:cNvPr id="25" name="Shape 20"/>
          <p:cNvSpPr/>
          <p:nvPr/>
        </p:nvSpPr>
        <p:spPr>
          <a:xfrm>
            <a:off x="11384280" y="3920490"/>
            <a:ext cx="6291072" cy="1561338"/>
          </a:xfrm>
          <a:prstGeom prst="roundRect">
            <a:avLst>
              <a:gd name="adj" fmla="val 5857"/>
            </a:avLst>
          </a:prstGeom>
          <a:solidFill>
            <a:srgbClr val="FFFFFF"/>
          </a:solidFill>
          <a:ln w="12700">
            <a:solidFill>
              <a:srgbClr val="E2DDEB"/>
            </a:solidFill>
            <a:prstDash val="solid"/>
          </a:ln>
        </p:spPr>
      </p:sp>
      <p:sp>
        <p:nvSpPr>
          <p:cNvPr id="26" name="Shape 21"/>
          <p:cNvSpPr/>
          <p:nvPr/>
        </p:nvSpPr>
        <p:spPr>
          <a:xfrm>
            <a:off x="11567160" y="4103370"/>
            <a:ext cx="347472" cy="347472"/>
          </a:xfrm>
          <a:prstGeom prst="ellipse">
            <a:avLst/>
          </a:prstGeom>
          <a:solidFill>
            <a:srgbClr val="008774"/>
          </a:solidFill>
          <a:ln w="25400">
            <a:solidFill>
              <a:srgbClr val="FFFFFF"/>
            </a:solidFill>
            <a:prstDash val="solid"/>
          </a:ln>
        </p:spPr>
      </p:sp>
      <p:sp>
        <p:nvSpPr>
          <p:cNvPr id="27" name="Text 22"/>
          <p:cNvSpPr/>
          <p:nvPr/>
        </p:nvSpPr>
        <p:spPr>
          <a:xfrm>
            <a:off x="11567160" y="4112514"/>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28" name="Text 23"/>
          <p:cNvSpPr/>
          <p:nvPr/>
        </p:nvSpPr>
        <p:spPr>
          <a:xfrm>
            <a:off x="12042648" y="4103370"/>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Licensed usage</a:t>
            </a:r>
            <a:endParaRPr lang="en-US" sz="1900" dirty="0"/>
          </a:p>
        </p:txBody>
      </p:sp>
      <p:sp>
        <p:nvSpPr>
          <p:cNvPr id="29" name="Text 24"/>
          <p:cNvSpPr/>
          <p:nvPr/>
        </p:nvSpPr>
        <p:spPr>
          <a:xfrm>
            <a:off x="11612880" y="4513326"/>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Users, Copilot sessions per user, the share who also used agents and agent sessions per user.</a:t>
            </a:r>
            <a:endParaRPr lang="en-US" sz="1500" dirty="0"/>
          </a:p>
        </p:txBody>
      </p:sp>
      <p:sp>
        <p:nvSpPr>
          <p:cNvPr id="30" name="Shape 25"/>
          <p:cNvSpPr/>
          <p:nvPr/>
        </p:nvSpPr>
        <p:spPr>
          <a:xfrm>
            <a:off x="11384280" y="5628132"/>
            <a:ext cx="6291072" cy="1561338"/>
          </a:xfrm>
          <a:prstGeom prst="roundRect">
            <a:avLst>
              <a:gd name="adj" fmla="val 5857"/>
            </a:avLst>
          </a:prstGeom>
          <a:solidFill>
            <a:srgbClr val="FFFFFF"/>
          </a:solidFill>
          <a:ln w="12700">
            <a:solidFill>
              <a:srgbClr val="E2DDEB"/>
            </a:solidFill>
            <a:prstDash val="solid"/>
          </a:ln>
        </p:spPr>
      </p:sp>
      <p:sp>
        <p:nvSpPr>
          <p:cNvPr id="31" name="Shape 26"/>
          <p:cNvSpPr/>
          <p:nvPr/>
        </p:nvSpPr>
        <p:spPr>
          <a:xfrm>
            <a:off x="11567160" y="5811012"/>
            <a:ext cx="347472" cy="347472"/>
          </a:xfrm>
          <a:prstGeom prst="ellipse">
            <a:avLst/>
          </a:prstGeom>
          <a:solidFill>
            <a:srgbClr val="BF5B25"/>
          </a:solidFill>
          <a:ln w="25400">
            <a:solidFill>
              <a:srgbClr val="FFFFFF"/>
            </a:solidFill>
            <a:prstDash val="solid"/>
          </a:ln>
        </p:spPr>
      </p:sp>
      <p:sp>
        <p:nvSpPr>
          <p:cNvPr id="32" name="Text 27"/>
          <p:cNvSpPr/>
          <p:nvPr/>
        </p:nvSpPr>
        <p:spPr>
          <a:xfrm>
            <a:off x="11567160" y="5820156"/>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33" name="Text 28"/>
          <p:cNvSpPr/>
          <p:nvPr/>
        </p:nvSpPr>
        <p:spPr>
          <a:xfrm>
            <a:off x="12042648" y="5811012"/>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Unlicensed usage</a:t>
            </a:r>
            <a:endParaRPr lang="en-US" sz="1900" dirty="0"/>
          </a:p>
        </p:txBody>
      </p:sp>
      <p:sp>
        <p:nvSpPr>
          <p:cNvPr id="34" name="Text 29"/>
          <p:cNvSpPr/>
          <p:nvPr/>
        </p:nvSpPr>
        <p:spPr>
          <a:xfrm>
            <a:off x="11612880" y="6220968"/>
            <a:ext cx="5833872" cy="30632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Chat users, sessions per user and the share who also used agents.</a:t>
            </a:r>
            <a:endParaRPr lang="en-US" sz="1500" dirty="0"/>
          </a:p>
        </p:txBody>
      </p:sp>
      <p:sp>
        <p:nvSpPr>
          <p:cNvPr id="35" name="Shape 30"/>
          <p:cNvSpPr/>
          <p:nvPr/>
        </p:nvSpPr>
        <p:spPr>
          <a:xfrm>
            <a:off x="11384280" y="7335774"/>
            <a:ext cx="6291072" cy="1561338"/>
          </a:xfrm>
          <a:prstGeom prst="roundRect">
            <a:avLst>
              <a:gd name="adj" fmla="val 5857"/>
            </a:avLst>
          </a:prstGeom>
          <a:solidFill>
            <a:srgbClr val="FFFFFF"/>
          </a:solidFill>
          <a:ln w="12700">
            <a:solidFill>
              <a:srgbClr val="E2DDEB"/>
            </a:solidFill>
            <a:prstDash val="solid"/>
          </a:ln>
        </p:spPr>
      </p:sp>
      <p:sp>
        <p:nvSpPr>
          <p:cNvPr id="36" name="Shape 31"/>
          <p:cNvSpPr/>
          <p:nvPr/>
        </p:nvSpPr>
        <p:spPr>
          <a:xfrm>
            <a:off x="11567160" y="7518654"/>
            <a:ext cx="347472" cy="347472"/>
          </a:xfrm>
          <a:prstGeom prst="ellipse">
            <a:avLst/>
          </a:prstGeom>
          <a:solidFill>
            <a:srgbClr val="3B2750"/>
          </a:solidFill>
          <a:ln w="25400">
            <a:solidFill>
              <a:srgbClr val="FFFFFF"/>
            </a:solidFill>
            <a:prstDash val="solid"/>
          </a:ln>
        </p:spPr>
      </p:sp>
      <p:sp>
        <p:nvSpPr>
          <p:cNvPr id="37" name="Text 32"/>
          <p:cNvSpPr/>
          <p:nvPr/>
        </p:nvSpPr>
        <p:spPr>
          <a:xfrm>
            <a:off x="11567160" y="7527798"/>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i</a:t>
            </a:r>
            <a:endParaRPr lang="en-US" sz="1500" dirty="0"/>
          </a:p>
        </p:txBody>
      </p:sp>
      <p:sp>
        <p:nvSpPr>
          <p:cNvPr id="38" name="Text 33"/>
          <p:cNvSpPr/>
          <p:nvPr/>
        </p:nvSpPr>
        <p:spPr>
          <a:xfrm>
            <a:off x="12042648" y="7518654"/>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Read each percentage on its own</a:t>
            </a:r>
            <a:endParaRPr lang="en-US" sz="1900" dirty="0"/>
          </a:p>
        </p:txBody>
      </p:sp>
      <p:sp>
        <p:nvSpPr>
          <p:cNvPr id="39" name="Text 34"/>
          <p:cNvSpPr/>
          <p:nvPr/>
        </p:nvSpPr>
        <p:spPr>
          <a:xfrm>
            <a:off x="11612880" y="7928610"/>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Of this table's chat users, how many also used agents? People with unknown license status are not counted as unlicensed.</a:t>
            </a:r>
            <a:endParaRPr lang="en-US" sz="1500" dirty="0"/>
          </a:p>
        </p:txBody>
      </p:sp>
      <p:sp>
        <p:nvSpPr>
          <p:cNvPr id="40" name="Shape 35"/>
          <p:cNvSpPr/>
          <p:nvPr/>
        </p:nvSpPr>
        <p:spPr>
          <a:xfrm>
            <a:off x="612648" y="9144000"/>
            <a:ext cx="17062704" cy="566928"/>
          </a:xfrm>
          <a:prstGeom prst="roundRect">
            <a:avLst>
              <a:gd name="adj" fmla="val 12903"/>
            </a:avLst>
          </a:prstGeom>
          <a:solidFill>
            <a:srgbClr val="251833"/>
          </a:solidFill>
          <a:ln/>
        </p:spPr>
      </p:sp>
      <p:sp>
        <p:nvSpPr>
          <p:cNvPr id="41" name="Text 36"/>
          <p:cNvSpPr/>
          <p:nvPr/>
        </p:nvSpPr>
        <p:spPr>
          <a:xfrm>
            <a:off x="841248" y="9144000"/>
            <a:ext cx="1463040" cy="566928"/>
          </a:xfrm>
          <a:prstGeom prst="rect">
            <a:avLst/>
          </a:prstGeom>
          <a:noFill/>
          <a:ln/>
        </p:spPr>
        <p:txBody>
          <a:bodyPr wrap="square" lIns="0" tIns="0" rIns="0" bIns="0" rtlCol="0" anchor="ctr"/>
          <a:lstStyle/>
          <a:p>
            <a:pPr indent="0" marL="0">
              <a:buNone/>
            </a:pPr>
            <a:r>
              <a:rPr lang="en-US" sz="1300" spc="100" kern="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2" name="Text 37"/>
          <p:cNvSpPr/>
          <p:nvPr/>
        </p:nvSpPr>
        <p:spPr>
          <a:xfrm>
            <a:off x="2304288" y="9144000"/>
            <a:ext cx="15142464" cy="56692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Here's where each experience is strongest, and how many chat users have also found agents.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F8"/>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637087"/>
                </a:solidFill>
                <a:latin typeface="Segoe UI" pitchFamily="34" charset="0"/>
                <a:ea typeface="Segoe UI" pitchFamily="34" charset="-122"/>
                <a:cs typeface="Segoe UI" pitchFamily="34" charset="-120"/>
              </a:rPr>
              <a:t>07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indent="0" marL="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ACT 2 · IS IT BECOMING A HABIT?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251833"/>
                </a:solidFill>
                <a:latin typeface="Segoe UI Semibold" pitchFamily="34" charset="0"/>
                <a:ea typeface="Segoe UI Semibold" pitchFamily="34" charset="-122"/>
                <a:cs typeface="Segoe UI Semibold" pitchFamily="34" charset="-120"/>
              </a:rPr>
              <a:t>Read habits one month at a time</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indent="0" marL="0">
              <a:buNone/>
            </a:pPr>
            <a:r>
              <a:rPr lang="en-US" sz="2000" dirty="0">
                <a:solidFill>
                  <a:srgbClr val="637087"/>
                </a:solidFill>
                <a:latin typeface="Segoe UI" pitchFamily="34" charset="0"/>
                <a:ea typeface="Segoe UI" pitchFamily="34" charset="-122"/>
                <a:cs typeface="Segoe UI" pitchFamily="34" charset="-120"/>
              </a:rPr>
              <a:t>Every habit page uses the same four groups and names the month at the top.</a:t>
            </a:r>
            <a:endParaRPr lang="en-US" sz="2000" dirty="0"/>
          </a:p>
        </p:txBody>
      </p:sp>
      <p:sp>
        <p:nvSpPr>
          <p:cNvPr id="9" name="Shape 5"/>
          <p:cNvSpPr/>
          <p:nvPr/>
        </p:nvSpPr>
        <p:spPr>
          <a:xfrm>
            <a:off x="612648" y="2286000"/>
            <a:ext cx="4059936" cy="2240280"/>
          </a:xfrm>
          <a:prstGeom prst="roundRect">
            <a:avLst>
              <a:gd name="adj" fmla="val 4082"/>
            </a:avLst>
          </a:prstGeom>
          <a:solidFill>
            <a:srgbClr val="FFFFFF"/>
          </a:solidFill>
          <a:ln w="12700">
            <a:solidFill>
              <a:srgbClr val="E2DDEB"/>
            </a:solidFill>
            <a:prstDash val="solid"/>
          </a:ln>
        </p:spPr>
      </p:sp>
      <p:sp>
        <p:nvSpPr>
          <p:cNvPr id="10" name="Shape 6"/>
          <p:cNvSpPr/>
          <p:nvPr/>
        </p:nvSpPr>
        <p:spPr>
          <a:xfrm>
            <a:off x="886968" y="2542032"/>
            <a:ext cx="91440" cy="1737360"/>
          </a:xfrm>
          <a:prstGeom prst="rect">
            <a:avLst/>
          </a:prstGeom>
          <a:solidFill>
            <a:srgbClr val="7953B8"/>
          </a:solidFill>
          <a:ln/>
        </p:spPr>
      </p:sp>
      <p:sp>
        <p:nvSpPr>
          <p:cNvPr id="11" name="Text 7"/>
          <p:cNvSpPr/>
          <p:nvPr/>
        </p:nvSpPr>
        <p:spPr>
          <a:xfrm>
            <a:off x="1161288" y="2514600"/>
            <a:ext cx="3236976" cy="457200"/>
          </a:xfrm>
          <a:prstGeom prst="rect">
            <a:avLst/>
          </a:prstGeom>
          <a:noFill/>
          <a:ln/>
        </p:spPr>
        <p:txBody>
          <a:bodyPr wrap="square" lIns="0" tIns="0" rIns="0" bIns="0" rtlCol="0" anchor="ctr"/>
          <a:lstStyle/>
          <a:p>
            <a:pPr indent="0" marL="0">
              <a:buNone/>
            </a:pPr>
            <a:r>
              <a:rPr lang="en-US" sz="2200" dirty="0">
                <a:solidFill>
                  <a:srgbClr val="251833"/>
                </a:solidFill>
                <a:latin typeface="Segoe UI Semibold" pitchFamily="34" charset="0"/>
                <a:ea typeface="Segoe UI Semibold" pitchFamily="34" charset="-122"/>
                <a:cs typeface="Segoe UI Semibold" pitchFamily="34" charset="-120"/>
              </a:rPr>
              <a:t>Light</a:t>
            </a:r>
            <a:endParaRPr lang="en-US" sz="2200" dirty="0"/>
          </a:p>
        </p:txBody>
      </p:sp>
      <p:sp>
        <p:nvSpPr>
          <p:cNvPr id="12" name="Text 8"/>
          <p:cNvSpPr/>
          <p:nvPr/>
        </p:nvSpPr>
        <p:spPr>
          <a:xfrm>
            <a:off x="1161288" y="3017520"/>
            <a:ext cx="3236976" cy="822960"/>
          </a:xfrm>
          <a:prstGeom prst="rect">
            <a:avLst/>
          </a:prstGeom>
          <a:noFill/>
          <a:ln/>
        </p:spPr>
        <p:txBody>
          <a:bodyPr wrap="square" lIns="0" tIns="0" rIns="0" bIns="0" rtlCol="0" anchor="ctr"/>
          <a:lstStyle/>
          <a:p>
            <a:pPr indent="0" marL="0">
              <a:buNone/>
            </a:pPr>
            <a:r>
              <a:rPr lang="en-US" sz="4400" dirty="0">
                <a:solidFill>
                  <a:srgbClr val="7953B8"/>
                </a:solidFill>
                <a:latin typeface="Segoe UI Semibold" pitchFamily="34" charset="0"/>
                <a:ea typeface="Segoe UI Semibold" pitchFamily="34" charset="-122"/>
                <a:cs typeface="Segoe UI Semibold" pitchFamily="34" charset="-120"/>
              </a:rPr>
              <a:t>1–5</a:t>
            </a:r>
            <a:endParaRPr lang="en-US" sz="4400" dirty="0"/>
          </a:p>
        </p:txBody>
      </p:sp>
      <p:sp>
        <p:nvSpPr>
          <p:cNvPr id="13" name="Text 9"/>
          <p:cNvSpPr/>
          <p:nvPr/>
        </p:nvSpPr>
        <p:spPr>
          <a:xfrm>
            <a:off x="1161288" y="3840480"/>
            <a:ext cx="3236976" cy="365760"/>
          </a:xfrm>
          <a:prstGeom prst="rect">
            <a:avLst/>
          </a:prstGeom>
          <a:noFill/>
          <a:ln/>
        </p:spPr>
        <p:txBody>
          <a:bodyPr wrap="square" lIns="0" tIns="0" rIns="0" bIns="0" rtlCol="0" anchor="ctr"/>
          <a:lstStyle/>
          <a:p>
            <a:pPr indent="0" marL="0">
              <a:buNone/>
            </a:pPr>
            <a:r>
              <a:rPr lang="en-US" sz="1500" dirty="0">
                <a:solidFill>
                  <a:srgbClr val="637087"/>
                </a:solidFill>
                <a:latin typeface="Segoe UI" pitchFamily="34" charset="0"/>
                <a:ea typeface="Segoe UI" pitchFamily="34" charset="-122"/>
                <a:cs typeface="Segoe UI" pitchFamily="34" charset="-120"/>
              </a:rPr>
              <a:t>active days in the month</a:t>
            </a:r>
            <a:endParaRPr lang="en-US" sz="1500" dirty="0"/>
          </a:p>
        </p:txBody>
      </p:sp>
      <p:sp>
        <p:nvSpPr>
          <p:cNvPr id="14" name="Shape 10"/>
          <p:cNvSpPr/>
          <p:nvPr/>
        </p:nvSpPr>
        <p:spPr>
          <a:xfrm>
            <a:off x="4946904" y="2286000"/>
            <a:ext cx="4059936" cy="2240280"/>
          </a:xfrm>
          <a:prstGeom prst="roundRect">
            <a:avLst>
              <a:gd name="adj" fmla="val 4082"/>
            </a:avLst>
          </a:prstGeom>
          <a:solidFill>
            <a:srgbClr val="FFFFFF"/>
          </a:solidFill>
          <a:ln w="12700">
            <a:solidFill>
              <a:srgbClr val="E2DDEB"/>
            </a:solidFill>
            <a:prstDash val="solid"/>
          </a:ln>
        </p:spPr>
      </p:sp>
      <p:sp>
        <p:nvSpPr>
          <p:cNvPr id="15" name="Shape 11"/>
          <p:cNvSpPr/>
          <p:nvPr/>
        </p:nvSpPr>
        <p:spPr>
          <a:xfrm>
            <a:off x="5221224" y="2542032"/>
            <a:ext cx="91440" cy="1737360"/>
          </a:xfrm>
          <a:prstGeom prst="rect">
            <a:avLst/>
          </a:prstGeom>
          <a:solidFill>
            <a:srgbClr val="008774"/>
          </a:solidFill>
          <a:ln/>
        </p:spPr>
      </p:sp>
      <p:sp>
        <p:nvSpPr>
          <p:cNvPr id="16" name="Text 12"/>
          <p:cNvSpPr/>
          <p:nvPr/>
        </p:nvSpPr>
        <p:spPr>
          <a:xfrm>
            <a:off x="5495544" y="2514600"/>
            <a:ext cx="3236976" cy="457200"/>
          </a:xfrm>
          <a:prstGeom prst="rect">
            <a:avLst/>
          </a:prstGeom>
          <a:noFill/>
          <a:ln/>
        </p:spPr>
        <p:txBody>
          <a:bodyPr wrap="square" lIns="0" tIns="0" rIns="0" bIns="0" rtlCol="0" anchor="ctr"/>
          <a:lstStyle/>
          <a:p>
            <a:pPr indent="0" marL="0">
              <a:buNone/>
            </a:pPr>
            <a:r>
              <a:rPr lang="en-US" sz="2200" dirty="0">
                <a:solidFill>
                  <a:srgbClr val="251833"/>
                </a:solidFill>
                <a:latin typeface="Segoe UI Semibold" pitchFamily="34" charset="0"/>
                <a:ea typeface="Segoe UI Semibold" pitchFamily="34" charset="-122"/>
                <a:cs typeface="Segoe UI Semibold" pitchFamily="34" charset="-120"/>
              </a:rPr>
              <a:t>Moderate</a:t>
            </a:r>
            <a:endParaRPr lang="en-US" sz="2200" dirty="0"/>
          </a:p>
        </p:txBody>
      </p:sp>
      <p:sp>
        <p:nvSpPr>
          <p:cNvPr id="17" name="Text 13"/>
          <p:cNvSpPr/>
          <p:nvPr/>
        </p:nvSpPr>
        <p:spPr>
          <a:xfrm>
            <a:off x="5495544" y="3017520"/>
            <a:ext cx="3236976" cy="822960"/>
          </a:xfrm>
          <a:prstGeom prst="rect">
            <a:avLst/>
          </a:prstGeom>
          <a:noFill/>
          <a:ln/>
        </p:spPr>
        <p:txBody>
          <a:bodyPr wrap="square" lIns="0" tIns="0" rIns="0" bIns="0" rtlCol="0" anchor="ctr"/>
          <a:lstStyle/>
          <a:p>
            <a:pPr indent="0" marL="0">
              <a:buNone/>
            </a:pPr>
            <a:r>
              <a:rPr lang="en-US" sz="4400" dirty="0">
                <a:solidFill>
                  <a:srgbClr val="008774"/>
                </a:solidFill>
                <a:latin typeface="Segoe UI Semibold" pitchFamily="34" charset="0"/>
                <a:ea typeface="Segoe UI Semibold" pitchFamily="34" charset="-122"/>
                <a:cs typeface="Segoe UI Semibold" pitchFamily="34" charset="-120"/>
              </a:rPr>
              <a:t>6–10</a:t>
            </a:r>
            <a:endParaRPr lang="en-US" sz="4400" dirty="0"/>
          </a:p>
        </p:txBody>
      </p:sp>
      <p:sp>
        <p:nvSpPr>
          <p:cNvPr id="18" name="Text 14"/>
          <p:cNvSpPr/>
          <p:nvPr/>
        </p:nvSpPr>
        <p:spPr>
          <a:xfrm>
            <a:off x="5495544" y="3840480"/>
            <a:ext cx="3236976" cy="365760"/>
          </a:xfrm>
          <a:prstGeom prst="rect">
            <a:avLst/>
          </a:prstGeom>
          <a:noFill/>
          <a:ln/>
        </p:spPr>
        <p:txBody>
          <a:bodyPr wrap="square" lIns="0" tIns="0" rIns="0" bIns="0" rtlCol="0" anchor="ctr"/>
          <a:lstStyle/>
          <a:p>
            <a:pPr indent="0" marL="0">
              <a:buNone/>
            </a:pPr>
            <a:r>
              <a:rPr lang="en-US" sz="1500" dirty="0">
                <a:solidFill>
                  <a:srgbClr val="637087"/>
                </a:solidFill>
                <a:latin typeface="Segoe UI" pitchFamily="34" charset="0"/>
                <a:ea typeface="Segoe UI" pitchFamily="34" charset="-122"/>
                <a:cs typeface="Segoe UI" pitchFamily="34" charset="-120"/>
              </a:rPr>
              <a:t>active days in the month</a:t>
            </a:r>
            <a:endParaRPr lang="en-US" sz="1500" dirty="0"/>
          </a:p>
        </p:txBody>
      </p:sp>
      <p:sp>
        <p:nvSpPr>
          <p:cNvPr id="19" name="Shape 15"/>
          <p:cNvSpPr/>
          <p:nvPr/>
        </p:nvSpPr>
        <p:spPr>
          <a:xfrm>
            <a:off x="9281160" y="2286000"/>
            <a:ext cx="4059936" cy="2240280"/>
          </a:xfrm>
          <a:prstGeom prst="roundRect">
            <a:avLst>
              <a:gd name="adj" fmla="val 4082"/>
            </a:avLst>
          </a:prstGeom>
          <a:solidFill>
            <a:srgbClr val="FFFFFF"/>
          </a:solidFill>
          <a:ln w="12700">
            <a:solidFill>
              <a:srgbClr val="E2DDEB"/>
            </a:solidFill>
            <a:prstDash val="solid"/>
          </a:ln>
        </p:spPr>
      </p:sp>
      <p:sp>
        <p:nvSpPr>
          <p:cNvPr id="20" name="Shape 16"/>
          <p:cNvSpPr/>
          <p:nvPr/>
        </p:nvSpPr>
        <p:spPr>
          <a:xfrm>
            <a:off x="9555480" y="2542032"/>
            <a:ext cx="91440" cy="1737360"/>
          </a:xfrm>
          <a:prstGeom prst="rect">
            <a:avLst/>
          </a:prstGeom>
          <a:solidFill>
            <a:srgbClr val="BF5B25"/>
          </a:solidFill>
          <a:ln/>
        </p:spPr>
      </p:sp>
      <p:sp>
        <p:nvSpPr>
          <p:cNvPr id="21" name="Text 17"/>
          <p:cNvSpPr/>
          <p:nvPr/>
        </p:nvSpPr>
        <p:spPr>
          <a:xfrm>
            <a:off x="9829800" y="2514600"/>
            <a:ext cx="3236976" cy="457200"/>
          </a:xfrm>
          <a:prstGeom prst="rect">
            <a:avLst/>
          </a:prstGeom>
          <a:noFill/>
          <a:ln/>
        </p:spPr>
        <p:txBody>
          <a:bodyPr wrap="square" lIns="0" tIns="0" rIns="0" bIns="0" rtlCol="0" anchor="ctr"/>
          <a:lstStyle/>
          <a:p>
            <a:pPr indent="0" marL="0">
              <a:buNone/>
            </a:pPr>
            <a:r>
              <a:rPr lang="en-US" sz="2200" dirty="0">
                <a:solidFill>
                  <a:srgbClr val="251833"/>
                </a:solidFill>
                <a:latin typeface="Segoe UI Semibold" pitchFamily="34" charset="0"/>
                <a:ea typeface="Segoe UI Semibold" pitchFamily="34" charset="-122"/>
                <a:cs typeface="Segoe UI Semibold" pitchFamily="34" charset="-120"/>
              </a:rPr>
              <a:t>Frequent</a:t>
            </a:r>
            <a:endParaRPr lang="en-US" sz="2200" dirty="0"/>
          </a:p>
        </p:txBody>
      </p:sp>
      <p:sp>
        <p:nvSpPr>
          <p:cNvPr id="22" name="Text 18"/>
          <p:cNvSpPr/>
          <p:nvPr/>
        </p:nvSpPr>
        <p:spPr>
          <a:xfrm>
            <a:off x="9829800" y="3017520"/>
            <a:ext cx="3236976" cy="822960"/>
          </a:xfrm>
          <a:prstGeom prst="rect">
            <a:avLst/>
          </a:prstGeom>
          <a:noFill/>
          <a:ln/>
        </p:spPr>
        <p:txBody>
          <a:bodyPr wrap="square" lIns="0" tIns="0" rIns="0" bIns="0" rtlCol="0" anchor="ctr"/>
          <a:lstStyle/>
          <a:p>
            <a:pPr indent="0" marL="0">
              <a:buNone/>
            </a:pPr>
            <a:r>
              <a:rPr lang="en-US" sz="4400" dirty="0">
                <a:solidFill>
                  <a:srgbClr val="BF5B25"/>
                </a:solidFill>
                <a:latin typeface="Segoe UI Semibold" pitchFamily="34" charset="0"/>
                <a:ea typeface="Segoe UI Semibold" pitchFamily="34" charset="-122"/>
                <a:cs typeface="Segoe UI Semibold" pitchFamily="34" charset="-120"/>
              </a:rPr>
              <a:t>11–15</a:t>
            </a:r>
            <a:endParaRPr lang="en-US" sz="4400" dirty="0"/>
          </a:p>
        </p:txBody>
      </p:sp>
      <p:sp>
        <p:nvSpPr>
          <p:cNvPr id="23" name="Text 19"/>
          <p:cNvSpPr/>
          <p:nvPr/>
        </p:nvSpPr>
        <p:spPr>
          <a:xfrm>
            <a:off x="9829800" y="3840480"/>
            <a:ext cx="3236976" cy="365760"/>
          </a:xfrm>
          <a:prstGeom prst="rect">
            <a:avLst/>
          </a:prstGeom>
          <a:noFill/>
          <a:ln/>
        </p:spPr>
        <p:txBody>
          <a:bodyPr wrap="square" lIns="0" tIns="0" rIns="0" bIns="0" rtlCol="0" anchor="ctr"/>
          <a:lstStyle/>
          <a:p>
            <a:pPr indent="0" marL="0">
              <a:buNone/>
            </a:pPr>
            <a:r>
              <a:rPr lang="en-US" sz="1500" dirty="0">
                <a:solidFill>
                  <a:srgbClr val="637087"/>
                </a:solidFill>
                <a:latin typeface="Segoe UI" pitchFamily="34" charset="0"/>
                <a:ea typeface="Segoe UI" pitchFamily="34" charset="-122"/>
                <a:cs typeface="Segoe UI" pitchFamily="34" charset="-120"/>
              </a:rPr>
              <a:t>active days in the month</a:t>
            </a:r>
            <a:endParaRPr lang="en-US" sz="1500" dirty="0"/>
          </a:p>
        </p:txBody>
      </p:sp>
      <p:sp>
        <p:nvSpPr>
          <p:cNvPr id="24" name="Shape 20"/>
          <p:cNvSpPr/>
          <p:nvPr/>
        </p:nvSpPr>
        <p:spPr>
          <a:xfrm>
            <a:off x="13615416" y="2286000"/>
            <a:ext cx="4059936" cy="2240280"/>
          </a:xfrm>
          <a:prstGeom prst="roundRect">
            <a:avLst>
              <a:gd name="adj" fmla="val 4082"/>
            </a:avLst>
          </a:prstGeom>
          <a:solidFill>
            <a:srgbClr val="FFFFFF"/>
          </a:solidFill>
          <a:ln w="12700">
            <a:solidFill>
              <a:srgbClr val="E2DDEB"/>
            </a:solidFill>
            <a:prstDash val="solid"/>
          </a:ln>
        </p:spPr>
      </p:sp>
      <p:sp>
        <p:nvSpPr>
          <p:cNvPr id="25" name="Shape 21"/>
          <p:cNvSpPr/>
          <p:nvPr/>
        </p:nvSpPr>
        <p:spPr>
          <a:xfrm>
            <a:off x="13889736" y="2542032"/>
            <a:ext cx="91440" cy="1737360"/>
          </a:xfrm>
          <a:prstGeom prst="rect">
            <a:avLst/>
          </a:prstGeom>
          <a:solidFill>
            <a:srgbClr val="4268B2"/>
          </a:solidFill>
          <a:ln/>
        </p:spPr>
      </p:sp>
      <p:sp>
        <p:nvSpPr>
          <p:cNvPr id="26" name="Text 22"/>
          <p:cNvSpPr/>
          <p:nvPr/>
        </p:nvSpPr>
        <p:spPr>
          <a:xfrm>
            <a:off x="14164056" y="2514600"/>
            <a:ext cx="3236976" cy="457200"/>
          </a:xfrm>
          <a:prstGeom prst="rect">
            <a:avLst/>
          </a:prstGeom>
          <a:noFill/>
          <a:ln/>
        </p:spPr>
        <p:txBody>
          <a:bodyPr wrap="square" lIns="0" tIns="0" rIns="0" bIns="0" rtlCol="0" anchor="ctr"/>
          <a:lstStyle/>
          <a:p>
            <a:pPr indent="0" marL="0">
              <a:buNone/>
            </a:pPr>
            <a:r>
              <a:rPr lang="en-US" sz="2200" dirty="0">
                <a:solidFill>
                  <a:srgbClr val="251833"/>
                </a:solidFill>
                <a:latin typeface="Segoe UI Semibold" pitchFamily="34" charset="0"/>
                <a:ea typeface="Segoe UI Semibold" pitchFamily="34" charset="-122"/>
                <a:cs typeface="Segoe UI Semibold" pitchFamily="34" charset="-120"/>
              </a:rPr>
              <a:t>Daily</a:t>
            </a:r>
            <a:endParaRPr lang="en-US" sz="2200" dirty="0"/>
          </a:p>
        </p:txBody>
      </p:sp>
      <p:sp>
        <p:nvSpPr>
          <p:cNvPr id="27" name="Text 23"/>
          <p:cNvSpPr/>
          <p:nvPr/>
        </p:nvSpPr>
        <p:spPr>
          <a:xfrm>
            <a:off x="14164056" y="3017520"/>
            <a:ext cx="3236976" cy="822960"/>
          </a:xfrm>
          <a:prstGeom prst="rect">
            <a:avLst/>
          </a:prstGeom>
          <a:noFill/>
          <a:ln/>
        </p:spPr>
        <p:txBody>
          <a:bodyPr wrap="square" lIns="0" tIns="0" rIns="0" bIns="0" rtlCol="0" anchor="ctr"/>
          <a:lstStyle/>
          <a:p>
            <a:pPr indent="0" marL="0">
              <a:buNone/>
            </a:pPr>
            <a:r>
              <a:rPr lang="en-US" sz="4400" dirty="0">
                <a:solidFill>
                  <a:srgbClr val="4268B2"/>
                </a:solidFill>
                <a:latin typeface="Segoe UI Semibold" pitchFamily="34" charset="0"/>
                <a:ea typeface="Segoe UI Semibold" pitchFamily="34" charset="-122"/>
                <a:cs typeface="Segoe UI Semibold" pitchFamily="34" charset="-120"/>
              </a:rPr>
              <a:t>16+</a:t>
            </a:r>
            <a:endParaRPr lang="en-US" sz="4400" dirty="0"/>
          </a:p>
        </p:txBody>
      </p:sp>
      <p:sp>
        <p:nvSpPr>
          <p:cNvPr id="28" name="Text 24"/>
          <p:cNvSpPr/>
          <p:nvPr/>
        </p:nvSpPr>
        <p:spPr>
          <a:xfrm>
            <a:off x="14164056" y="3840480"/>
            <a:ext cx="3236976" cy="365760"/>
          </a:xfrm>
          <a:prstGeom prst="rect">
            <a:avLst/>
          </a:prstGeom>
          <a:noFill/>
          <a:ln/>
        </p:spPr>
        <p:txBody>
          <a:bodyPr wrap="square" lIns="0" tIns="0" rIns="0" bIns="0" rtlCol="0" anchor="ctr"/>
          <a:lstStyle/>
          <a:p>
            <a:pPr indent="0" marL="0">
              <a:buNone/>
            </a:pPr>
            <a:r>
              <a:rPr lang="en-US" sz="1500" dirty="0">
                <a:solidFill>
                  <a:srgbClr val="637087"/>
                </a:solidFill>
                <a:latin typeface="Segoe UI" pitchFamily="34" charset="0"/>
                <a:ea typeface="Segoe UI" pitchFamily="34" charset="-122"/>
                <a:cs typeface="Segoe UI" pitchFamily="34" charset="-120"/>
              </a:rPr>
              <a:t>active days in the month</a:t>
            </a:r>
            <a:endParaRPr lang="en-US" sz="1500" dirty="0"/>
          </a:p>
        </p:txBody>
      </p:sp>
      <p:sp>
        <p:nvSpPr>
          <p:cNvPr id="29" name="Shape 25"/>
          <p:cNvSpPr/>
          <p:nvPr/>
        </p:nvSpPr>
        <p:spPr>
          <a:xfrm>
            <a:off x="612648" y="4754880"/>
            <a:ext cx="10378440" cy="4114800"/>
          </a:xfrm>
          <a:prstGeom prst="roundRect">
            <a:avLst>
              <a:gd name="adj" fmla="val 2222"/>
            </a:avLst>
          </a:prstGeom>
          <a:solidFill>
            <a:srgbClr val="FFFFFF"/>
          </a:solidFill>
          <a:ln w="12700">
            <a:solidFill>
              <a:srgbClr val="E2DDEB"/>
            </a:solidFill>
            <a:prstDash val="solid"/>
          </a:ln>
        </p:spPr>
      </p:sp>
      <p:sp>
        <p:nvSpPr>
          <p:cNvPr id="30" name="Text 26"/>
          <p:cNvSpPr/>
          <p:nvPr/>
        </p:nvSpPr>
        <p:spPr>
          <a:xfrm>
            <a:off x="978408" y="4983480"/>
            <a:ext cx="5486400" cy="320040"/>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WHICH MONTH?</a:t>
            </a:r>
            <a:endParaRPr lang="en-US" sz="1200" dirty="0"/>
          </a:p>
        </p:txBody>
      </p:sp>
      <p:sp>
        <p:nvSpPr>
          <p:cNvPr id="31" name="Text 27"/>
          <p:cNvSpPr/>
          <p:nvPr/>
        </p:nvSpPr>
        <p:spPr>
          <a:xfrm>
            <a:off x="978408" y="5349240"/>
            <a:ext cx="9601200" cy="777240"/>
          </a:xfrm>
          <a:prstGeom prst="rect">
            <a:avLst/>
          </a:prstGeom>
          <a:noFill/>
          <a:ln/>
        </p:spPr>
        <p:txBody>
          <a:bodyPr wrap="square" lIns="0" tIns="0" rIns="0" bIns="0" rtlCol="0" anchor="t"/>
          <a:lstStyle/>
          <a:p>
            <a:pPr indent="0" marL="0">
              <a:buNone/>
            </a:pPr>
            <a:r>
              <a:rPr lang="en-US" sz="2000" dirty="0">
                <a:solidFill>
                  <a:srgbClr val="251833"/>
                </a:solidFill>
                <a:latin typeface="Segoe UI Semibold" pitchFamily="34" charset="0"/>
                <a:ea typeface="Segoe UI Semibold" pitchFamily="34" charset="-122"/>
                <a:cs typeface="Segoe UI Semibold" pitchFamily="34" charset="-120"/>
              </a:rPr>
              <a:t>The habit month is the calendar month before the end of your selected dates.</a:t>
            </a:r>
            <a:endParaRPr lang="en-US" sz="2000" dirty="0"/>
          </a:p>
        </p:txBody>
      </p:sp>
      <p:sp>
        <p:nvSpPr>
          <p:cNvPr id="32" name="Shape 28"/>
          <p:cNvSpPr/>
          <p:nvPr/>
        </p:nvSpPr>
        <p:spPr>
          <a:xfrm>
            <a:off x="978408" y="6263640"/>
            <a:ext cx="4480560" cy="1097280"/>
          </a:xfrm>
          <a:prstGeom prst="roundRect">
            <a:avLst>
              <a:gd name="adj" fmla="val 8333"/>
            </a:avLst>
          </a:prstGeom>
          <a:solidFill>
            <a:srgbClr val="ECE5F4"/>
          </a:solidFill>
          <a:ln/>
        </p:spPr>
      </p:sp>
      <p:sp>
        <p:nvSpPr>
          <p:cNvPr id="33" name="Text 29"/>
          <p:cNvSpPr/>
          <p:nvPr/>
        </p:nvSpPr>
        <p:spPr>
          <a:xfrm>
            <a:off x="1207008" y="6355080"/>
            <a:ext cx="4114800" cy="914400"/>
          </a:xfrm>
          <a:prstGeom prst="rect">
            <a:avLst/>
          </a:prstGeom>
          <a:noFill/>
          <a:ln/>
        </p:spPr>
        <p:txBody>
          <a:bodyPr wrap="square" lIns="0" tIns="0" rIns="0" bIns="0" rtlCol="0" anchor="ctr"/>
          <a:lstStyle/>
          <a:p>
            <a:pPr indent="0" marL="0">
              <a:buNone/>
            </a:pPr>
            <a:r>
              <a:rPr lang="en-US" sz="1300" dirty="0">
                <a:solidFill>
                  <a:srgbClr val="637087"/>
                </a:solidFill>
                <a:latin typeface="Segoe UI" pitchFamily="34" charset="0"/>
                <a:ea typeface="Segoe UI" pitchFamily="34" charset="-122"/>
                <a:cs typeface="Segoe UI" pitchFamily="34" charset="-120"/>
              </a:rPr>
              <a:t>Selected dates</a:t>
            </a:r>
            <a:endParaRPr lang="en-US" sz="1300" dirty="0"/>
          </a:p>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1 Jun – 30 Sep 2026</a:t>
            </a:r>
            <a:endParaRPr lang="en-US" sz="1300" dirty="0"/>
          </a:p>
        </p:txBody>
      </p:sp>
      <p:sp>
        <p:nvSpPr>
          <p:cNvPr id="34" name="Text 30"/>
          <p:cNvSpPr/>
          <p:nvPr/>
        </p:nvSpPr>
        <p:spPr>
          <a:xfrm>
            <a:off x="5504688" y="6263640"/>
            <a:ext cx="640080" cy="1097280"/>
          </a:xfrm>
          <a:prstGeom prst="rect">
            <a:avLst/>
          </a:prstGeom>
          <a:noFill/>
          <a:ln/>
        </p:spPr>
        <p:txBody>
          <a:bodyPr wrap="square" lIns="0" tIns="0" rIns="0" bIns="0" rtlCol="0" anchor="ctr"/>
          <a:lstStyle/>
          <a:p>
            <a:pPr algn="ctr" indent="0" marL="0">
              <a:buNone/>
            </a:pPr>
            <a:r>
              <a:rPr lang="en-US" sz="3000" dirty="0">
                <a:solidFill>
                  <a:srgbClr val="7953B8"/>
                </a:solidFill>
                <a:latin typeface="Segoe UI Semibold" pitchFamily="34" charset="0"/>
                <a:ea typeface="Segoe UI Semibold" pitchFamily="34" charset="-122"/>
                <a:cs typeface="Segoe UI Semibold" pitchFamily="34" charset="-120"/>
              </a:rPr>
              <a:t>→</a:t>
            </a:r>
            <a:endParaRPr lang="en-US" sz="3000" dirty="0"/>
          </a:p>
        </p:txBody>
      </p:sp>
      <p:sp>
        <p:nvSpPr>
          <p:cNvPr id="35" name="Shape 31"/>
          <p:cNvSpPr/>
          <p:nvPr/>
        </p:nvSpPr>
        <p:spPr>
          <a:xfrm>
            <a:off x="6190488" y="6263640"/>
            <a:ext cx="4434840" cy="1097280"/>
          </a:xfrm>
          <a:prstGeom prst="roundRect">
            <a:avLst>
              <a:gd name="adj" fmla="val 8333"/>
            </a:avLst>
          </a:prstGeom>
          <a:solidFill>
            <a:srgbClr val="ECE5F4"/>
          </a:solidFill>
          <a:ln/>
        </p:spPr>
      </p:sp>
      <p:sp>
        <p:nvSpPr>
          <p:cNvPr id="36" name="Text 32"/>
          <p:cNvSpPr/>
          <p:nvPr/>
        </p:nvSpPr>
        <p:spPr>
          <a:xfrm>
            <a:off x="6419088" y="6355080"/>
            <a:ext cx="4023360" cy="914400"/>
          </a:xfrm>
          <a:prstGeom prst="rect">
            <a:avLst/>
          </a:prstGeom>
          <a:noFill/>
          <a:ln/>
        </p:spPr>
        <p:txBody>
          <a:bodyPr wrap="square" lIns="0" tIns="0" rIns="0" bIns="0" rtlCol="0" anchor="ctr"/>
          <a:lstStyle/>
          <a:p>
            <a:pPr indent="0" marL="0">
              <a:buNone/>
            </a:pPr>
            <a:r>
              <a:rPr lang="en-US" sz="1300" dirty="0">
                <a:solidFill>
                  <a:srgbClr val="637087"/>
                </a:solidFill>
                <a:latin typeface="Segoe UI" pitchFamily="34" charset="0"/>
                <a:ea typeface="Segoe UI" pitchFamily="34" charset="-122"/>
                <a:cs typeface="Segoe UI" pitchFamily="34" charset="-120"/>
              </a:rPr>
              <a:t>Habit month</a:t>
            </a:r>
            <a:endParaRPr lang="en-US" sz="1300" dirty="0"/>
          </a:p>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August 2026</a:t>
            </a:r>
            <a:endParaRPr lang="en-US" sz="1300" dirty="0"/>
          </a:p>
        </p:txBody>
      </p:sp>
      <p:sp>
        <p:nvSpPr>
          <p:cNvPr id="37" name="Text 33"/>
          <p:cNvSpPr/>
          <p:nvPr/>
        </p:nvSpPr>
        <p:spPr>
          <a:xfrm>
            <a:off x="978408" y="7543800"/>
            <a:ext cx="9646920" cy="1188720"/>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The cards and bars describe that month. The tables beside them cover your whole selected period, so their totals won't match. "Daily" names the 16+ group; it doesn't mean every day.</a:t>
            </a:r>
            <a:endParaRPr lang="en-US" sz="1500" dirty="0"/>
          </a:p>
        </p:txBody>
      </p:sp>
      <p:sp>
        <p:nvSpPr>
          <p:cNvPr id="38" name="Shape 34"/>
          <p:cNvSpPr/>
          <p:nvPr/>
        </p:nvSpPr>
        <p:spPr>
          <a:xfrm>
            <a:off x="11311128" y="4754880"/>
            <a:ext cx="6364224" cy="4122115"/>
          </a:xfrm>
          <a:prstGeom prst="roundRect">
            <a:avLst>
              <a:gd name="adj" fmla="val 2218"/>
            </a:avLst>
          </a:prstGeom>
          <a:solidFill>
            <a:srgbClr val="FFFFFF"/>
          </a:solidFill>
          <a:ln w="12700">
            <a:solidFill>
              <a:srgbClr val="E2DDEB"/>
            </a:solidFill>
            <a:prstDash val="solid"/>
          </a:ln>
        </p:spPr>
      </p:sp>
      <p:pic>
        <p:nvPicPr>
          <p:cNvPr id="39" name="Image 2" descr="M365 Copilot Habit Formation page">    </p:cNvPr>
          <p:cNvPicPr>
            <a:picLocks noChangeAspect="1"/>
          </p:cNvPicPr>
          <p:nvPr/>
        </p:nvPicPr>
        <p:blipFill>
          <a:blip r:embed="rId3"/>
          <a:stretch>
            <a:fillRect/>
          </a:stretch>
        </p:blipFill>
        <p:spPr>
          <a:xfrm>
            <a:off x="11567160" y="5010912"/>
            <a:ext cx="5852160" cy="3610051"/>
          </a:xfrm>
          <a:prstGeom prst="rect">
            <a:avLst/>
          </a:prstGeom>
        </p:spPr>
      </p:pic>
      <p:sp>
        <p:nvSpPr>
          <p:cNvPr id="40" name="Shape 35"/>
          <p:cNvSpPr/>
          <p:nvPr/>
        </p:nvSpPr>
        <p:spPr>
          <a:xfrm>
            <a:off x="14698066" y="5028962"/>
            <a:ext cx="1111910" cy="342955"/>
          </a:xfrm>
          <a:prstGeom prst="roundRect">
            <a:avLst>
              <a:gd name="adj" fmla="val 13331"/>
            </a:avLst>
          </a:prstGeom>
          <a:ln w="22225">
            <a:solidFill>
              <a:srgbClr val="7953B8"/>
            </a:solidFill>
            <a:prstDash val="solid"/>
          </a:ln>
        </p:spPr>
      </p:sp>
      <p:sp>
        <p:nvSpPr>
          <p:cNvPr id="41" name="Shape 36"/>
          <p:cNvSpPr/>
          <p:nvPr/>
        </p:nvSpPr>
        <p:spPr>
          <a:xfrm>
            <a:off x="14496898" y="4846082"/>
            <a:ext cx="329184" cy="329184"/>
          </a:xfrm>
          <a:prstGeom prst="ellipse">
            <a:avLst/>
          </a:prstGeom>
          <a:solidFill>
            <a:srgbClr val="7953B8"/>
          </a:solidFill>
          <a:ln w="25400">
            <a:solidFill>
              <a:srgbClr val="FFFFFF"/>
            </a:solidFill>
            <a:prstDash val="solid"/>
          </a:ln>
        </p:spPr>
      </p:sp>
      <p:sp>
        <p:nvSpPr>
          <p:cNvPr id="42" name="Text 37"/>
          <p:cNvSpPr/>
          <p:nvPr/>
        </p:nvSpPr>
        <p:spPr>
          <a:xfrm>
            <a:off x="14496898" y="4855226"/>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43" name="Shape 38"/>
          <p:cNvSpPr/>
          <p:nvPr/>
        </p:nvSpPr>
        <p:spPr>
          <a:xfrm>
            <a:off x="13235026" y="5805123"/>
            <a:ext cx="2165299" cy="1209367"/>
          </a:xfrm>
          <a:prstGeom prst="roundRect">
            <a:avLst>
              <a:gd name="adj" fmla="val 3780"/>
            </a:avLst>
          </a:prstGeom>
          <a:ln w="22225">
            <a:solidFill>
              <a:srgbClr val="008774"/>
            </a:solidFill>
            <a:prstDash val="solid"/>
          </a:ln>
        </p:spPr>
      </p:sp>
      <p:sp>
        <p:nvSpPr>
          <p:cNvPr id="44" name="Shape 39"/>
          <p:cNvSpPr/>
          <p:nvPr/>
        </p:nvSpPr>
        <p:spPr>
          <a:xfrm>
            <a:off x="13033858" y="5622243"/>
            <a:ext cx="329184" cy="329184"/>
          </a:xfrm>
          <a:prstGeom prst="ellipse">
            <a:avLst/>
          </a:prstGeom>
          <a:solidFill>
            <a:srgbClr val="008774"/>
          </a:solidFill>
          <a:ln w="25400">
            <a:solidFill>
              <a:srgbClr val="FFFFFF"/>
            </a:solidFill>
            <a:prstDash val="solid"/>
          </a:ln>
        </p:spPr>
      </p:sp>
      <p:sp>
        <p:nvSpPr>
          <p:cNvPr id="45" name="Text 40"/>
          <p:cNvSpPr/>
          <p:nvPr/>
        </p:nvSpPr>
        <p:spPr>
          <a:xfrm>
            <a:off x="13033858" y="5631387"/>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46" name="Shape 41"/>
          <p:cNvSpPr/>
          <p:nvPr/>
        </p:nvSpPr>
        <p:spPr>
          <a:xfrm>
            <a:off x="612648" y="9144000"/>
            <a:ext cx="17062704" cy="566928"/>
          </a:xfrm>
          <a:prstGeom prst="roundRect">
            <a:avLst>
              <a:gd name="adj" fmla="val 12903"/>
            </a:avLst>
          </a:prstGeom>
          <a:solidFill>
            <a:srgbClr val="251833"/>
          </a:solidFill>
          <a:ln/>
        </p:spPr>
      </p:sp>
      <p:sp>
        <p:nvSpPr>
          <p:cNvPr id="47" name="Text 42"/>
          <p:cNvSpPr/>
          <p:nvPr/>
        </p:nvSpPr>
        <p:spPr>
          <a:xfrm>
            <a:off x="841248" y="9144000"/>
            <a:ext cx="1463040" cy="566928"/>
          </a:xfrm>
          <a:prstGeom prst="rect">
            <a:avLst/>
          </a:prstGeom>
          <a:noFill/>
          <a:ln/>
        </p:spPr>
        <p:txBody>
          <a:bodyPr wrap="square" lIns="0" tIns="0" rIns="0" bIns="0" rtlCol="0" anchor="ctr"/>
          <a:lstStyle/>
          <a:p>
            <a:pPr indent="0" marL="0">
              <a:buNone/>
            </a:pPr>
            <a:r>
              <a:rPr lang="en-US" sz="1300" spc="100" kern="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8" name="Text 43"/>
          <p:cNvSpPr/>
          <p:nvPr/>
        </p:nvSpPr>
        <p:spPr>
          <a:xfrm>
            <a:off x="2304288" y="9144000"/>
            <a:ext cx="15142464" cy="56692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Habits tell us whether Copilot is becoming part of the routine, one month at a time.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F8"/>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637087"/>
                </a:solidFill>
                <a:latin typeface="Segoe UI" pitchFamily="34" charset="0"/>
                <a:ea typeface="Segoe UI" pitchFamily="34" charset="-122"/>
                <a:cs typeface="Segoe UI" pitchFamily="34" charset="-120"/>
              </a:rPr>
              <a:t>08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indent="0" marL="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ACT 2 · IS IT BECOMING A HABIT?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251833"/>
                </a:solidFill>
                <a:latin typeface="Segoe UI Semibold" pitchFamily="34" charset="0"/>
                <a:ea typeface="Segoe UI Semibold" pitchFamily="34" charset="-122"/>
                <a:cs typeface="Segoe UI Semibold" pitchFamily="34" charset="-120"/>
              </a:rPr>
              <a:t>Licensed Copilot: how often, and where</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indent="0" marL="0">
              <a:buNone/>
            </a:pPr>
            <a:r>
              <a:rPr lang="en-US" sz="2000" dirty="0">
                <a:solidFill>
                  <a:srgbClr val="637087"/>
                </a:solidFill>
                <a:latin typeface="Segoe UI" pitchFamily="34" charset="0"/>
                <a:ea typeface="Segoe UI" pitchFamily="34" charset="-122"/>
                <a:cs typeface="Segoe UI" pitchFamily="34" charset="-120"/>
              </a:rPr>
              <a:t>M365 Copilot: Usage Trends follows people with a Microsoft 365 Copilot license.</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sp>
      <p:pic>
        <p:nvPicPr>
          <p:cNvPr id="10" name="Image 2" descr="M365 Copilot: Usage Trends page">    </p:cNvPr>
          <p:cNvPicPr>
            <a:picLocks noChangeAspect="1"/>
          </p:cNvPicPr>
          <p:nvPr/>
        </p:nvPicPr>
        <p:blipFill>
          <a:blip r:embed="rId3"/>
          <a:stretch>
            <a:fillRect/>
          </a:stretch>
        </p:blipFill>
        <p:spPr>
          <a:xfrm>
            <a:off x="868680" y="2468880"/>
            <a:ext cx="10003536" cy="6170931"/>
          </a:xfrm>
          <a:prstGeom prst="rect">
            <a:avLst/>
          </a:prstGeom>
        </p:spPr>
      </p:pic>
      <p:sp>
        <p:nvSpPr>
          <p:cNvPr id="11" name="Shape 6"/>
          <p:cNvSpPr/>
          <p:nvPr/>
        </p:nvSpPr>
        <p:spPr>
          <a:xfrm>
            <a:off x="968715" y="3888194"/>
            <a:ext cx="8152882" cy="617093"/>
          </a:xfrm>
          <a:prstGeom prst="roundRect">
            <a:avLst>
              <a:gd name="adj" fmla="val 7409"/>
            </a:avLst>
          </a:prstGeom>
          <a:ln w="22225">
            <a:solidFill>
              <a:srgbClr val="7953B8"/>
            </a:solidFill>
            <a:prstDash val="solid"/>
          </a:ln>
        </p:spPr>
      </p:sp>
      <p:sp>
        <p:nvSpPr>
          <p:cNvPr id="12" name="Shape 7"/>
          <p:cNvSpPr/>
          <p:nvPr/>
        </p:nvSpPr>
        <p:spPr>
          <a:xfrm>
            <a:off x="767547" y="3705314"/>
            <a:ext cx="329184" cy="329184"/>
          </a:xfrm>
          <a:prstGeom prst="ellipse">
            <a:avLst/>
          </a:prstGeom>
          <a:solidFill>
            <a:srgbClr val="7953B8"/>
          </a:solidFill>
          <a:ln w="25400">
            <a:solidFill>
              <a:srgbClr val="FFFFFF"/>
            </a:solidFill>
            <a:prstDash val="solid"/>
          </a:ln>
        </p:spPr>
      </p:sp>
      <p:sp>
        <p:nvSpPr>
          <p:cNvPr id="13" name="Text 8"/>
          <p:cNvSpPr/>
          <p:nvPr/>
        </p:nvSpPr>
        <p:spPr>
          <a:xfrm>
            <a:off x="767547" y="3714458"/>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968715" y="4628706"/>
            <a:ext cx="4051432" cy="1820425"/>
          </a:xfrm>
          <a:prstGeom prst="roundRect">
            <a:avLst>
              <a:gd name="adj" fmla="val 2512"/>
            </a:avLst>
          </a:prstGeom>
          <a:ln w="22225">
            <a:solidFill>
              <a:srgbClr val="008774"/>
            </a:solidFill>
            <a:prstDash val="solid"/>
          </a:ln>
        </p:spPr>
      </p:sp>
      <p:sp>
        <p:nvSpPr>
          <p:cNvPr id="15" name="Shape 10"/>
          <p:cNvSpPr/>
          <p:nvPr/>
        </p:nvSpPr>
        <p:spPr>
          <a:xfrm>
            <a:off x="767547" y="4445826"/>
            <a:ext cx="329184" cy="329184"/>
          </a:xfrm>
          <a:prstGeom prst="ellipse">
            <a:avLst/>
          </a:prstGeom>
          <a:solidFill>
            <a:srgbClr val="008774"/>
          </a:solidFill>
          <a:ln w="25400">
            <a:solidFill>
              <a:srgbClr val="FFFFFF"/>
            </a:solidFill>
            <a:prstDash val="solid"/>
          </a:ln>
        </p:spPr>
      </p:sp>
      <p:sp>
        <p:nvSpPr>
          <p:cNvPr id="16" name="Text 11"/>
          <p:cNvSpPr/>
          <p:nvPr/>
        </p:nvSpPr>
        <p:spPr>
          <a:xfrm>
            <a:off x="767547" y="4454970"/>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968715" y="6572549"/>
            <a:ext cx="4051432" cy="1974698"/>
          </a:xfrm>
          <a:prstGeom prst="roundRect">
            <a:avLst>
              <a:gd name="adj" fmla="val 2315"/>
            </a:avLst>
          </a:prstGeom>
          <a:ln w="22225">
            <a:solidFill>
              <a:srgbClr val="BF5B25"/>
            </a:solidFill>
            <a:prstDash val="solid"/>
          </a:ln>
        </p:spPr>
      </p:sp>
      <p:sp>
        <p:nvSpPr>
          <p:cNvPr id="18" name="Shape 13"/>
          <p:cNvSpPr/>
          <p:nvPr/>
        </p:nvSpPr>
        <p:spPr>
          <a:xfrm>
            <a:off x="767547" y="6389669"/>
            <a:ext cx="329184" cy="329184"/>
          </a:xfrm>
          <a:prstGeom prst="ellipse">
            <a:avLst/>
          </a:prstGeom>
          <a:solidFill>
            <a:srgbClr val="BF5B25"/>
          </a:solidFill>
          <a:ln w="25400">
            <a:solidFill>
              <a:srgbClr val="FFFFFF"/>
            </a:solidFill>
            <a:prstDash val="solid"/>
          </a:ln>
        </p:spPr>
      </p:sp>
      <p:sp>
        <p:nvSpPr>
          <p:cNvPr id="19" name="Text 14"/>
          <p:cNvSpPr/>
          <p:nvPr/>
        </p:nvSpPr>
        <p:spPr>
          <a:xfrm>
            <a:off x="767547" y="6398813"/>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5070165" y="6572549"/>
            <a:ext cx="4051432" cy="1974698"/>
          </a:xfrm>
          <a:prstGeom prst="roundRect">
            <a:avLst>
              <a:gd name="adj" fmla="val 2315"/>
            </a:avLst>
          </a:prstGeom>
          <a:ln w="22225">
            <a:solidFill>
              <a:srgbClr val="4268B2"/>
            </a:solidFill>
            <a:prstDash val="solid"/>
          </a:ln>
        </p:spPr>
      </p:sp>
      <p:sp>
        <p:nvSpPr>
          <p:cNvPr id="21" name="Shape 16"/>
          <p:cNvSpPr/>
          <p:nvPr/>
        </p:nvSpPr>
        <p:spPr>
          <a:xfrm>
            <a:off x="4868997" y="6389669"/>
            <a:ext cx="329184" cy="329184"/>
          </a:xfrm>
          <a:prstGeom prst="ellipse">
            <a:avLst/>
          </a:prstGeom>
          <a:solidFill>
            <a:srgbClr val="4268B2"/>
          </a:solidFill>
          <a:ln w="25400">
            <a:solidFill>
              <a:srgbClr val="FFFFFF"/>
            </a:solidFill>
            <a:prstDash val="solid"/>
          </a:ln>
        </p:spPr>
      </p:sp>
      <p:sp>
        <p:nvSpPr>
          <p:cNvPr id="22" name="Text 17"/>
          <p:cNvSpPr/>
          <p:nvPr/>
        </p:nvSpPr>
        <p:spPr>
          <a:xfrm>
            <a:off x="4868997" y="6398813"/>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23" name="Shape 18"/>
          <p:cNvSpPr/>
          <p:nvPr/>
        </p:nvSpPr>
        <p:spPr>
          <a:xfrm>
            <a:off x="11384280" y="2212848"/>
            <a:ext cx="6291072" cy="1566672"/>
          </a:xfrm>
          <a:prstGeom prst="roundRect">
            <a:avLst>
              <a:gd name="adj" fmla="val 5837"/>
            </a:avLst>
          </a:prstGeom>
          <a:solidFill>
            <a:srgbClr val="FFFFFF"/>
          </a:solidFill>
          <a:ln w="12700">
            <a:solidFill>
              <a:srgbClr val="E2DDEB"/>
            </a:solidFill>
            <a:prstDash val="solid"/>
          </a:ln>
        </p:spPr>
      </p:sp>
      <p:sp>
        <p:nvSpPr>
          <p:cNvPr id="24" name="Shape 19"/>
          <p:cNvSpPr/>
          <p:nvPr/>
        </p:nvSpPr>
        <p:spPr>
          <a:xfrm>
            <a:off x="11567160" y="2395728"/>
            <a:ext cx="347472" cy="347472"/>
          </a:xfrm>
          <a:prstGeom prst="ellipse">
            <a:avLst/>
          </a:prstGeom>
          <a:solidFill>
            <a:srgbClr val="7953B8"/>
          </a:solidFill>
          <a:ln w="25400">
            <a:solidFill>
              <a:srgbClr val="FFFFFF"/>
            </a:solidFill>
            <a:prstDash val="solid"/>
          </a:ln>
        </p:spPr>
      </p:sp>
      <p:sp>
        <p:nvSpPr>
          <p:cNvPr id="25" name="Text 20"/>
          <p:cNvSpPr/>
          <p:nvPr/>
        </p:nvSpPr>
        <p:spPr>
          <a:xfrm>
            <a:off x="11567160" y="2404872"/>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26" name="Text 21"/>
          <p:cNvSpPr/>
          <p:nvPr/>
        </p:nvSpPr>
        <p:spPr>
          <a:xfrm>
            <a:off x="12042648" y="2395728"/>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The licensed picture</a:t>
            </a:r>
            <a:endParaRPr lang="en-US" sz="1900" dirty="0"/>
          </a:p>
        </p:txBody>
      </p:sp>
      <p:sp>
        <p:nvSpPr>
          <p:cNvPr id="27" name="Text 22"/>
          <p:cNvSpPr/>
          <p:nvPr/>
        </p:nvSpPr>
        <p:spPr>
          <a:xfrm>
            <a:off x="11612880" y="2805684"/>
            <a:ext cx="5833872" cy="80924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Licensed users, inactive licensed users, sessions, weekly sessions per user, month-over-month change and weekly active days.</a:t>
            </a:r>
            <a:endParaRPr lang="en-US" sz="1500" dirty="0"/>
          </a:p>
        </p:txBody>
      </p:sp>
      <p:sp>
        <p:nvSpPr>
          <p:cNvPr id="28" name="Shape 23"/>
          <p:cNvSpPr/>
          <p:nvPr/>
        </p:nvSpPr>
        <p:spPr>
          <a:xfrm>
            <a:off x="11384280" y="3925824"/>
            <a:ext cx="6291072" cy="1315212"/>
          </a:xfrm>
          <a:prstGeom prst="roundRect">
            <a:avLst>
              <a:gd name="adj" fmla="val 6952"/>
            </a:avLst>
          </a:prstGeom>
          <a:solidFill>
            <a:srgbClr val="FFFFFF"/>
          </a:solidFill>
          <a:ln w="12700">
            <a:solidFill>
              <a:srgbClr val="E2DDEB"/>
            </a:solidFill>
            <a:prstDash val="solid"/>
          </a:ln>
        </p:spPr>
      </p:sp>
      <p:sp>
        <p:nvSpPr>
          <p:cNvPr id="29" name="Shape 24"/>
          <p:cNvSpPr/>
          <p:nvPr/>
        </p:nvSpPr>
        <p:spPr>
          <a:xfrm>
            <a:off x="11567160" y="4108704"/>
            <a:ext cx="347472" cy="347472"/>
          </a:xfrm>
          <a:prstGeom prst="ellipse">
            <a:avLst/>
          </a:prstGeom>
          <a:solidFill>
            <a:srgbClr val="008774"/>
          </a:solidFill>
          <a:ln w="25400">
            <a:solidFill>
              <a:srgbClr val="FFFFFF"/>
            </a:solidFill>
            <a:prstDash val="solid"/>
          </a:ln>
        </p:spPr>
      </p:sp>
      <p:sp>
        <p:nvSpPr>
          <p:cNvPr id="30" name="Text 25"/>
          <p:cNvSpPr/>
          <p:nvPr/>
        </p:nvSpPr>
        <p:spPr>
          <a:xfrm>
            <a:off x="11567160" y="4117848"/>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31" name="Text 26"/>
          <p:cNvSpPr/>
          <p:nvPr/>
        </p:nvSpPr>
        <p:spPr>
          <a:xfrm>
            <a:off x="12042648" y="4108704"/>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Week by week</a:t>
            </a:r>
            <a:endParaRPr lang="en-US" sz="1900" dirty="0"/>
          </a:p>
        </p:txBody>
      </p:sp>
      <p:sp>
        <p:nvSpPr>
          <p:cNvPr id="32" name="Text 27"/>
          <p:cNvSpPr/>
          <p:nvPr/>
        </p:nvSpPr>
        <p:spPr>
          <a:xfrm>
            <a:off x="11612880" y="4518660"/>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Active users and sessions per user, so you can see growth and depth together.</a:t>
            </a:r>
            <a:endParaRPr lang="en-US" sz="1500" dirty="0"/>
          </a:p>
        </p:txBody>
      </p:sp>
      <p:sp>
        <p:nvSpPr>
          <p:cNvPr id="33" name="Shape 28"/>
          <p:cNvSpPr/>
          <p:nvPr/>
        </p:nvSpPr>
        <p:spPr>
          <a:xfrm>
            <a:off x="11384280" y="5387340"/>
            <a:ext cx="6291072" cy="1315212"/>
          </a:xfrm>
          <a:prstGeom prst="roundRect">
            <a:avLst>
              <a:gd name="adj" fmla="val 6952"/>
            </a:avLst>
          </a:prstGeom>
          <a:solidFill>
            <a:srgbClr val="FFFFFF"/>
          </a:solidFill>
          <a:ln w="12700">
            <a:solidFill>
              <a:srgbClr val="E2DDEB"/>
            </a:solidFill>
            <a:prstDash val="solid"/>
          </a:ln>
        </p:spPr>
      </p:sp>
      <p:sp>
        <p:nvSpPr>
          <p:cNvPr id="34" name="Shape 29"/>
          <p:cNvSpPr/>
          <p:nvPr/>
        </p:nvSpPr>
        <p:spPr>
          <a:xfrm>
            <a:off x="11567160" y="5570220"/>
            <a:ext cx="347472" cy="347472"/>
          </a:xfrm>
          <a:prstGeom prst="ellipse">
            <a:avLst/>
          </a:prstGeom>
          <a:solidFill>
            <a:srgbClr val="BF5B25"/>
          </a:solidFill>
          <a:ln w="25400">
            <a:solidFill>
              <a:srgbClr val="FFFFFF"/>
            </a:solidFill>
            <a:prstDash val="solid"/>
          </a:ln>
        </p:spPr>
      </p:sp>
      <p:sp>
        <p:nvSpPr>
          <p:cNvPr id="35" name="Text 30"/>
          <p:cNvSpPr/>
          <p:nvPr/>
        </p:nvSpPr>
        <p:spPr>
          <a:xfrm>
            <a:off x="11567160" y="5579364"/>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36" name="Text 31"/>
          <p:cNvSpPr/>
          <p:nvPr/>
        </p:nvSpPr>
        <p:spPr>
          <a:xfrm>
            <a:off x="12042648" y="5570220"/>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From top users to light users</a:t>
            </a:r>
            <a:endParaRPr lang="en-US" sz="1900" dirty="0"/>
          </a:p>
        </p:txBody>
      </p:sp>
      <p:sp>
        <p:nvSpPr>
          <p:cNvPr id="37" name="Text 32"/>
          <p:cNvSpPr/>
          <p:nvPr/>
        </p:nvSpPr>
        <p:spPr>
          <a:xfrm>
            <a:off x="11612880" y="5980176"/>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Average sessions per active week for each usage group, from the top 10% to the bottom 25%.</a:t>
            </a:r>
            <a:endParaRPr lang="en-US" sz="1500" dirty="0"/>
          </a:p>
        </p:txBody>
      </p:sp>
      <p:sp>
        <p:nvSpPr>
          <p:cNvPr id="38" name="Shape 33"/>
          <p:cNvSpPr/>
          <p:nvPr/>
        </p:nvSpPr>
        <p:spPr>
          <a:xfrm>
            <a:off x="11384280" y="6848856"/>
            <a:ext cx="6291072" cy="1315212"/>
          </a:xfrm>
          <a:prstGeom prst="roundRect">
            <a:avLst>
              <a:gd name="adj" fmla="val 6952"/>
            </a:avLst>
          </a:prstGeom>
          <a:solidFill>
            <a:srgbClr val="FFFFFF"/>
          </a:solidFill>
          <a:ln w="12700">
            <a:solidFill>
              <a:srgbClr val="E2DDEB"/>
            </a:solidFill>
            <a:prstDash val="solid"/>
          </a:ln>
        </p:spPr>
      </p:sp>
      <p:sp>
        <p:nvSpPr>
          <p:cNvPr id="39" name="Shape 34"/>
          <p:cNvSpPr/>
          <p:nvPr/>
        </p:nvSpPr>
        <p:spPr>
          <a:xfrm>
            <a:off x="11567160" y="7031736"/>
            <a:ext cx="347472" cy="347472"/>
          </a:xfrm>
          <a:prstGeom prst="ellipse">
            <a:avLst/>
          </a:prstGeom>
          <a:solidFill>
            <a:srgbClr val="4268B2"/>
          </a:solidFill>
          <a:ln w="25400">
            <a:solidFill>
              <a:srgbClr val="FFFFFF"/>
            </a:solidFill>
            <a:prstDash val="solid"/>
          </a:ln>
        </p:spPr>
      </p:sp>
      <p:sp>
        <p:nvSpPr>
          <p:cNvPr id="40" name="Text 35"/>
          <p:cNvSpPr/>
          <p:nvPr/>
        </p:nvSpPr>
        <p:spPr>
          <a:xfrm>
            <a:off x="11567160" y="7040880"/>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41" name="Text 36"/>
          <p:cNvSpPr/>
          <p:nvPr/>
        </p:nvSpPr>
        <p:spPr>
          <a:xfrm>
            <a:off x="12042648" y="7031736"/>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Which apps</a:t>
            </a:r>
            <a:endParaRPr lang="en-US" sz="1900" dirty="0"/>
          </a:p>
        </p:txBody>
      </p:sp>
      <p:sp>
        <p:nvSpPr>
          <p:cNvPr id="42" name="Text 37"/>
          <p:cNvSpPr/>
          <p:nvPr/>
        </p:nvSpPr>
        <p:spPr>
          <a:xfrm>
            <a:off x="11612880" y="7441692"/>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Top 5 apps by Copilot sessions, such as Copilot Chat, Outlook, Teams and Word.</a:t>
            </a:r>
            <a:endParaRPr lang="en-US" sz="1500" dirty="0"/>
          </a:p>
        </p:txBody>
      </p:sp>
      <p:sp>
        <p:nvSpPr>
          <p:cNvPr id="43" name="Shape 38"/>
          <p:cNvSpPr/>
          <p:nvPr/>
        </p:nvSpPr>
        <p:spPr>
          <a:xfrm>
            <a:off x="612648" y="9144000"/>
            <a:ext cx="17062704" cy="566928"/>
          </a:xfrm>
          <a:prstGeom prst="roundRect">
            <a:avLst>
              <a:gd name="adj" fmla="val 12903"/>
            </a:avLst>
          </a:prstGeom>
          <a:solidFill>
            <a:srgbClr val="251833"/>
          </a:solidFill>
          <a:ln/>
        </p:spPr>
      </p:sp>
      <p:sp>
        <p:nvSpPr>
          <p:cNvPr id="44" name="Text 39"/>
          <p:cNvSpPr/>
          <p:nvPr/>
        </p:nvSpPr>
        <p:spPr>
          <a:xfrm>
            <a:off x="841248" y="9144000"/>
            <a:ext cx="1463040" cy="566928"/>
          </a:xfrm>
          <a:prstGeom prst="rect">
            <a:avLst/>
          </a:prstGeom>
          <a:noFill/>
          <a:ln/>
        </p:spPr>
        <p:txBody>
          <a:bodyPr wrap="square" lIns="0" tIns="0" rIns="0" bIns="0" rtlCol="0" anchor="ctr"/>
          <a:lstStyle/>
          <a:p>
            <a:pPr indent="0" marL="0">
              <a:buNone/>
            </a:pPr>
            <a:r>
              <a:rPr lang="en-US" sz="1300" spc="100" kern="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5" name="Text 40"/>
          <p:cNvSpPr/>
          <p:nvPr/>
        </p:nvSpPr>
        <p:spPr>
          <a:xfrm>
            <a:off x="2304288" y="9144000"/>
            <a:ext cx="15142464" cy="56692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Licensed people are using Copilot week after week, and here's where it shows up in their day.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F8"/>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637087"/>
                </a:solidFill>
                <a:latin typeface="Segoe UI" pitchFamily="34" charset="0"/>
                <a:ea typeface="Segoe UI" pitchFamily="34" charset="-122"/>
                <a:cs typeface="Segoe UI" pitchFamily="34" charset="-120"/>
              </a:rPr>
              <a:t>09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indent="0" marL="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ACT 2 · IS IT BECOMING A HABIT?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251833"/>
                </a:solidFill>
                <a:latin typeface="Segoe UI Semibold" pitchFamily="34" charset="0"/>
                <a:ea typeface="Segoe UI Semibold" pitchFamily="34" charset="-122"/>
                <a:cs typeface="Segoe UI Semibold" pitchFamily="34" charset="-120"/>
              </a:rPr>
              <a:t>Copilot Chat: regular use without a license</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indent="0" marL="0">
              <a:buNone/>
            </a:pPr>
            <a:r>
              <a:rPr lang="en-US" sz="2000" dirty="0">
                <a:solidFill>
                  <a:srgbClr val="637087"/>
                </a:solidFill>
                <a:latin typeface="Segoe UI" pitchFamily="34" charset="0"/>
                <a:ea typeface="Segoe UI" pitchFamily="34" charset="-122"/>
                <a:cs typeface="Segoe UI" pitchFamily="34" charset="-120"/>
              </a:rPr>
              <a:t>These pages are named Chat (Web) in the report.</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sp>
      <p:pic>
        <p:nvPicPr>
          <p:cNvPr id="10" name="Image 2" descr="Copilot Chat: Usage Trends page">    </p:cNvPr>
          <p:cNvPicPr>
            <a:picLocks noChangeAspect="1"/>
          </p:cNvPicPr>
          <p:nvPr/>
        </p:nvPicPr>
        <p:blipFill>
          <a:blip r:embed="rId3"/>
          <a:stretch>
            <a:fillRect/>
          </a:stretch>
        </p:blipFill>
        <p:spPr>
          <a:xfrm>
            <a:off x="868680" y="2468880"/>
            <a:ext cx="10003536" cy="6170931"/>
          </a:xfrm>
          <a:prstGeom prst="rect">
            <a:avLst/>
          </a:prstGeom>
        </p:spPr>
      </p:pic>
      <p:sp>
        <p:nvSpPr>
          <p:cNvPr id="11" name="Shape 6"/>
          <p:cNvSpPr/>
          <p:nvPr/>
        </p:nvSpPr>
        <p:spPr>
          <a:xfrm>
            <a:off x="968715" y="3980758"/>
            <a:ext cx="8152882" cy="555384"/>
          </a:xfrm>
          <a:prstGeom prst="roundRect">
            <a:avLst>
              <a:gd name="adj" fmla="val 8232"/>
            </a:avLst>
          </a:prstGeom>
          <a:ln w="22225">
            <a:solidFill>
              <a:srgbClr val="7953B8"/>
            </a:solidFill>
            <a:prstDash val="solid"/>
          </a:ln>
        </p:spPr>
      </p:sp>
      <p:sp>
        <p:nvSpPr>
          <p:cNvPr id="12" name="Shape 7"/>
          <p:cNvSpPr/>
          <p:nvPr/>
        </p:nvSpPr>
        <p:spPr>
          <a:xfrm>
            <a:off x="767547" y="3797878"/>
            <a:ext cx="329184" cy="329184"/>
          </a:xfrm>
          <a:prstGeom prst="ellipse">
            <a:avLst/>
          </a:prstGeom>
          <a:solidFill>
            <a:srgbClr val="7953B8"/>
          </a:solidFill>
          <a:ln w="25400">
            <a:solidFill>
              <a:srgbClr val="FFFFFF"/>
            </a:solidFill>
            <a:prstDash val="solid"/>
          </a:ln>
        </p:spPr>
      </p:sp>
      <p:sp>
        <p:nvSpPr>
          <p:cNvPr id="13" name="Text 8"/>
          <p:cNvSpPr/>
          <p:nvPr/>
        </p:nvSpPr>
        <p:spPr>
          <a:xfrm>
            <a:off x="767547" y="3807022"/>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968715" y="4690415"/>
            <a:ext cx="4051432" cy="1758715"/>
          </a:xfrm>
          <a:prstGeom prst="roundRect">
            <a:avLst>
              <a:gd name="adj" fmla="val 2600"/>
            </a:avLst>
          </a:prstGeom>
          <a:ln w="22225">
            <a:solidFill>
              <a:srgbClr val="008774"/>
            </a:solidFill>
            <a:prstDash val="solid"/>
          </a:ln>
        </p:spPr>
      </p:sp>
      <p:sp>
        <p:nvSpPr>
          <p:cNvPr id="15" name="Shape 10"/>
          <p:cNvSpPr/>
          <p:nvPr/>
        </p:nvSpPr>
        <p:spPr>
          <a:xfrm>
            <a:off x="767547" y="4507535"/>
            <a:ext cx="329184" cy="329184"/>
          </a:xfrm>
          <a:prstGeom prst="ellipse">
            <a:avLst/>
          </a:prstGeom>
          <a:solidFill>
            <a:srgbClr val="008774"/>
          </a:solidFill>
          <a:ln w="25400">
            <a:solidFill>
              <a:srgbClr val="FFFFFF"/>
            </a:solidFill>
            <a:prstDash val="solid"/>
          </a:ln>
        </p:spPr>
      </p:sp>
      <p:sp>
        <p:nvSpPr>
          <p:cNvPr id="16" name="Text 11"/>
          <p:cNvSpPr/>
          <p:nvPr/>
        </p:nvSpPr>
        <p:spPr>
          <a:xfrm>
            <a:off x="767547" y="4516679"/>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5070165" y="6603404"/>
            <a:ext cx="4051432" cy="1912989"/>
          </a:xfrm>
          <a:prstGeom prst="roundRect">
            <a:avLst>
              <a:gd name="adj" fmla="val 2390"/>
            </a:avLst>
          </a:prstGeom>
          <a:ln w="22225">
            <a:solidFill>
              <a:srgbClr val="BF5B25"/>
            </a:solidFill>
            <a:prstDash val="solid"/>
          </a:ln>
        </p:spPr>
      </p:sp>
      <p:sp>
        <p:nvSpPr>
          <p:cNvPr id="18" name="Shape 13"/>
          <p:cNvSpPr/>
          <p:nvPr/>
        </p:nvSpPr>
        <p:spPr>
          <a:xfrm>
            <a:off x="4868997" y="6420524"/>
            <a:ext cx="329184" cy="329184"/>
          </a:xfrm>
          <a:prstGeom prst="ellipse">
            <a:avLst/>
          </a:prstGeom>
          <a:solidFill>
            <a:srgbClr val="BF5B25"/>
          </a:solidFill>
          <a:ln w="25400">
            <a:solidFill>
              <a:srgbClr val="FFFFFF"/>
            </a:solidFill>
            <a:prstDash val="solid"/>
          </a:ln>
        </p:spPr>
      </p:sp>
      <p:sp>
        <p:nvSpPr>
          <p:cNvPr id="19" name="Text 14"/>
          <p:cNvSpPr/>
          <p:nvPr/>
        </p:nvSpPr>
        <p:spPr>
          <a:xfrm>
            <a:off x="4868997" y="6429668"/>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5070165" y="4690415"/>
            <a:ext cx="4051432" cy="1758715"/>
          </a:xfrm>
          <a:prstGeom prst="roundRect">
            <a:avLst>
              <a:gd name="adj" fmla="val 2600"/>
            </a:avLst>
          </a:prstGeom>
          <a:ln w="22225">
            <a:solidFill>
              <a:srgbClr val="4268B2"/>
            </a:solidFill>
            <a:prstDash val="solid"/>
          </a:ln>
        </p:spPr>
      </p:sp>
      <p:sp>
        <p:nvSpPr>
          <p:cNvPr id="21" name="Shape 16"/>
          <p:cNvSpPr/>
          <p:nvPr/>
        </p:nvSpPr>
        <p:spPr>
          <a:xfrm>
            <a:off x="4868997" y="4507535"/>
            <a:ext cx="329184" cy="329184"/>
          </a:xfrm>
          <a:prstGeom prst="ellipse">
            <a:avLst/>
          </a:prstGeom>
          <a:solidFill>
            <a:srgbClr val="4268B2"/>
          </a:solidFill>
          <a:ln w="25400">
            <a:solidFill>
              <a:srgbClr val="FFFFFF"/>
            </a:solidFill>
            <a:prstDash val="solid"/>
          </a:ln>
        </p:spPr>
      </p:sp>
      <p:sp>
        <p:nvSpPr>
          <p:cNvPr id="22" name="Text 17"/>
          <p:cNvSpPr/>
          <p:nvPr/>
        </p:nvSpPr>
        <p:spPr>
          <a:xfrm>
            <a:off x="4868997" y="4516679"/>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23" name="Shape 18"/>
          <p:cNvSpPr/>
          <p:nvPr/>
        </p:nvSpPr>
        <p:spPr>
          <a:xfrm>
            <a:off x="11384280" y="2212848"/>
            <a:ext cx="6291072" cy="1561338"/>
          </a:xfrm>
          <a:prstGeom prst="roundRect">
            <a:avLst>
              <a:gd name="adj" fmla="val 5857"/>
            </a:avLst>
          </a:prstGeom>
          <a:solidFill>
            <a:srgbClr val="FFFFFF"/>
          </a:solidFill>
          <a:ln w="12700">
            <a:solidFill>
              <a:srgbClr val="E2DDEB"/>
            </a:solidFill>
            <a:prstDash val="solid"/>
          </a:ln>
        </p:spPr>
      </p:sp>
      <p:sp>
        <p:nvSpPr>
          <p:cNvPr id="24" name="Shape 19"/>
          <p:cNvSpPr/>
          <p:nvPr/>
        </p:nvSpPr>
        <p:spPr>
          <a:xfrm>
            <a:off x="11567160" y="2395728"/>
            <a:ext cx="347472" cy="347472"/>
          </a:xfrm>
          <a:prstGeom prst="ellipse">
            <a:avLst/>
          </a:prstGeom>
          <a:solidFill>
            <a:srgbClr val="7953B8"/>
          </a:solidFill>
          <a:ln w="25400">
            <a:solidFill>
              <a:srgbClr val="FFFFFF"/>
            </a:solidFill>
            <a:prstDash val="solid"/>
          </a:ln>
        </p:spPr>
      </p:sp>
      <p:sp>
        <p:nvSpPr>
          <p:cNvPr id="25" name="Text 20"/>
          <p:cNvSpPr/>
          <p:nvPr/>
        </p:nvSpPr>
        <p:spPr>
          <a:xfrm>
            <a:off x="11567160" y="2404872"/>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26" name="Text 21"/>
          <p:cNvSpPr/>
          <p:nvPr/>
        </p:nvSpPr>
        <p:spPr>
          <a:xfrm>
            <a:off x="12042648" y="2395728"/>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Who uses chat</a:t>
            </a:r>
            <a:endParaRPr lang="en-US" sz="1900" dirty="0"/>
          </a:p>
        </p:txBody>
      </p:sp>
      <p:sp>
        <p:nvSpPr>
          <p:cNvPr id="27" name="Text 22"/>
          <p:cNvSpPr/>
          <p:nvPr/>
        </p:nvSpPr>
        <p:spPr>
          <a:xfrm>
            <a:off x="11612880" y="2805684"/>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Chat users, weekly sessions per user, month-over-month change and weekly active days.</a:t>
            </a:r>
            <a:endParaRPr lang="en-US" sz="1500" dirty="0"/>
          </a:p>
        </p:txBody>
      </p:sp>
      <p:sp>
        <p:nvSpPr>
          <p:cNvPr id="28" name="Shape 23"/>
          <p:cNvSpPr/>
          <p:nvPr/>
        </p:nvSpPr>
        <p:spPr>
          <a:xfrm>
            <a:off x="11384280" y="3920490"/>
            <a:ext cx="6291072" cy="1561338"/>
          </a:xfrm>
          <a:prstGeom prst="roundRect">
            <a:avLst>
              <a:gd name="adj" fmla="val 5857"/>
            </a:avLst>
          </a:prstGeom>
          <a:solidFill>
            <a:srgbClr val="FFFFFF"/>
          </a:solidFill>
          <a:ln w="12700">
            <a:solidFill>
              <a:srgbClr val="E2DDEB"/>
            </a:solidFill>
            <a:prstDash val="solid"/>
          </a:ln>
        </p:spPr>
      </p:sp>
      <p:sp>
        <p:nvSpPr>
          <p:cNvPr id="29" name="Shape 24"/>
          <p:cNvSpPr/>
          <p:nvPr/>
        </p:nvSpPr>
        <p:spPr>
          <a:xfrm>
            <a:off x="11567160" y="4103370"/>
            <a:ext cx="347472" cy="347472"/>
          </a:xfrm>
          <a:prstGeom prst="ellipse">
            <a:avLst/>
          </a:prstGeom>
          <a:solidFill>
            <a:srgbClr val="008774"/>
          </a:solidFill>
          <a:ln w="25400">
            <a:solidFill>
              <a:srgbClr val="FFFFFF"/>
            </a:solidFill>
            <a:prstDash val="solid"/>
          </a:ln>
        </p:spPr>
      </p:sp>
      <p:sp>
        <p:nvSpPr>
          <p:cNvPr id="30" name="Text 25"/>
          <p:cNvSpPr/>
          <p:nvPr/>
        </p:nvSpPr>
        <p:spPr>
          <a:xfrm>
            <a:off x="11567160" y="4112514"/>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31" name="Text 26"/>
          <p:cNvSpPr/>
          <p:nvPr/>
        </p:nvSpPr>
        <p:spPr>
          <a:xfrm>
            <a:off x="12042648" y="4103370"/>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Usage trend</a:t>
            </a:r>
            <a:endParaRPr lang="en-US" sz="1900" dirty="0"/>
          </a:p>
        </p:txBody>
      </p:sp>
      <p:sp>
        <p:nvSpPr>
          <p:cNvPr id="32" name="Text 27"/>
          <p:cNvSpPr/>
          <p:nvPr/>
        </p:nvSpPr>
        <p:spPr>
          <a:xfrm>
            <a:off x="11612880" y="4513326"/>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Active users and weekly sessions per user for people without a Copilot license.</a:t>
            </a:r>
            <a:endParaRPr lang="en-US" sz="1500" dirty="0"/>
          </a:p>
        </p:txBody>
      </p:sp>
      <p:sp>
        <p:nvSpPr>
          <p:cNvPr id="33" name="Shape 28"/>
          <p:cNvSpPr/>
          <p:nvPr/>
        </p:nvSpPr>
        <p:spPr>
          <a:xfrm>
            <a:off x="11384280" y="5628132"/>
            <a:ext cx="6291072" cy="1561338"/>
          </a:xfrm>
          <a:prstGeom prst="roundRect">
            <a:avLst>
              <a:gd name="adj" fmla="val 5857"/>
            </a:avLst>
          </a:prstGeom>
          <a:solidFill>
            <a:srgbClr val="FFFFFF"/>
          </a:solidFill>
          <a:ln w="12700">
            <a:solidFill>
              <a:srgbClr val="E2DDEB"/>
            </a:solidFill>
            <a:prstDash val="solid"/>
          </a:ln>
        </p:spPr>
      </p:sp>
      <p:sp>
        <p:nvSpPr>
          <p:cNvPr id="34" name="Shape 29"/>
          <p:cNvSpPr/>
          <p:nvPr/>
        </p:nvSpPr>
        <p:spPr>
          <a:xfrm>
            <a:off x="11567160" y="5811012"/>
            <a:ext cx="347472" cy="347472"/>
          </a:xfrm>
          <a:prstGeom prst="ellipse">
            <a:avLst/>
          </a:prstGeom>
          <a:solidFill>
            <a:srgbClr val="BF5B25"/>
          </a:solidFill>
          <a:ln w="25400">
            <a:solidFill>
              <a:srgbClr val="FFFFFF"/>
            </a:solidFill>
            <a:prstDash val="solid"/>
          </a:ln>
        </p:spPr>
      </p:sp>
      <p:sp>
        <p:nvSpPr>
          <p:cNvPr id="35" name="Text 30"/>
          <p:cNvSpPr/>
          <p:nvPr/>
        </p:nvSpPr>
        <p:spPr>
          <a:xfrm>
            <a:off x="11567160" y="5820156"/>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36" name="Text 31"/>
          <p:cNvSpPr/>
          <p:nvPr/>
        </p:nvSpPr>
        <p:spPr>
          <a:xfrm>
            <a:off x="12042648" y="5811012"/>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Same-day repeat use</a:t>
            </a:r>
            <a:endParaRPr lang="en-US" sz="1900" dirty="0"/>
          </a:p>
        </p:txBody>
      </p:sp>
      <p:sp>
        <p:nvSpPr>
          <p:cNvPr id="37" name="Text 32"/>
          <p:cNvSpPr/>
          <p:nvPr/>
        </p:nvSpPr>
        <p:spPr>
          <a:xfrm>
            <a:off x="11612880" y="6220968"/>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The daily share of active people who had more than one chat session that day.</a:t>
            </a:r>
            <a:endParaRPr lang="en-US" sz="1500" dirty="0"/>
          </a:p>
        </p:txBody>
      </p:sp>
      <p:sp>
        <p:nvSpPr>
          <p:cNvPr id="38" name="Shape 33"/>
          <p:cNvSpPr/>
          <p:nvPr/>
        </p:nvSpPr>
        <p:spPr>
          <a:xfrm>
            <a:off x="11384280" y="7335774"/>
            <a:ext cx="6291072" cy="1561338"/>
          </a:xfrm>
          <a:prstGeom prst="roundRect">
            <a:avLst>
              <a:gd name="adj" fmla="val 5857"/>
            </a:avLst>
          </a:prstGeom>
          <a:solidFill>
            <a:srgbClr val="FFFFFF"/>
          </a:solidFill>
          <a:ln w="12700">
            <a:solidFill>
              <a:srgbClr val="E2DDEB"/>
            </a:solidFill>
            <a:prstDash val="solid"/>
          </a:ln>
        </p:spPr>
      </p:sp>
      <p:sp>
        <p:nvSpPr>
          <p:cNvPr id="39" name="Shape 34"/>
          <p:cNvSpPr/>
          <p:nvPr/>
        </p:nvSpPr>
        <p:spPr>
          <a:xfrm>
            <a:off x="11567160" y="7518654"/>
            <a:ext cx="347472" cy="347472"/>
          </a:xfrm>
          <a:prstGeom prst="ellipse">
            <a:avLst/>
          </a:prstGeom>
          <a:solidFill>
            <a:srgbClr val="4268B2"/>
          </a:solidFill>
          <a:ln w="25400">
            <a:solidFill>
              <a:srgbClr val="FFFFFF"/>
            </a:solidFill>
            <a:prstDash val="solid"/>
          </a:ln>
        </p:spPr>
      </p:sp>
      <p:sp>
        <p:nvSpPr>
          <p:cNvPr id="40" name="Text 35"/>
          <p:cNvSpPr/>
          <p:nvPr/>
        </p:nvSpPr>
        <p:spPr>
          <a:xfrm>
            <a:off x="11567160" y="7527798"/>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41" name="Text 36"/>
          <p:cNvSpPr/>
          <p:nvPr/>
        </p:nvSpPr>
        <p:spPr>
          <a:xfrm>
            <a:off x="12042648" y="7518654"/>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By department</a:t>
            </a:r>
            <a:endParaRPr lang="en-US" sz="1900" dirty="0"/>
          </a:p>
        </p:txBody>
      </p:sp>
      <p:sp>
        <p:nvSpPr>
          <p:cNvPr id="42" name="Text 37"/>
          <p:cNvSpPr/>
          <p:nvPr/>
        </p:nvSpPr>
        <p:spPr>
          <a:xfrm>
            <a:off x="11612880" y="7928610"/>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Weekly chat sessions per user, so you can compare teams of different sizes.</a:t>
            </a:r>
            <a:endParaRPr lang="en-US" sz="1500" dirty="0"/>
          </a:p>
        </p:txBody>
      </p:sp>
      <p:sp>
        <p:nvSpPr>
          <p:cNvPr id="43" name="Shape 38"/>
          <p:cNvSpPr/>
          <p:nvPr/>
        </p:nvSpPr>
        <p:spPr>
          <a:xfrm>
            <a:off x="612648" y="9144000"/>
            <a:ext cx="17062704" cy="566928"/>
          </a:xfrm>
          <a:prstGeom prst="roundRect">
            <a:avLst>
              <a:gd name="adj" fmla="val 12903"/>
            </a:avLst>
          </a:prstGeom>
          <a:solidFill>
            <a:srgbClr val="251833"/>
          </a:solidFill>
          <a:ln/>
        </p:spPr>
      </p:sp>
      <p:sp>
        <p:nvSpPr>
          <p:cNvPr id="44" name="Text 39"/>
          <p:cNvSpPr/>
          <p:nvPr/>
        </p:nvSpPr>
        <p:spPr>
          <a:xfrm>
            <a:off x="841248" y="9144000"/>
            <a:ext cx="1463040" cy="566928"/>
          </a:xfrm>
          <a:prstGeom prst="rect">
            <a:avLst/>
          </a:prstGeom>
          <a:noFill/>
          <a:ln/>
        </p:spPr>
        <p:txBody>
          <a:bodyPr wrap="square" lIns="0" tIns="0" rIns="0" bIns="0" rtlCol="0" anchor="ctr"/>
          <a:lstStyle/>
          <a:p>
            <a:pPr indent="0" marL="0">
              <a:buNone/>
            </a:pPr>
            <a:r>
              <a:rPr lang="en-US" sz="1300" spc="100" kern="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5" name="Text 40"/>
          <p:cNvSpPr/>
          <p:nvPr/>
        </p:nvSpPr>
        <p:spPr>
          <a:xfrm>
            <a:off x="2304288" y="9144000"/>
            <a:ext cx="15142464" cy="56692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Many people already use Copilot Chat regularly, and some come back several times a day.</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F8"/>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637087"/>
                </a:solidFill>
                <a:latin typeface="Segoe UI" pitchFamily="34" charset="0"/>
                <a:ea typeface="Segoe UI" pitchFamily="34" charset="-122"/>
                <a:cs typeface="Segoe UI" pitchFamily="34" charset="-120"/>
              </a:rPr>
              <a:t>10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indent="0" marL="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ACT 3 · WHAT AGENTS ARE DOING</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251833"/>
                </a:solidFill>
                <a:latin typeface="Segoe UI Semibold" pitchFamily="34" charset="0"/>
                <a:ea typeface="Segoe UI Semibold" pitchFamily="34" charset="-122"/>
                <a:cs typeface="Segoe UI Semibold" pitchFamily="34" charset="-120"/>
              </a:rPr>
              <a:t>Agents: who tries them, and who comes back</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indent="0" marL="0">
              <a:buNone/>
            </a:pPr>
            <a:r>
              <a:rPr lang="en-US" sz="2000" dirty="0">
                <a:solidFill>
                  <a:srgbClr val="637087"/>
                </a:solidFill>
                <a:latin typeface="Segoe UI" pitchFamily="34" charset="0"/>
                <a:ea typeface="Segoe UI" pitchFamily="34" charset="-122"/>
                <a:cs typeface="Segoe UI" pitchFamily="34" charset="-120"/>
              </a:rPr>
              <a:t>Agents: Usage Trends shows reach and repeat use across every agent.</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sp>
      <p:pic>
        <p:nvPicPr>
          <p:cNvPr id="10" name="Image 2" descr="Agents: Usage Trends page">    </p:cNvPr>
          <p:cNvPicPr>
            <a:picLocks noChangeAspect="1"/>
          </p:cNvPicPr>
          <p:nvPr/>
        </p:nvPicPr>
        <p:blipFill>
          <a:blip r:embed="rId3"/>
          <a:stretch>
            <a:fillRect/>
          </a:stretch>
        </p:blipFill>
        <p:spPr>
          <a:xfrm>
            <a:off x="868680" y="2468880"/>
            <a:ext cx="10003536" cy="6170931"/>
          </a:xfrm>
          <a:prstGeom prst="rect">
            <a:avLst/>
          </a:prstGeom>
        </p:spPr>
      </p:pic>
      <p:sp>
        <p:nvSpPr>
          <p:cNvPr id="11" name="Shape 6"/>
          <p:cNvSpPr/>
          <p:nvPr/>
        </p:nvSpPr>
        <p:spPr>
          <a:xfrm>
            <a:off x="968715" y="3857340"/>
            <a:ext cx="2851008" cy="709657"/>
          </a:xfrm>
          <a:prstGeom prst="roundRect">
            <a:avLst>
              <a:gd name="adj" fmla="val 6443"/>
            </a:avLst>
          </a:prstGeom>
          <a:ln w="22225">
            <a:solidFill>
              <a:srgbClr val="7953B8"/>
            </a:solidFill>
            <a:prstDash val="solid"/>
          </a:ln>
        </p:spPr>
      </p:sp>
      <p:sp>
        <p:nvSpPr>
          <p:cNvPr id="12" name="Shape 7"/>
          <p:cNvSpPr/>
          <p:nvPr/>
        </p:nvSpPr>
        <p:spPr>
          <a:xfrm>
            <a:off x="767547" y="3674460"/>
            <a:ext cx="329184" cy="329184"/>
          </a:xfrm>
          <a:prstGeom prst="ellipse">
            <a:avLst/>
          </a:prstGeom>
          <a:solidFill>
            <a:srgbClr val="7953B8"/>
          </a:solidFill>
          <a:ln w="25400">
            <a:solidFill>
              <a:srgbClr val="FFFFFF"/>
            </a:solidFill>
            <a:prstDash val="solid"/>
          </a:ln>
        </p:spPr>
      </p:sp>
      <p:sp>
        <p:nvSpPr>
          <p:cNvPr id="13" name="Text 8"/>
          <p:cNvSpPr/>
          <p:nvPr/>
        </p:nvSpPr>
        <p:spPr>
          <a:xfrm>
            <a:off x="767547" y="3683604"/>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3869741" y="3857340"/>
            <a:ext cx="5201839" cy="617093"/>
          </a:xfrm>
          <a:prstGeom prst="roundRect">
            <a:avLst>
              <a:gd name="adj" fmla="val 7409"/>
            </a:avLst>
          </a:prstGeom>
          <a:ln w="22225">
            <a:solidFill>
              <a:srgbClr val="008774"/>
            </a:solidFill>
            <a:prstDash val="solid"/>
          </a:ln>
        </p:spPr>
      </p:sp>
      <p:sp>
        <p:nvSpPr>
          <p:cNvPr id="15" name="Shape 10"/>
          <p:cNvSpPr/>
          <p:nvPr/>
        </p:nvSpPr>
        <p:spPr>
          <a:xfrm>
            <a:off x="3668573" y="3674460"/>
            <a:ext cx="329184" cy="329184"/>
          </a:xfrm>
          <a:prstGeom prst="ellipse">
            <a:avLst/>
          </a:prstGeom>
          <a:solidFill>
            <a:srgbClr val="008774"/>
          </a:solidFill>
          <a:ln w="25400">
            <a:solidFill>
              <a:srgbClr val="FFFFFF"/>
            </a:solidFill>
            <a:prstDash val="solid"/>
          </a:ln>
        </p:spPr>
      </p:sp>
      <p:sp>
        <p:nvSpPr>
          <p:cNvPr id="16" name="Text 11"/>
          <p:cNvSpPr/>
          <p:nvPr/>
        </p:nvSpPr>
        <p:spPr>
          <a:xfrm>
            <a:off x="3668573" y="3683604"/>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968715" y="4566997"/>
            <a:ext cx="4001414" cy="1851279"/>
          </a:xfrm>
          <a:prstGeom prst="roundRect">
            <a:avLst>
              <a:gd name="adj" fmla="val 2470"/>
            </a:avLst>
          </a:prstGeom>
          <a:ln w="22225">
            <a:solidFill>
              <a:srgbClr val="BF5B25"/>
            </a:solidFill>
            <a:prstDash val="solid"/>
          </a:ln>
        </p:spPr>
      </p:sp>
      <p:sp>
        <p:nvSpPr>
          <p:cNvPr id="18" name="Shape 13"/>
          <p:cNvSpPr/>
          <p:nvPr/>
        </p:nvSpPr>
        <p:spPr>
          <a:xfrm>
            <a:off x="767547" y="4384117"/>
            <a:ext cx="329184" cy="329184"/>
          </a:xfrm>
          <a:prstGeom prst="ellipse">
            <a:avLst/>
          </a:prstGeom>
          <a:solidFill>
            <a:srgbClr val="BF5B25"/>
          </a:solidFill>
          <a:ln w="25400">
            <a:solidFill>
              <a:srgbClr val="FFFFFF"/>
            </a:solidFill>
            <a:prstDash val="solid"/>
          </a:ln>
        </p:spPr>
      </p:sp>
      <p:sp>
        <p:nvSpPr>
          <p:cNvPr id="19" name="Text 14"/>
          <p:cNvSpPr/>
          <p:nvPr/>
        </p:nvSpPr>
        <p:spPr>
          <a:xfrm>
            <a:off x="767547" y="4393261"/>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968715" y="6572549"/>
            <a:ext cx="5201839" cy="1974698"/>
          </a:xfrm>
          <a:prstGeom prst="roundRect">
            <a:avLst>
              <a:gd name="adj" fmla="val 2315"/>
            </a:avLst>
          </a:prstGeom>
          <a:ln w="22225">
            <a:solidFill>
              <a:srgbClr val="4268B2"/>
            </a:solidFill>
            <a:prstDash val="solid"/>
          </a:ln>
        </p:spPr>
      </p:sp>
      <p:sp>
        <p:nvSpPr>
          <p:cNvPr id="21" name="Shape 16"/>
          <p:cNvSpPr/>
          <p:nvPr/>
        </p:nvSpPr>
        <p:spPr>
          <a:xfrm>
            <a:off x="767547" y="6389669"/>
            <a:ext cx="329184" cy="329184"/>
          </a:xfrm>
          <a:prstGeom prst="ellipse">
            <a:avLst/>
          </a:prstGeom>
          <a:solidFill>
            <a:srgbClr val="4268B2"/>
          </a:solidFill>
          <a:ln w="25400">
            <a:solidFill>
              <a:srgbClr val="FFFFFF"/>
            </a:solidFill>
            <a:prstDash val="solid"/>
          </a:ln>
        </p:spPr>
      </p:sp>
      <p:sp>
        <p:nvSpPr>
          <p:cNvPr id="22" name="Text 17"/>
          <p:cNvSpPr/>
          <p:nvPr/>
        </p:nvSpPr>
        <p:spPr>
          <a:xfrm>
            <a:off x="767547" y="6398813"/>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23" name="Shape 18"/>
          <p:cNvSpPr/>
          <p:nvPr/>
        </p:nvSpPr>
        <p:spPr>
          <a:xfrm>
            <a:off x="11384280" y="2212848"/>
            <a:ext cx="6291072" cy="1561338"/>
          </a:xfrm>
          <a:prstGeom prst="roundRect">
            <a:avLst>
              <a:gd name="adj" fmla="val 5857"/>
            </a:avLst>
          </a:prstGeom>
          <a:solidFill>
            <a:srgbClr val="FFFFFF"/>
          </a:solidFill>
          <a:ln w="12700">
            <a:solidFill>
              <a:srgbClr val="E2DDEB"/>
            </a:solidFill>
            <a:prstDash val="solid"/>
          </a:ln>
        </p:spPr>
      </p:sp>
      <p:sp>
        <p:nvSpPr>
          <p:cNvPr id="24" name="Shape 19"/>
          <p:cNvSpPr/>
          <p:nvPr/>
        </p:nvSpPr>
        <p:spPr>
          <a:xfrm>
            <a:off x="11567160" y="2395728"/>
            <a:ext cx="347472" cy="347472"/>
          </a:xfrm>
          <a:prstGeom prst="ellipse">
            <a:avLst/>
          </a:prstGeom>
          <a:solidFill>
            <a:srgbClr val="7953B8"/>
          </a:solidFill>
          <a:ln w="25400">
            <a:solidFill>
              <a:srgbClr val="FFFFFF"/>
            </a:solidFill>
            <a:prstDash val="solid"/>
          </a:ln>
        </p:spPr>
      </p:sp>
      <p:sp>
        <p:nvSpPr>
          <p:cNvPr id="25" name="Text 20"/>
          <p:cNvSpPr/>
          <p:nvPr/>
        </p:nvSpPr>
        <p:spPr>
          <a:xfrm>
            <a:off x="11567160" y="2404872"/>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26" name="Text 21"/>
          <p:cNvSpPr/>
          <p:nvPr/>
        </p:nvSpPr>
        <p:spPr>
          <a:xfrm>
            <a:off x="12042648" y="2395728"/>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The leaders</a:t>
            </a:r>
            <a:endParaRPr lang="en-US" sz="1900" dirty="0"/>
          </a:p>
        </p:txBody>
      </p:sp>
      <p:sp>
        <p:nvSpPr>
          <p:cNvPr id="27" name="Text 22"/>
          <p:cNvSpPr/>
          <p:nvPr/>
        </p:nvSpPr>
        <p:spPr>
          <a:xfrm>
            <a:off x="11612880" y="2805684"/>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Which agent reaches the most people and the most organizations. Ties are shown.</a:t>
            </a:r>
            <a:endParaRPr lang="en-US" sz="1500" dirty="0"/>
          </a:p>
        </p:txBody>
      </p:sp>
      <p:sp>
        <p:nvSpPr>
          <p:cNvPr id="28" name="Shape 23"/>
          <p:cNvSpPr/>
          <p:nvPr/>
        </p:nvSpPr>
        <p:spPr>
          <a:xfrm>
            <a:off x="11384280" y="3920490"/>
            <a:ext cx="6291072" cy="1561338"/>
          </a:xfrm>
          <a:prstGeom prst="roundRect">
            <a:avLst>
              <a:gd name="adj" fmla="val 5857"/>
            </a:avLst>
          </a:prstGeom>
          <a:solidFill>
            <a:srgbClr val="FFFFFF"/>
          </a:solidFill>
          <a:ln w="12700">
            <a:solidFill>
              <a:srgbClr val="E2DDEB"/>
            </a:solidFill>
            <a:prstDash val="solid"/>
          </a:ln>
        </p:spPr>
      </p:sp>
      <p:sp>
        <p:nvSpPr>
          <p:cNvPr id="29" name="Shape 24"/>
          <p:cNvSpPr/>
          <p:nvPr/>
        </p:nvSpPr>
        <p:spPr>
          <a:xfrm>
            <a:off x="11567160" y="4103370"/>
            <a:ext cx="347472" cy="347472"/>
          </a:xfrm>
          <a:prstGeom prst="ellipse">
            <a:avLst/>
          </a:prstGeom>
          <a:solidFill>
            <a:srgbClr val="008774"/>
          </a:solidFill>
          <a:ln w="25400">
            <a:solidFill>
              <a:srgbClr val="FFFFFF"/>
            </a:solidFill>
            <a:prstDash val="solid"/>
          </a:ln>
        </p:spPr>
      </p:sp>
      <p:sp>
        <p:nvSpPr>
          <p:cNvPr id="30" name="Text 25"/>
          <p:cNvSpPr/>
          <p:nvPr/>
        </p:nvSpPr>
        <p:spPr>
          <a:xfrm>
            <a:off x="11567160" y="4112514"/>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31" name="Text 26"/>
          <p:cNvSpPr/>
          <p:nvPr/>
        </p:nvSpPr>
        <p:spPr>
          <a:xfrm>
            <a:off x="12042648" y="4103370"/>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The headline numbers</a:t>
            </a:r>
            <a:endParaRPr lang="en-US" sz="1900" dirty="0"/>
          </a:p>
        </p:txBody>
      </p:sp>
      <p:sp>
        <p:nvSpPr>
          <p:cNvPr id="32" name="Text 27"/>
          <p:cNvSpPr/>
          <p:nvPr/>
        </p:nvSpPr>
        <p:spPr>
          <a:xfrm>
            <a:off x="11612880" y="4513326"/>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Active agents, agent users, agent adoption, weekly sessions per user, change in sessions and repeat users.</a:t>
            </a:r>
            <a:endParaRPr lang="en-US" sz="1500" dirty="0"/>
          </a:p>
        </p:txBody>
      </p:sp>
      <p:sp>
        <p:nvSpPr>
          <p:cNvPr id="33" name="Shape 28"/>
          <p:cNvSpPr/>
          <p:nvPr/>
        </p:nvSpPr>
        <p:spPr>
          <a:xfrm>
            <a:off x="11384280" y="5628132"/>
            <a:ext cx="6291072" cy="1561338"/>
          </a:xfrm>
          <a:prstGeom prst="roundRect">
            <a:avLst>
              <a:gd name="adj" fmla="val 5857"/>
            </a:avLst>
          </a:prstGeom>
          <a:solidFill>
            <a:srgbClr val="FFFFFF"/>
          </a:solidFill>
          <a:ln w="12700">
            <a:solidFill>
              <a:srgbClr val="E2DDEB"/>
            </a:solidFill>
            <a:prstDash val="solid"/>
          </a:ln>
        </p:spPr>
      </p:sp>
      <p:sp>
        <p:nvSpPr>
          <p:cNvPr id="34" name="Shape 29"/>
          <p:cNvSpPr/>
          <p:nvPr/>
        </p:nvSpPr>
        <p:spPr>
          <a:xfrm>
            <a:off x="11567160" y="5811012"/>
            <a:ext cx="347472" cy="347472"/>
          </a:xfrm>
          <a:prstGeom prst="ellipse">
            <a:avLst/>
          </a:prstGeom>
          <a:solidFill>
            <a:srgbClr val="BF5B25"/>
          </a:solidFill>
          <a:ln w="25400">
            <a:solidFill>
              <a:srgbClr val="FFFFFF"/>
            </a:solidFill>
            <a:prstDash val="solid"/>
          </a:ln>
        </p:spPr>
      </p:sp>
      <p:sp>
        <p:nvSpPr>
          <p:cNvPr id="35" name="Text 30"/>
          <p:cNvSpPr/>
          <p:nvPr/>
        </p:nvSpPr>
        <p:spPr>
          <a:xfrm>
            <a:off x="11567160" y="5820156"/>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36" name="Text 31"/>
          <p:cNvSpPr/>
          <p:nvPr/>
        </p:nvSpPr>
        <p:spPr>
          <a:xfrm>
            <a:off x="12042648" y="5811012"/>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Growth over time</a:t>
            </a:r>
            <a:endParaRPr lang="en-US" sz="1900" dirty="0"/>
          </a:p>
        </p:txBody>
      </p:sp>
      <p:sp>
        <p:nvSpPr>
          <p:cNvPr id="37" name="Text 32"/>
          <p:cNvSpPr/>
          <p:nvPr/>
        </p:nvSpPr>
        <p:spPr>
          <a:xfrm>
            <a:off x="11612880" y="6220968"/>
            <a:ext cx="5833872" cy="30632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Agent users and sessions over the selected dates.</a:t>
            </a:r>
            <a:endParaRPr lang="en-US" sz="1500" dirty="0"/>
          </a:p>
        </p:txBody>
      </p:sp>
      <p:sp>
        <p:nvSpPr>
          <p:cNvPr id="38" name="Shape 33"/>
          <p:cNvSpPr/>
          <p:nvPr/>
        </p:nvSpPr>
        <p:spPr>
          <a:xfrm>
            <a:off x="11384280" y="7335774"/>
            <a:ext cx="6291072" cy="1561338"/>
          </a:xfrm>
          <a:prstGeom prst="roundRect">
            <a:avLst>
              <a:gd name="adj" fmla="val 5857"/>
            </a:avLst>
          </a:prstGeom>
          <a:solidFill>
            <a:srgbClr val="FFFFFF"/>
          </a:solidFill>
          <a:ln w="12700">
            <a:solidFill>
              <a:srgbClr val="E2DDEB"/>
            </a:solidFill>
            <a:prstDash val="solid"/>
          </a:ln>
        </p:spPr>
      </p:sp>
      <p:sp>
        <p:nvSpPr>
          <p:cNvPr id="39" name="Shape 34"/>
          <p:cNvSpPr/>
          <p:nvPr/>
        </p:nvSpPr>
        <p:spPr>
          <a:xfrm>
            <a:off x="11567160" y="7518654"/>
            <a:ext cx="347472" cy="347472"/>
          </a:xfrm>
          <a:prstGeom prst="ellipse">
            <a:avLst/>
          </a:prstGeom>
          <a:solidFill>
            <a:srgbClr val="4268B2"/>
          </a:solidFill>
          <a:ln w="25400">
            <a:solidFill>
              <a:srgbClr val="FFFFFF"/>
            </a:solidFill>
            <a:prstDash val="solid"/>
          </a:ln>
        </p:spPr>
      </p:sp>
      <p:sp>
        <p:nvSpPr>
          <p:cNvPr id="40" name="Text 35"/>
          <p:cNvSpPr/>
          <p:nvPr/>
        </p:nvSpPr>
        <p:spPr>
          <a:xfrm>
            <a:off x="11567160" y="7527798"/>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41" name="Text 36"/>
          <p:cNvSpPr/>
          <p:nvPr/>
        </p:nvSpPr>
        <p:spPr>
          <a:xfrm>
            <a:off x="12042648" y="7518654"/>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Top 5 agents by sessions</a:t>
            </a:r>
            <a:endParaRPr lang="en-US" sz="1900" dirty="0"/>
          </a:p>
        </p:txBody>
      </p:sp>
      <p:sp>
        <p:nvSpPr>
          <p:cNvPr id="42" name="Text 37"/>
          <p:cNvSpPr/>
          <p:nvPr/>
        </p:nvSpPr>
        <p:spPr>
          <a:xfrm>
            <a:off x="11612880" y="7928610"/>
            <a:ext cx="5833872" cy="30632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Select an agent to filter the page and read its description.</a:t>
            </a:r>
            <a:endParaRPr lang="en-US" sz="1500" dirty="0"/>
          </a:p>
        </p:txBody>
      </p:sp>
      <p:sp>
        <p:nvSpPr>
          <p:cNvPr id="43" name="Shape 38"/>
          <p:cNvSpPr/>
          <p:nvPr/>
        </p:nvSpPr>
        <p:spPr>
          <a:xfrm>
            <a:off x="612648" y="9144000"/>
            <a:ext cx="17062704" cy="566928"/>
          </a:xfrm>
          <a:prstGeom prst="roundRect">
            <a:avLst>
              <a:gd name="adj" fmla="val 12903"/>
            </a:avLst>
          </a:prstGeom>
          <a:solidFill>
            <a:srgbClr val="251833"/>
          </a:solidFill>
          <a:ln/>
        </p:spPr>
      </p:sp>
      <p:sp>
        <p:nvSpPr>
          <p:cNvPr id="44" name="Text 39"/>
          <p:cNvSpPr/>
          <p:nvPr/>
        </p:nvSpPr>
        <p:spPr>
          <a:xfrm>
            <a:off x="841248" y="9144000"/>
            <a:ext cx="1463040" cy="566928"/>
          </a:xfrm>
          <a:prstGeom prst="rect">
            <a:avLst/>
          </a:prstGeom>
          <a:noFill/>
          <a:ln/>
        </p:spPr>
        <p:txBody>
          <a:bodyPr wrap="square" lIns="0" tIns="0" rIns="0" bIns="0" rtlCol="0" anchor="ctr"/>
          <a:lstStyle/>
          <a:p>
            <a:pPr indent="0" marL="0">
              <a:buNone/>
            </a:pPr>
            <a:r>
              <a:rPr lang="en-US" sz="1300" spc="100" kern="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5" name="Text 40"/>
          <p:cNvSpPr/>
          <p:nvPr/>
        </p:nvSpPr>
        <p:spPr>
          <a:xfrm>
            <a:off x="2304288" y="9144000"/>
            <a:ext cx="15142464" cy="56692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Agents are reaching more people, and most people who try one come back.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F8"/>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637087"/>
                </a:solidFill>
                <a:latin typeface="Segoe UI" pitchFamily="34" charset="0"/>
                <a:ea typeface="Segoe UI" pitchFamily="34" charset="-122"/>
                <a:cs typeface="Segoe UI" pitchFamily="34" charset="-120"/>
              </a:rPr>
              <a:t>11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indent="0" marL="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ACT 3 · WHAT AGENTS ARE DOING</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251833"/>
                </a:solidFill>
                <a:latin typeface="Segoe UI Semibold" pitchFamily="34" charset="0"/>
                <a:ea typeface="Segoe UI Semibold" pitchFamily="34" charset="-122"/>
                <a:cs typeface="Segoe UI Semibold" pitchFamily="34" charset="-120"/>
              </a:rPr>
              <a:t>Decide which agents need a conversation</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indent="0" marL="0">
              <a:buNone/>
            </a:pPr>
            <a:r>
              <a:rPr lang="en-US" sz="2000" dirty="0">
                <a:solidFill>
                  <a:srgbClr val="637087"/>
                </a:solidFill>
                <a:latin typeface="Segoe UI" pitchFamily="34" charset="0"/>
                <a:ea typeface="Segoe UI" pitchFamily="34" charset="-122"/>
                <a:cs typeface="Segoe UI" pitchFamily="34" charset="-120"/>
              </a:rPr>
              <a:t>Agents: Health Check gives every agent a starting label, based on your team and dates.</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sp>
      <p:pic>
        <p:nvPicPr>
          <p:cNvPr id="10" name="Image 2" descr="Agents Health Check page">    </p:cNvPr>
          <p:cNvPicPr>
            <a:picLocks noChangeAspect="1"/>
          </p:cNvPicPr>
          <p:nvPr/>
        </p:nvPicPr>
        <p:blipFill>
          <a:blip r:embed="rId3"/>
          <a:stretch>
            <a:fillRect/>
          </a:stretch>
        </p:blipFill>
        <p:spPr>
          <a:xfrm>
            <a:off x="868680" y="2468880"/>
            <a:ext cx="10003536" cy="6170931"/>
          </a:xfrm>
          <a:prstGeom prst="rect">
            <a:avLst/>
          </a:prstGeom>
        </p:spPr>
      </p:pic>
      <p:sp>
        <p:nvSpPr>
          <p:cNvPr id="11" name="Shape 6"/>
          <p:cNvSpPr/>
          <p:nvPr/>
        </p:nvSpPr>
        <p:spPr>
          <a:xfrm>
            <a:off x="968715" y="4968107"/>
            <a:ext cx="5852069" cy="2715210"/>
          </a:xfrm>
          <a:prstGeom prst="roundRect">
            <a:avLst>
              <a:gd name="adj" fmla="val 1684"/>
            </a:avLst>
          </a:prstGeom>
          <a:ln w="22225">
            <a:solidFill>
              <a:srgbClr val="7953B8"/>
            </a:solidFill>
            <a:prstDash val="solid"/>
          </a:ln>
        </p:spPr>
      </p:sp>
      <p:sp>
        <p:nvSpPr>
          <p:cNvPr id="12" name="Shape 7"/>
          <p:cNvSpPr/>
          <p:nvPr/>
        </p:nvSpPr>
        <p:spPr>
          <a:xfrm>
            <a:off x="767547" y="4785227"/>
            <a:ext cx="329184" cy="329184"/>
          </a:xfrm>
          <a:prstGeom prst="ellipse">
            <a:avLst/>
          </a:prstGeom>
          <a:solidFill>
            <a:srgbClr val="7953B8"/>
          </a:solidFill>
          <a:ln w="25400">
            <a:solidFill>
              <a:srgbClr val="FFFFFF"/>
            </a:solidFill>
            <a:prstDash val="solid"/>
          </a:ln>
        </p:spPr>
      </p:sp>
      <p:sp>
        <p:nvSpPr>
          <p:cNvPr id="13" name="Text 8"/>
          <p:cNvSpPr/>
          <p:nvPr/>
        </p:nvSpPr>
        <p:spPr>
          <a:xfrm>
            <a:off x="767547" y="4794371"/>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6870802" y="6078875"/>
            <a:ext cx="2050725" cy="1079913"/>
          </a:xfrm>
          <a:prstGeom prst="roundRect">
            <a:avLst>
              <a:gd name="adj" fmla="val 4234"/>
            </a:avLst>
          </a:prstGeom>
          <a:ln w="22225">
            <a:solidFill>
              <a:srgbClr val="008774"/>
            </a:solidFill>
            <a:prstDash val="solid"/>
          </a:ln>
        </p:spPr>
      </p:sp>
      <p:sp>
        <p:nvSpPr>
          <p:cNvPr id="15" name="Shape 10"/>
          <p:cNvSpPr/>
          <p:nvPr/>
        </p:nvSpPr>
        <p:spPr>
          <a:xfrm>
            <a:off x="6669634" y="5895995"/>
            <a:ext cx="329184" cy="329184"/>
          </a:xfrm>
          <a:prstGeom prst="ellipse">
            <a:avLst/>
          </a:prstGeom>
          <a:solidFill>
            <a:srgbClr val="008774"/>
          </a:solidFill>
          <a:ln w="25400">
            <a:solidFill>
              <a:srgbClr val="FFFFFF"/>
            </a:solidFill>
            <a:prstDash val="solid"/>
          </a:ln>
        </p:spPr>
      </p:sp>
      <p:sp>
        <p:nvSpPr>
          <p:cNvPr id="16" name="Text 11"/>
          <p:cNvSpPr/>
          <p:nvPr/>
        </p:nvSpPr>
        <p:spPr>
          <a:xfrm>
            <a:off x="6669634" y="5905139"/>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11384280" y="2212848"/>
            <a:ext cx="6291072" cy="1243584"/>
          </a:xfrm>
          <a:prstGeom prst="roundRect">
            <a:avLst>
              <a:gd name="adj" fmla="val 7353"/>
            </a:avLst>
          </a:prstGeom>
          <a:solidFill>
            <a:srgbClr val="FFFFFF"/>
          </a:solidFill>
          <a:ln w="12700">
            <a:solidFill>
              <a:srgbClr val="E2DDEB"/>
            </a:solidFill>
            <a:prstDash val="solid"/>
          </a:ln>
        </p:spPr>
      </p:sp>
      <p:sp>
        <p:nvSpPr>
          <p:cNvPr id="18" name="Shape 13"/>
          <p:cNvSpPr/>
          <p:nvPr/>
        </p:nvSpPr>
        <p:spPr>
          <a:xfrm>
            <a:off x="11384280" y="2377440"/>
            <a:ext cx="82296" cy="914400"/>
          </a:xfrm>
          <a:prstGeom prst="rect">
            <a:avLst/>
          </a:prstGeom>
          <a:solidFill>
            <a:srgbClr val="008774"/>
          </a:solidFill>
          <a:ln/>
        </p:spPr>
      </p:sp>
      <p:sp>
        <p:nvSpPr>
          <p:cNvPr id="19" name="Text 14"/>
          <p:cNvSpPr/>
          <p:nvPr/>
        </p:nvSpPr>
        <p:spPr>
          <a:xfrm>
            <a:off x="11704320" y="2359152"/>
            <a:ext cx="5760720" cy="384048"/>
          </a:xfrm>
          <a:prstGeom prst="rect">
            <a:avLst/>
          </a:prstGeom>
          <a:noFill/>
          <a:ln/>
        </p:spPr>
        <p:txBody>
          <a:bodyPr wrap="square" lIns="0" tIns="0" rIns="0" bIns="0" rtlCol="0" anchor="ctr"/>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High impact</a:t>
            </a:r>
            <a:endParaRPr lang="en-US" sz="1900" dirty="0"/>
          </a:p>
        </p:txBody>
      </p:sp>
      <p:sp>
        <p:nvSpPr>
          <p:cNvPr id="20" name="Text 15"/>
          <p:cNvSpPr/>
          <p:nvPr/>
        </p:nvSpPr>
        <p:spPr>
          <a:xfrm>
            <a:off x="11704320" y="2761488"/>
            <a:ext cx="5760720" cy="566928"/>
          </a:xfrm>
          <a:prstGeom prst="rect">
            <a:avLst/>
          </a:prstGeom>
          <a:noFill/>
          <a:ln/>
        </p:spPr>
        <p:txBody>
          <a:bodyPr wrap="square" lIns="0" tIns="0" rIns="0" bIns="0" rtlCol="0" anchor="t"/>
          <a:lstStyle/>
          <a:p>
            <a:pPr indent="0" marL="0">
              <a:buNone/>
            </a:pPr>
            <a:r>
              <a:rPr lang="en-US" sz="1450" dirty="0">
                <a:solidFill>
                  <a:srgbClr val="637087"/>
                </a:solidFill>
                <a:latin typeface="Segoe UI" pitchFamily="34" charset="0"/>
                <a:ea typeface="Segoe UI" pitchFamily="34" charset="-122"/>
                <a:cs typeface="Segoe UI" pitchFamily="34" charset="-120"/>
              </a:rPr>
              <a:t>Reaches many users and organizations for its type.</a:t>
            </a:r>
            <a:endParaRPr lang="en-US" sz="1450" dirty="0"/>
          </a:p>
        </p:txBody>
      </p:sp>
      <p:sp>
        <p:nvSpPr>
          <p:cNvPr id="21" name="Shape 16"/>
          <p:cNvSpPr/>
          <p:nvPr/>
        </p:nvSpPr>
        <p:spPr>
          <a:xfrm>
            <a:off x="11384280" y="3584448"/>
            <a:ext cx="6291072" cy="1243584"/>
          </a:xfrm>
          <a:prstGeom prst="roundRect">
            <a:avLst>
              <a:gd name="adj" fmla="val 7353"/>
            </a:avLst>
          </a:prstGeom>
          <a:solidFill>
            <a:srgbClr val="FFFFFF"/>
          </a:solidFill>
          <a:ln w="12700">
            <a:solidFill>
              <a:srgbClr val="E2DDEB"/>
            </a:solidFill>
            <a:prstDash val="solid"/>
          </a:ln>
        </p:spPr>
      </p:sp>
      <p:sp>
        <p:nvSpPr>
          <p:cNvPr id="22" name="Shape 17"/>
          <p:cNvSpPr/>
          <p:nvPr/>
        </p:nvSpPr>
        <p:spPr>
          <a:xfrm>
            <a:off x="11384280" y="3749040"/>
            <a:ext cx="82296" cy="914400"/>
          </a:xfrm>
          <a:prstGeom prst="rect">
            <a:avLst/>
          </a:prstGeom>
          <a:solidFill>
            <a:srgbClr val="4268B2"/>
          </a:solidFill>
          <a:ln/>
        </p:spPr>
      </p:sp>
      <p:sp>
        <p:nvSpPr>
          <p:cNvPr id="23" name="Text 18"/>
          <p:cNvSpPr/>
          <p:nvPr/>
        </p:nvSpPr>
        <p:spPr>
          <a:xfrm>
            <a:off x="11704320" y="3730752"/>
            <a:ext cx="5760720" cy="384048"/>
          </a:xfrm>
          <a:prstGeom prst="rect">
            <a:avLst/>
          </a:prstGeom>
          <a:noFill/>
          <a:ln/>
        </p:spPr>
        <p:txBody>
          <a:bodyPr wrap="square" lIns="0" tIns="0" rIns="0" bIns="0" rtlCol="0" anchor="ctr"/>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Keep</a:t>
            </a:r>
            <a:endParaRPr lang="en-US" sz="1900" dirty="0"/>
          </a:p>
        </p:txBody>
      </p:sp>
      <p:sp>
        <p:nvSpPr>
          <p:cNvPr id="24" name="Text 19"/>
          <p:cNvSpPr/>
          <p:nvPr/>
        </p:nvSpPr>
        <p:spPr>
          <a:xfrm>
            <a:off x="11704320" y="4133088"/>
            <a:ext cx="5760720" cy="566928"/>
          </a:xfrm>
          <a:prstGeom prst="rect">
            <a:avLst/>
          </a:prstGeom>
          <a:noFill/>
          <a:ln/>
        </p:spPr>
        <p:txBody>
          <a:bodyPr wrap="square" lIns="0" tIns="0" rIns="0" bIns="0" rtlCol="0" anchor="t"/>
          <a:lstStyle/>
          <a:p>
            <a:pPr indent="0" marL="0">
              <a:buNone/>
            </a:pPr>
            <a:r>
              <a:rPr lang="en-US" sz="1450" dirty="0">
                <a:solidFill>
                  <a:srgbClr val="637087"/>
                </a:solidFill>
                <a:latin typeface="Segoe UI" pitchFamily="34" charset="0"/>
                <a:ea typeface="Segoe UI" pitchFamily="34" charset="-122"/>
                <a:cs typeface="Segoe UI" pitchFamily="34" charset="-120"/>
              </a:rPr>
              <a:t>Used recently, without reaching the high-impact thresholds.</a:t>
            </a:r>
            <a:endParaRPr lang="en-US" sz="1450" dirty="0"/>
          </a:p>
        </p:txBody>
      </p:sp>
      <p:sp>
        <p:nvSpPr>
          <p:cNvPr id="25" name="Shape 20"/>
          <p:cNvSpPr/>
          <p:nvPr/>
        </p:nvSpPr>
        <p:spPr>
          <a:xfrm>
            <a:off x="11384280" y="4956048"/>
            <a:ext cx="6291072" cy="1243584"/>
          </a:xfrm>
          <a:prstGeom prst="roundRect">
            <a:avLst>
              <a:gd name="adj" fmla="val 7353"/>
            </a:avLst>
          </a:prstGeom>
          <a:solidFill>
            <a:srgbClr val="FFFFFF"/>
          </a:solidFill>
          <a:ln w="12700">
            <a:solidFill>
              <a:srgbClr val="E2DDEB"/>
            </a:solidFill>
            <a:prstDash val="solid"/>
          </a:ln>
        </p:spPr>
      </p:sp>
      <p:sp>
        <p:nvSpPr>
          <p:cNvPr id="26" name="Shape 21"/>
          <p:cNvSpPr/>
          <p:nvPr/>
        </p:nvSpPr>
        <p:spPr>
          <a:xfrm>
            <a:off x="11384280" y="5120640"/>
            <a:ext cx="82296" cy="914400"/>
          </a:xfrm>
          <a:prstGeom prst="rect">
            <a:avLst/>
          </a:prstGeom>
          <a:solidFill>
            <a:srgbClr val="BF5B25"/>
          </a:solidFill>
          <a:ln/>
        </p:spPr>
      </p:sp>
      <p:sp>
        <p:nvSpPr>
          <p:cNvPr id="27" name="Text 22"/>
          <p:cNvSpPr/>
          <p:nvPr/>
        </p:nvSpPr>
        <p:spPr>
          <a:xfrm>
            <a:off x="11704320" y="5102352"/>
            <a:ext cx="5760720" cy="384048"/>
          </a:xfrm>
          <a:prstGeom prst="rect">
            <a:avLst/>
          </a:prstGeom>
          <a:noFill/>
          <a:ln/>
        </p:spPr>
        <p:txBody>
          <a:bodyPr wrap="square" lIns="0" tIns="0" rIns="0" bIns="0" rtlCol="0" anchor="ctr"/>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Review</a:t>
            </a:r>
            <a:endParaRPr lang="en-US" sz="1900" dirty="0"/>
          </a:p>
        </p:txBody>
      </p:sp>
      <p:sp>
        <p:nvSpPr>
          <p:cNvPr id="28" name="Text 23"/>
          <p:cNvSpPr/>
          <p:nvPr/>
        </p:nvSpPr>
        <p:spPr>
          <a:xfrm>
            <a:off x="11704320" y="5504688"/>
            <a:ext cx="5760720" cy="566928"/>
          </a:xfrm>
          <a:prstGeom prst="rect">
            <a:avLst/>
          </a:prstGeom>
          <a:noFill/>
          <a:ln/>
        </p:spPr>
        <p:txBody>
          <a:bodyPr wrap="square" lIns="0" tIns="0" rIns="0" bIns="0" rtlCol="0" anchor="t"/>
          <a:lstStyle/>
          <a:p>
            <a:pPr indent="0" marL="0">
              <a:buNone/>
            </a:pPr>
            <a:r>
              <a:rPr lang="en-US" sz="1450" dirty="0">
                <a:solidFill>
                  <a:srgbClr val="637087"/>
                </a:solidFill>
                <a:latin typeface="Segoe UI" pitchFamily="34" charset="0"/>
                <a:ea typeface="Segoe UI" pitchFamily="34" charset="-122"/>
                <a:cs typeface="Segoe UI" pitchFamily="34" charset="-120"/>
              </a:rPr>
              <a:t>Last used more than 60 days before the end of your dates.</a:t>
            </a:r>
            <a:endParaRPr lang="en-US" sz="1450" dirty="0"/>
          </a:p>
        </p:txBody>
      </p:sp>
      <p:sp>
        <p:nvSpPr>
          <p:cNvPr id="29" name="Shape 24"/>
          <p:cNvSpPr/>
          <p:nvPr/>
        </p:nvSpPr>
        <p:spPr>
          <a:xfrm>
            <a:off x="11384280" y="6327648"/>
            <a:ext cx="6291072" cy="1243584"/>
          </a:xfrm>
          <a:prstGeom prst="roundRect">
            <a:avLst>
              <a:gd name="adj" fmla="val 7353"/>
            </a:avLst>
          </a:prstGeom>
          <a:solidFill>
            <a:srgbClr val="FFFFFF"/>
          </a:solidFill>
          <a:ln w="12700">
            <a:solidFill>
              <a:srgbClr val="E2DDEB"/>
            </a:solidFill>
            <a:prstDash val="solid"/>
          </a:ln>
        </p:spPr>
      </p:sp>
      <p:sp>
        <p:nvSpPr>
          <p:cNvPr id="30" name="Shape 25"/>
          <p:cNvSpPr/>
          <p:nvPr/>
        </p:nvSpPr>
        <p:spPr>
          <a:xfrm>
            <a:off x="11384280" y="6492240"/>
            <a:ext cx="82296" cy="914400"/>
          </a:xfrm>
          <a:prstGeom prst="rect">
            <a:avLst/>
          </a:prstGeom>
          <a:solidFill>
            <a:srgbClr val="52617A"/>
          </a:solidFill>
          <a:ln/>
        </p:spPr>
      </p:sp>
      <p:sp>
        <p:nvSpPr>
          <p:cNvPr id="31" name="Text 26"/>
          <p:cNvSpPr/>
          <p:nvPr/>
        </p:nvSpPr>
        <p:spPr>
          <a:xfrm>
            <a:off x="11704320" y="6473952"/>
            <a:ext cx="5760720" cy="384048"/>
          </a:xfrm>
          <a:prstGeom prst="rect">
            <a:avLst/>
          </a:prstGeom>
          <a:noFill/>
          <a:ln/>
        </p:spPr>
        <p:txBody>
          <a:bodyPr wrap="square" lIns="0" tIns="0" rIns="0" bIns="0" rtlCol="0" anchor="ctr"/>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No usage</a:t>
            </a:r>
            <a:endParaRPr lang="en-US" sz="1900" dirty="0"/>
          </a:p>
        </p:txBody>
      </p:sp>
      <p:sp>
        <p:nvSpPr>
          <p:cNvPr id="32" name="Text 27"/>
          <p:cNvSpPr/>
          <p:nvPr/>
        </p:nvSpPr>
        <p:spPr>
          <a:xfrm>
            <a:off x="11704320" y="6876288"/>
            <a:ext cx="5760720" cy="566928"/>
          </a:xfrm>
          <a:prstGeom prst="rect">
            <a:avLst/>
          </a:prstGeom>
          <a:noFill/>
          <a:ln/>
        </p:spPr>
        <p:txBody>
          <a:bodyPr wrap="square" lIns="0" tIns="0" rIns="0" bIns="0" rtlCol="0" anchor="t"/>
          <a:lstStyle/>
          <a:p>
            <a:pPr indent="0" marL="0">
              <a:buNone/>
            </a:pPr>
            <a:r>
              <a:rPr lang="en-US" sz="1450" dirty="0">
                <a:solidFill>
                  <a:srgbClr val="637087"/>
                </a:solidFill>
                <a:latin typeface="Segoe UI" pitchFamily="34" charset="0"/>
                <a:ea typeface="Segoe UI" pitchFamily="34" charset="-122"/>
                <a:cs typeface="Segoe UI" pitchFamily="34" charset="-120"/>
              </a:rPr>
              <a:t>No recorded activity for your team and dates.</a:t>
            </a:r>
            <a:endParaRPr lang="en-US" sz="1450" dirty="0"/>
          </a:p>
        </p:txBody>
      </p:sp>
      <p:sp>
        <p:nvSpPr>
          <p:cNvPr id="33" name="Shape 28"/>
          <p:cNvSpPr/>
          <p:nvPr/>
        </p:nvSpPr>
        <p:spPr>
          <a:xfrm>
            <a:off x="11384280" y="7699248"/>
            <a:ext cx="6291072" cy="1197864"/>
          </a:xfrm>
          <a:prstGeom prst="roundRect">
            <a:avLst>
              <a:gd name="adj" fmla="val 7634"/>
            </a:avLst>
          </a:prstGeom>
          <a:solidFill>
            <a:srgbClr val="ECE5F4"/>
          </a:solidFill>
          <a:ln/>
        </p:spPr>
      </p:sp>
      <p:sp>
        <p:nvSpPr>
          <p:cNvPr id="34" name="Text 29"/>
          <p:cNvSpPr/>
          <p:nvPr/>
        </p:nvSpPr>
        <p:spPr>
          <a:xfrm>
            <a:off x="11612880" y="7836408"/>
            <a:ext cx="5852160" cy="923544"/>
          </a:xfrm>
          <a:prstGeom prst="rect">
            <a:avLst/>
          </a:prstGeom>
          <a:noFill/>
          <a:ln/>
        </p:spPr>
        <p:txBody>
          <a:bodyPr wrap="square" lIns="0" tIns="0" rIns="0" bIns="0" rtlCol="0" anchor="ctr"/>
          <a:lstStyle/>
          <a:p>
            <a:pPr indent="0" marL="0">
              <a:buNone/>
            </a:pPr>
            <a:r>
              <a:rPr lang="en-US" sz="1350" dirty="0">
                <a:solidFill>
                  <a:srgbClr val="26354A"/>
                </a:solidFill>
                <a:latin typeface="Segoe UI" pitchFamily="34" charset="0"/>
                <a:ea typeface="Segoe UI" pitchFamily="34" charset="-122"/>
                <a:cs typeface="Segoe UI" pitchFamily="34" charset="-120"/>
              </a:rPr>
              <a:t>High impact means at least 100 users and 10 organizations for Microsoft agents, 30 and 3 for Agent Builder agents, and 50 and 5 for others. These are starting points, not proof of value.</a:t>
            </a:r>
            <a:endParaRPr lang="en-US" sz="1350" dirty="0"/>
          </a:p>
        </p:txBody>
      </p:sp>
      <p:sp>
        <p:nvSpPr>
          <p:cNvPr id="35" name="Shape 30"/>
          <p:cNvSpPr/>
          <p:nvPr/>
        </p:nvSpPr>
        <p:spPr>
          <a:xfrm>
            <a:off x="612648" y="9144000"/>
            <a:ext cx="17062704" cy="566928"/>
          </a:xfrm>
          <a:prstGeom prst="roundRect">
            <a:avLst>
              <a:gd name="adj" fmla="val 12903"/>
            </a:avLst>
          </a:prstGeom>
          <a:solidFill>
            <a:srgbClr val="251833"/>
          </a:solidFill>
          <a:ln/>
        </p:spPr>
      </p:sp>
      <p:sp>
        <p:nvSpPr>
          <p:cNvPr id="36" name="Text 31"/>
          <p:cNvSpPr/>
          <p:nvPr/>
        </p:nvSpPr>
        <p:spPr>
          <a:xfrm>
            <a:off x="841248" y="9144000"/>
            <a:ext cx="1463040" cy="566928"/>
          </a:xfrm>
          <a:prstGeom prst="rect">
            <a:avLst/>
          </a:prstGeom>
          <a:noFill/>
          <a:ln/>
        </p:spPr>
        <p:txBody>
          <a:bodyPr wrap="square" lIns="0" tIns="0" rIns="0" bIns="0" rtlCol="0" anchor="ctr"/>
          <a:lstStyle/>
          <a:p>
            <a:pPr indent="0" marL="0">
              <a:buNone/>
            </a:pPr>
            <a:r>
              <a:rPr lang="en-US" sz="1300" spc="100" kern="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37" name="Text 32"/>
          <p:cNvSpPr/>
          <p:nvPr/>
        </p:nvSpPr>
        <p:spPr>
          <a:xfrm>
            <a:off x="2304288" y="9144000"/>
            <a:ext cx="15142464" cy="56692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These labels help us choose which agent owners to talk to. They aren't decisions on their own.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F8"/>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637087"/>
                </a:solidFill>
                <a:latin typeface="Segoe UI" pitchFamily="34" charset="0"/>
                <a:ea typeface="Segoe UI" pitchFamily="34" charset="-122"/>
                <a:cs typeface="Segoe UI" pitchFamily="34" charset="-120"/>
              </a:rPr>
              <a:t>12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indent="0" marL="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ACT 3 · WHAT AGENTS ARE DOING</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251833"/>
                </a:solidFill>
                <a:latin typeface="Segoe UI Semibold" pitchFamily="34" charset="0"/>
                <a:ea typeface="Segoe UI Semibold" pitchFamily="34" charset="-122"/>
                <a:cs typeface="Segoe UI Semibold" pitchFamily="34" charset="-120"/>
              </a:rPr>
              <a:t>Zoom in on one agent</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indent="0" marL="0">
              <a:buNone/>
            </a:pPr>
            <a:r>
              <a:rPr lang="en-US" sz="2000" dirty="0">
                <a:solidFill>
                  <a:srgbClr val="637087"/>
                </a:solidFill>
                <a:latin typeface="Segoe UI" pitchFamily="34" charset="0"/>
                <a:ea typeface="Segoe UI" pitchFamily="34" charset="-122"/>
                <a:cs typeface="Segoe UI" pitchFamily="34" charset="-120"/>
              </a:rPr>
              <a:t>Agent Details shows who uses an agent, how much, where and whether they return.</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sp>
      <p:pic>
        <p:nvPicPr>
          <p:cNvPr id="10" name="Image 2" descr="Agent Details page">    </p:cNvPr>
          <p:cNvPicPr>
            <a:picLocks noChangeAspect="1"/>
          </p:cNvPicPr>
          <p:nvPr/>
        </p:nvPicPr>
        <p:blipFill>
          <a:blip r:embed="rId3"/>
          <a:stretch>
            <a:fillRect/>
          </a:stretch>
        </p:blipFill>
        <p:spPr>
          <a:xfrm>
            <a:off x="868680" y="2468880"/>
            <a:ext cx="10003536" cy="6170931"/>
          </a:xfrm>
          <a:prstGeom prst="rect">
            <a:avLst/>
          </a:prstGeom>
        </p:spPr>
      </p:pic>
      <p:sp>
        <p:nvSpPr>
          <p:cNvPr id="11" name="Shape 6"/>
          <p:cNvSpPr/>
          <p:nvPr/>
        </p:nvSpPr>
        <p:spPr>
          <a:xfrm>
            <a:off x="968715" y="4381869"/>
            <a:ext cx="9753448" cy="647948"/>
          </a:xfrm>
          <a:prstGeom prst="roundRect">
            <a:avLst>
              <a:gd name="adj" fmla="val 7056"/>
            </a:avLst>
          </a:prstGeom>
          <a:ln w="22225">
            <a:solidFill>
              <a:srgbClr val="7953B8"/>
            </a:solidFill>
            <a:prstDash val="solid"/>
          </a:ln>
        </p:spPr>
      </p:sp>
      <p:sp>
        <p:nvSpPr>
          <p:cNvPr id="12" name="Shape 7"/>
          <p:cNvSpPr/>
          <p:nvPr/>
        </p:nvSpPr>
        <p:spPr>
          <a:xfrm>
            <a:off x="767547" y="4198989"/>
            <a:ext cx="329184" cy="329184"/>
          </a:xfrm>
          <a:prstGeom prst="ellipse">
            <a:avLst/>
          </a:prstGeom>
          <a:solidFill>
            <a:srgbClr val="7953B8"/>
          </a:solidFill>
          <a:ln w="25400">
            <a:solidFill>
              <a:srgbClr val="FFFFFF"/>
            </a:solidFill>
            <a:prstDash val="solid"/>
          </a:ln>
        </p:spPr>
      </p:sp>
      <p:sp>
        <p:nvSpPr>
          <p:cNvPr id="13" name="Text 8"/>
          <p:cNvSpPr/>
          <p:nvPr/>
        </p:nvSpPr>
        <p:spPr>
          <a:xfrm>
            <a:off x="767547" y="4208133"/>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968715" y="5060671"/>
            <a:ext cx="5952104" cy="1481024"/>
          </a:xfrm>
          <a:prstGeom prst="roundRect">
            <a:avLst>
              <a:gd name="adj" fmla="val 3087"/>
            </a:avLst>
          </a:prstGeom>
          <a:ln w="22225">
            <a:solidFill>
              <a:srgbClr val="008774"/>
            </a:solidFill>
            <a:prstDash val="solid"/>
          </a:ln>
        </p:spPr>
      </p:sp>
      <p:sp>
        <p:nvSpPr>
          <p:cNvPr id="15" name="Shape 10"/>
          <p:cNvSpPr/>
          <p:nvPr/>
        </p:nvSpPr>
        <p:spPr>
          <a:xfrm>
            <a:off x="767547" y="4877791"/>
            <a:ext cx="329184" cy="329184"/>
          </a:xfrm>
          <a:prstGeom prst="ellipse">
            <a:avLst/>
          </a:prstGeom>
          <a:solidFill>
            <a:srgbClr val="008774"/>
          </a:solidFill>
          <a:ln w="25400">
            <a:solidFill>
              <a:srgbClr val="FFFFFF"/>
            </a:solidFill>
            <a:prstDash val="solid"/>
          </a:ln>
        </p:spPr>
      </p:sp>
      <p:sp>
        <p:nvSpPr>
          <p:cNvPr id="16" name="Text 11"/>
          <p:cNvSpPr/>
          <p:nvPr/>
        </p:nvSpPr>
        <p:spPr>
          <a:xfrm>
            <a:off x="767547" y="4886935"/>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6970837" y="5060671"/>
            <a:ext cx="3751326" cy="3208884"/>
          </a:xfrm>
          <a:prstGeom prst="roundRect">
            <a:avLst>
              <a:gd name="adj" fmla="val 1425"/>
            </a:avLst>
          </a:prstGeom>
          <a:ln w="22225">
            <a:solidFill>
              <a:srgbClr val="BF5B25"/>
            </a:solidFill>
            <a:prstDash val="solid"/>
          </a:ln>
        </p:spPr>
      </p:sp>
      <p:sp>
        <p:nvSpPr>
          <p:cNvPr id="18" name="Shape 13"/>
          <p:cNvSpPr/>
          <p:nvPr/>
        </p:nvSpPr>
        <p:spPr>
          <a:xfrm>
            <a:off x="6769669" y="4877791"/>
            <a:ext cx="329184" cy="329184"/>
          </a:xfrm>
          <a:prstGeom prst="ellipse">
            <a:avLst/>
          </a:prstGeom>
          <a:solidFill>
            <a:srgbClr val="BF5B25"/>
          </a:solidFill>
          <a:ln w="25400">
            <a:solidFill>
              <a:srgbClr val="FFFFFF"/>
            </a:solidFill>
            <a:prstDash val="solid"/>
          </a:ln>
        </p:spPr>
      </p:sp>
      <p:sp>
        <p:nvSpPr>
          <p:cNvPr id="19" name="Text 14"/>
          <p:cNvSpPr/>
          <p:nvPr/>
        </p:nvSpPr>
        <p:spPr>
          <a:xfrm>
            <a:off x="6769669" y="4886935"/>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11384280" y="2212848"/>
            <a:ext cx="6291072" cy="1315212"/>
          </a:xfrm>
          <a:prstGeom prst="roundRect">
            <a:avLst>
              <a:gd name="adj" fmla="val 6952"/>
            </a:avLst>
          </a:prstGeom>
          <a:solidFill>
            <a:srgbClr val="FFFFFF"/>
          </a:solidFill>
          <a:ln w="12700">
            <a:solidFill>
              <a:srgbClr val="E2DDEB"/>
            </a:solidFill>
            <a:prstDash val="solid"/>
          </a:ln>
        </p:spPr>
      </p:sp>
      <p:sp>
        <p:nvSpPr>
          <p:cNvPr id="21" name="Shape 16"/>
          <p:cNvSpPr/>
          <p:nvPr/>
        </p:nvSpPr>
        <p:spPr>
          <a:xfrm>
            <a:off x="11567160" y="2395728"/>
            <a:ext cx="347472" cy="347472"/>
          </a:xfrm>
          <a:prstGeom prst="ellipse">
            <a:avLst/>
          </a:prstGeom>
          <a:solidFill>
            <a:srgbClr val="7953B8"/>
          </a:solidFill>
          <a:ln w="25400">
            <a:solidFill>
              <a:srgbClr val="FFFFFF"/>
            </a:solidFill>
            <a:prstDash val="solid"/>
          </a:ln>
        </p:spPr>
      </p:sp>
      <p:sp>
        <p:nvSpPr>
          <p:cNvPr id="22" name="Text 17"/>
          <p:cNvSpPr/>
          <p:nvPr/>
        </p:nvSpPr>
        <p:spPr>
          <a:xfrm>
            <a:off x="11567160" y="2404872"/>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23" name="Text 18"/>
          <p:cNvSpPr/>
          <p:nvPr/>
        </p:nvSpPr>
        <p:spPr>
          <a:xfrm>
            <a:off x="12042648" y="2395728"/>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Six headline numbers</a:t>
            </a:r>
            <a:endParaRPr lang="en-US" sz="1900" dirty="0"/>
          </a:p>
        </p:txBody>
      </p:sp>
      <p:sp>
        <p:nvSpPr>
          <p:cNvPr id="24" name="Text 19"/>
          <p:cNvSpPr/>
          <p:nvPr/>
        </p:nvSpPr>
        <p:spPr>
          <a:xfrm>
            <a:off x="11612880" y="2805684"/>
            <a:ext cx="5833872" cy="55778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Users, prompts, agent sessions, prompts per session, organizations and repeat users.</a:t>
            </a:r>
            <a:endParaRPr lang="en-US" sz="1500" dirty="0"/>
          </a:p>
        </p:txBody>
      </p:sp>
      <p:sp>
        <p:nvSpPr>
          <p:cNvPr id="25" name="Shape 20"/>
          <p:cNvSpPr/>
          <p:nvPr/>
        </p:nvSpPr>
        <p:spPr>
          <a:xfrm>
            <a:off x="11384280" y="3674364"/>
            <a:ext cx="6291072" cy="1063752"/>
          </a:xfrm>
          <a:prstGeom prst="roundRect">
            <a:avLst>
              <a:gd name="adj" fmla="val 8596"/>
            </a:avLst>
          </a:prstGeom>
          <a:solidFill>
            <a:srgbClr val="FFFFFF"/>
          </a:solidFill>
          <a:ln w="12700">
            <a:solidFill>
              <a:srgbClr val="E2DDEB"/>
            </a:solidFill>
            <a:prstDash val="solid"/>
          </a:ln>
        </p:spPr>
      </p:sp>
      <p:sp>
        <p:nvSpPr>
          <p:cNvPr id="26" name="Shape 21"/>
          <p:cNvSpPr/>
          <p:nvPr/>
        </p:nvSpPr>
        <p:spPr>
          <a:xfrm>
            <a:off x="11567160" y="3857244"/>
            <a:ext cx="347472" cy="347472"/>
          </a:xfrm>
          <a:prstGeom prst="ellipse">
            <a:avLst/>
          </a:prstGeom>
          <a:solidFill>
            <a:srgbClr val="008774"/>
          </a:solidFill>
          <a:ln w="25400">
            <a:solidFill>
              <a:srgbClr val="FFFFFF"/>
            </a:solidFill>
            <a:prstDash val="solid"/>
          </a:ln>
        </p:spPr>
      </p:sp>
      <p:sp>
        <p:nvSpPr>
          <p:cNvPr id="27" name="Text 22"/>
          <p:cNvSpPr/>
          <p:nvPr/>
        </p:nvSpPr>
        <p:spPr>
          <a:xfrm>
            <a:off x="11567160" y="3866388"/>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28" name="Text 23"/>
          <p:cNvSpPr/>
          <p:nvPr/>
        </p:nvSpPr>
        <p:spPr>
          <a:xfrm>
            <a:off x="12042648" y="3857244"/>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Day by day</a:t>
            </a:r>
            <a:endParaRPr lang="en-US" sz="1900" dirty="0"/>
          </a:p>
        </p:txBody>
      </p:sp>
      <p:sp>
        <p:nvSpPr>
          <p:cNvPr id="29" name="Text 24"/>
          <p:cNvSpPr/>
          <p:nvPr/>
        </p:nvSpPr>
        <p:spPr>
          <a:xfrm>
            <a:off x="11612880" y="4267200"/>
            <a:ext cx="5833872" cy="30632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Daily prompts and sessions, with bold 7-day averages.</a:t>
            </a:r>
            <a:endParaRPr lang="en-US" sz="1500" dirty="0"/>
          </a:p>
        </p:txBody>
      </p:sp>
      <p:sp>
        <p:nvSpPr>
          <p:cNvPr id="30" name="Shape 25"/>
          <p:cNvSpPr/>
          <p:nvPr/>
        </p:nvSpPr>
        <p:spPr>
          <a:xfrm>
            <a:off x="11384280" y="4884420"/>
            <a:ext cx="6291072" cy="1063752"/>
          </a:xfrm>
          <a:prstGeom prst="roundRect">
            <a:avLst>
              <a:gd name="adj" fmla="val 8596"/>
            </a:avLst>
          </a:prstGeom>
          <a:solidFill>
            <a:srgbClr val="FFFFFF"/>
          </a:solidFill>
          <a:ln w="12700">
            <a:solidFill>
              <a:srgbClr val="E2DDEB"/>
            </a:solidFill>
            <a:prstDash val="solid"/>
          </a:ln>
        </p:spPr>
      </p:sp>
      <p:sp>
        <p:nvSpPr>
          <p:cNvPr id="31" name="Shape 26"/>
          <p:cNvSpPr/>
          <p:nvPr/>
        </p:nvSpPr>
        <p:spPr>
          <a:xfrm>
            <a:off x="11567160" y="5067300"/>
            <a:ext cx="347472" cy="347472"/>
          </a:xfrm>
          <a:prstGeom prst="ellipse">
            <a:avLst/>
          </a:prstGeom>
          <a:solidFill>
            <a:srgbClr val="BF5B25"/>
          </a:solidFill>
          <a:ln w="25400">
            <a:solidFill>
              <a:srgbClr val="FFFFFF"/>
            </a:solidFill>
            <a:prstDash val="solid"/>
          </a:ln>
        </p:spPr>
      </p:sp>
      <p:sp>
        <p:nvSpPr>
          <p:cNvPr id="32" name="Text 27"/>
          <p:cNvSpPr/>
          <p:nvPr/>
        </p:nvSpPr>
        <p:spPr>
          <a:xfrm>
            <a:off x="11567160" y="5076444"/>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33" name="Text 28"/>
          <p:cNvSpPr/>
          <p:nvPr/>
        </p:nvSpPr>
        <p:spPr>
          <a:xfrm>
            <a:off x="12042648" y="5067300"/>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Who uses it most</a:t>
            </a:r>
            <a:endParaRPr lang="en-US" sz="1900" dirty="0"/>
          </a:p>
        </p:txBody>
      </p:sp>
      <p:sp>
        <p:nvSpPr>
          <p:cNvPr id="34" name="Text 29"/>
          <p:cNvSpPr/>
          <p:nvPr/>
        </p:nvSpPr>
        <p:spPr>
          <a:xfrm>
            <a:off x="11612880" y="5477256"/>
            <a:ext cx="5833872" cy="30632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Usage by organization shows which departments rely on the agent.</a:t>
            </a:r>
            <a:endParaRPr lang="en-US" sz="1500" dirty="0"/>
          </a:p>
        </p:txBody>
      </p:sp>
      <p:sp>
        <p:nvSpPr>
          <p:cNvPr id="35" name="Shape 30"/>
          <p:cNvSpPr/>
          <p:nvPr/>
        </p:nvSpPr>
        <p:spPr>
          <a:xfrm>
            <a:off x="11384280" y="6094476"/>
            <a:ext cx="6291072" cy="1566672"/>
          </a:xfrm>
          <a:prstGeom prst="roundRect">
            <a:avLst>
              <a:gd name="adj" fmla="val 5837"/>
            </a:avLst>
          </a:prstGeom>
          <a:solidFill>
            <a:srgbClr val="FFFFFF"/>
          </a:solidFill>
          <a:ln w="12700">
            <a:solidFill>
              <a:srgbClr val="E2DDEB"/>
            </a:solidFill>
            <a:prstDash val="solid"/>
          </a:ln>
        </p:spPr>
      </p:sp>
      <p:sp>
        <p:nvSpPr>
          <p:cNvPr id="36" name="Shape 31"/>
          <p:cNvSpPr/>
          <p:nvPr/>
        </p:nvSpPr>
        <p:spPr>
          <a:xfrm>
            <a:off x="11567160" y="6277356"/>
            <a:ext cx="347472" cy="347472"/>
          </a:xfrm>
          <a:prstGeom prst="ellipse">
            <a:avLst/>
          </a:prstGeom>
          <a:solidFill>
            <a:srgbClr val="3B2750"/>
          </a:solidFill>
          <a:ln w="25400">
            <a:solidFill>
              <a:srgbClr val="FFFFFF"/>
            </a:solidFill>
            <a:prstDash val="solid"/>
          </a:ln>
        </p:spPr>
      </p:sp>
      <p:sp>
        <p:nvSpPr>
          <p:cNvPr id="37" name="Text 32"/>
          <p:cNvSpPr/>
          <p:nvPr/>
        </p:nvSpPr>
        <p:spPr>
          <a:xfrm>
            <a:off x="11567160" y="6286500"/>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i</a:t>
            </a:r>
            <a:endParaRPr lang="en-US" sz="1500" dirty="0"/>
          </a:p>
        </p:txBody>
      </p:sp>
      <p:sp>
        <p:nvSpPr>
          <p:cNvPr id="38" name="Text 33"/>
          <p:cNvSpPr/>
          <p:nvPr/>
        </p:nvSpPr>
        <p:spPr>
          <a:xfrm>
            <a:off x="12042648" y="6277356"/>
            <a:ext cx="5605272" cy="355092"/>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Two ways in</a:t>
            </a:r>
            <a:endParaRPr lang="en-US" sz="1900" dirty="0"/>
          </a:p>
        </p:txBody>
      </p:sp>
      <p:sp>
        <p:nvSpPr>
          <p:cNvPr id="39" name="Text 34"/>
          <p:cNvSpPr/>
          <p:nvPr/>
        </p:nvSpPr>
        <p:spPr>
          <a:xfrm>
            <a:off x="11612880" y="6687312"/>
            <a:ext cx="5833872" cy="809244"/>
          </a:xfrm>
          <a:prstGeom prst="rect">
            <a:avLst/>
          </a:prstGeom>
          <a:noFill/>
          <a:ln/>
        </p:spPr>
        <p:txBody>
          <a:bodyPr wrap="square" lIns="0" tIns="0" rIns="0" bIns="0" rtlCol="0" anchor="t"/>
          <a:lstStyle/>
          <a:p>
            <a:pPr indent="0" marL="0">
              <a:buNone/>
            </a:pPr>
            <a:r>
              <a:rPr lang="en-US" sz="1500" dirty="0">
                <a:solidFill>
                  <a:srgbClr val="637087"/>
                </a:solidFill>
                <a:latin typeface="Segoe UI" pitchFamily="34" charset="0"/>
                <a:ea typeface="Segoe UI" pitchFamily="34" charset="-122"/>
                <a:cs typeface="Segoe UI" pitchFamily="34" charset="-120"/>
              </a:rPr>
              <a:t>Open the Agent Details tab and pick from all agents, or right-click an agent name and choose Drill through &gt; Agent drillthrough.</a:t>
            </a:r>
            <a:endParaRPr lang="en-US" sz="1500" dirty="0"/>
          </a:p>
        </p:txBody>
      </p:sp>
      <p:sp>
        <p:nvSpPr>
          <p:cNvPr id="40" name="Shape 35"/>
          <p:cNvSpPr/>
          <p:nvPr/>
        </p:nvSpPr>
        <p:spPr>
          <a:xfrm>
            <a:off x="612648" y="9144000"/>
            <a:ext cx="17062704" cy="566928"/>
          </a:xfrm>
          <a:prstGeom prst="roundRect">
            <a:avLst>
              <a:gd name="adj" fmla="val 12903"/>
            </a:avLst>
          </a:prstGeom>
          <a:solidFill>
            <a:srgbClr val="251833"/>
          </a:solidFill>
          <a:ln/>
        </p:spPr>
      </p:sp>
      <p:sp>
        <p:nvSpPr>
          <p:cNvPr id="41" name="Text 36"/>
          <p:cNvSpPr/>
          <p:nvPr/>
        </p:nvSpPr>
        <p:spPr>
          <a:xfrm>
            <a:off x="841248" y="9144000"/>
            <a:ext cx="1463040" cy="566928"/>
          </a:xfrm>
          <a:prstGeom prst="rect">
            <a:avLst/>
          </a:prstGeom>
          <a:noFill/>
          <a:ln/>
        </p:spPr>
        <p:txBody>
          <a:bodyPr wrap="square" lIns="0" tIns="0" rIns="0" bIns="0" rtlCol="0" anchor="ctr"/>
          <a:lstStyle/>
          <a:p>
            <a:pPr indent="0" marL="0">
              <a:buNone/>
            </a:pPr>
            <a:r>
              <a:rPr lang="en-US" sz="1300" spc="100" kern="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2" name="Text 37"/>
          <p:cNvSpPr/>
          <p:nvPr/>
        </p:nvSpPr>
        <p:spPr>
          <a:xfrm>
            <a:off x="2304288" y="9144000"/>
            <a:ext cx="15142464" cy="56692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Let's look at one agent closely: who uses it, how often, and in which teams.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F8"/>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637087"/>
                </a:solidFill>
                <a:latin typeface="Segoe UI" pitchFamily="34" charset="0"/>
                <a:ea typeface="Segoe UI" pitchFamily="34" charset="-122"/>
                <a:cs typeface="Segoe UI" pitchFamily="34" charset="-120"/>
              </a:rPr>
              <a:t>13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indent="0" marL="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ACT 4 · WHERE TO INVEST NEXT</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251833"/>
                </a:solidFill>
                <a:latin typeface="Segoe UI Semibold" pitchFamily="34" charset="0"/>
                <a:ea typeface="Segoe UI Semibold" pitchFamily="34" charset="-122"/>
                <a:cs typeface="Segoe UI Semibold" pitchFamily="34" charset="-120"/>
              </a:rPr>
              <a:t>Start a licensing conversation</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indent="0" marL="0">
              <a:buNone/>
            </a:pPr>
            <a:r>
              <a:rPr lang="en-US" sz="2000" dirty="0">
                <a:solidFill>
                  <a:srgbClr val="637087"/>
                </a:solidFill>
                <a:latin typeface="Segoe UI" pitchFamily="34" charset="0"/>
                <a:ea typeface="Segoe UI" pitchFamily="34" charset="-122"/>
                <a:cs typeface="Segoe UI" pitchFamily="34" charset="-120"/>
              </a:rPr>
              <a:t>License Prioritization shows where Copilot Chat use could support a licensing discussion.</a:t>
            </a:r>
            <a:endParaRPr lang="en-US" sz="2000" dirty="0"/>
          </a:p>
        </p:txBody>
      </p:sp>
      <p:sp>
        <p:nvSpPr>
          <p:cNvPr id="9" name="Shape 5"/>
          <p:cNvSpPr/>
          <p:nvPr/>
        </p:nvSpPr>
        <p:spPr>
          <a:xfrm>
            <a:off x="612648" y="2212848"/>
            <a:ext cx="10515600" cy="6682995"/>
          </a:xfrm>
          <a:prstGeom prst="roundRect">
            <a:avLst>
              <a:gd name="adj" fmla="val 1368"/>
            </a:avLst>
          </a:prstGeom>
          <a:solidFill>
            <a:srgbClr val="FFFFFF"/>
          </a:solidFill>
          <a:ln w="12700">
            <a:solidFill>
              <a:srgbClr val="E2DDEB"/>
            </a:solidFill>
            <a:prstDash val="solid"/>
          </a:ln>
        </p:spPr>
      </p:sp>
      <p:pic>
        <p:nvPicPr>
          <p:cNvPr id="10" name="Image 2" descr="License Prioritization page">    </p:cNvPr>
          <p:cNvPicPr>
            <a:picLocks noChangeAspect="1"/>
          </p:cNvPicPr>
          <p:nvPr/>
        </p:nvPicPr>
        <p:blipFill>
          <a:blip r:embed="rId3"/>
          <a:stretch>
            <a:fillRect/>
          </a:stretch>
        </p:blipFill>
        <p:spPr>
          <a:xfrm>
            <a:off x="868680" y="2468880"/>
            <a:ext cx="10003536" cy="6170931"/>
          </a:xfrm>
          <a:prstGeom prst="rect">
            <a:avLst/>
          </a:prstGeom>
        </p:spPr>
      </p:pic>
      <p:sp>
        <p:nvSpPr>
          <p:cNvPr id="11" name="Shape 6"/>
          <p:cNvSpPr/>
          <p:nvPr/>
        </p:nvSpPr>
        <p:spPr>
          <a:xfrm>
            <a:off x="968715" y="4042467"/>
            <a:ext cx="3751326" cy="524529"/>
          </a:xfrm>
          <a:prstGeom prst="roundRect">
            <a:avLst>
              <a:gd name="adj" fmla="val 8716"/>
            </a:avLst>
          </a:prstGeom>
          <a:ln w="22225">
            <a:solidFill>
              <a:srgbClr val="7953B8"/>
            </a:solidFill>
            <a:prstDash val="solid"/>
          </a:ln>
        </p:spPr>
      </p:sp>
      <p:sp>
        <p:nvSpPr>
          <p:cNvPr id="12" name="Shape 7"/>
          <p:cNvSpPr/>
          <p:nvPr/>
        </p:nvSpPr>
        <p:spPr>
          <a:xfrm>
            <a:off x="767547" y="3859587"/>
            <a:ext cx="329184" cy="329184"/>
          </a:xfrm>
          <a:prstGeom prst="ellipse">
            <a:avLst/>
          </a:prstGeom>
          <a:solidFill>
            <a:srgbClr val="7953B8"/>
          </a:solidFill>
          <a:ln w="25400">
            <a:solidFill>
              <a:srgbClr val="FFFFFF"/>
            </a:solidFill>
            <a:prstDash val="solid"/>
          </a:ln>
        </p:spPr>
      </p:sp>
      <p:sp>
        <p:nvSpPr>
          <p:cNvPr id="13" name="Text 8"/>
          <p:cNvSpPr/>
          <p:nvPr/>
        </p:nvSpPr>
        <p:spPr>
          <a:xfrm>
            <a:off x="767547" y="3868731"/>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4" name="Shape 9"/>
          <p:cNvSpPr/>
          <p:nvPr/>
        </p:nvSpPr>
        <p:spPr>
          <a:xfrm>
            <a:off x="968715" y="4875543"/>
            <a:ext cx="3751326" cy="2591791"/>
          </a:xfrm>
          <a:prstGeom prst="roundRect">
            <a:avLst>
              <a:gd name="adj" fmla="val 1764"/>
            </a:avLst>
          </a:prstGeom>
          <a:ln w="22225">
            <a:solidFill>
              <a:srgbClr val="008774"/>
            </a:solidFill>
            <a:prstDash val="solid"/>
          </a:ln>
        </p:spPr>
      </p:sp>
      <p:sp>
        <p:nvSpPr>
          <p:cNvPr id="15" name="Shape 10"/>
          <p:cNvSpPr/>
          <p:nvPr/>
        </p:nvSpPr>
        <p:spPr>
          <a:xfrm>
            <a:off x="767547" y="4692663"/>
            <a:ext cx="329184" cy="329184"/>
          </a:xfrm>
          <a:prstGeom prst="ellipse">
            <a:avLst/>
          </a:prstGeom>
          <a:solidFill>
            <a:srgbClr val="008774"/>
          </a:solidFill>
          <a:ln w="25400">
            <a:solidFill>
              <a:srgbClr val="FFFFFF"/>
            </a:solidFill>
            <a:prstDash val="solid"/>
          </a:ln>
        </p:spPr>
      </p:sp>
      <p:sp>
        <p:nvSpPr>
          <p:cNvPr id="16" name="Text 11"/>
          <p:cNvSpPr/>
          <p:nvPr/>
        </p:nvSpPr>
        <p:spPr>
          <a:xfrm>
            <a:off x="767547" y="4701807"/>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7" name="Shape 12"/>
          <p:cNvSpPr/>
          <p:nvPr/>
        </p:nvSpPr>
        <p:spPr>
          <a:xfrm>
            <a:off x="4820077" y="4073322"/>
            <a:ext cx="3901379" cy="4443071"/>
          </a:xfrm>
          <a:prstGeom prst="roundRect">
            <a:avLst>
              <a:gd name="adj" fmla="val 1172"/>
            </a:avLst>
          </a:prstGeom>
          <a:ln w="22225">
            <a:solidFill>
              <a:srgbClr val="BF5B25"/>
            </a:solidFill>
            <a:prstDash val="solid"/>
          </a:ln>
        </p:spPr>
      </p:sp>
      <p:sp>
        <p:nvSpPr>
          <p:cNvPr id="18" name="Shape 13"/>
          <p:cNvSpPr/>
          <p:nvPr/>
        </p:nvSpPr>
        <p:spPr>
          <a:xfrm>
            <a:off x="4618909" y="3890442"/>
            <a:ext cx="329184" cy="329184"/>
          </a:xfrm>
          <a:prstGeom prst="ellipse">
            <a:avLst/>
          </a:prstGeom>
          <a:solidFill>
            <a:srgbClr val="BF5B25"/>
          </a:solidFill>
          <a:ln w="25400">
            <a:solidFill>
              <a:srgbClr val="FFFFFF"/>
            </a:solidFill>
            <a:prstDash val="solid"/>
          </a:ln>
        </p:spPr>
      </p:sp>
      <p:sp>
        <p:nvSpPr>
          <p:cNvPr id="19" name="Text 14"/>
          <p:cNvSpPr/>
          <p:nvPr/>
        </p:nvSpPr>
        <p:spPr>
          <a:xfrm>
            <a:off x="4618909" y="3899586"/>
            <a:ext cx="329184" cy="329184"/>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0" name="Shape 15"/>
          <p:cNvSpPr/>
          <p:nvPr/>
        </p:nvSpPr>
        <p:spPr>
          <a:xfrm>
            <a:off x="11384280" y="2212848"/>
            <a:ext cx="6291072" cy="4206240"/>
          </a:xfrm>
          <a:prstGeom prst="roundRect">
            <a:avLst>
              <a:gd name="adj" fmla="val 2174"/>
            </a:avLst>
          </a:prstGeom>
          <a:solidFill>
            <a:srgbClr val="FFFFFF"/>
          </a:solidFill>
          <a:ln w="12700">
            <a:solidFill>
              <a:srgbClr val="E2DDEB"/>
            </a:solidFill>
            <a:prstDash val="solid"/>
          </a:ln>
        </p:spPr>
      </p:sp>
      <p:sp>
        <p:nvSpPr>
          <p:cNvPr id="21" name="Text 16"/>
          <p:cNvSpPr/>
          <p:nvPr/>
        </p:nvSpPr>
        <p:spPr>
          <a:xfrm>
            <a:off x="11658600" y="2423160"/>
            <a:ext cx="5760720" cy="320040"/>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HOW THE SCORE WORKS</a:t>
            </a:r>
            <a:endParaRPr lang="en-US" sz="1200" dirty="0"/>
          </a:p>
        </p:txBody>
      </p:sp>
      <p:sp>
        <p:nvSpPr>
          <p:cNvPr id="22" name="Text 17"/>
          <p:cNvSpPr/>
          <p:nvPr/>
        </p:nvSpPr>
        <p:spPr>
          <a:xfrm>
            <a:off x="11658600" y="2880360"/>
            <a:ext cx="2011680" cy="914400"/>
          </a:xfrm>
          <a:prstGeom prst="rect">
            <a:avLst/>
          </a:prstGeom>
          <a:noFill/>
          <a:ln/>
        </p:spPr>
        <p:txBody>
          <a:bodyPr wrap="square" lIns="0" tIns="0" rIns="0" bIns="0" rtlCol="0" anchor="ctr"/>
          <a:lstStyle/>
          <a:p>
            <a:pPr indent="0" marL="0">
              <a:buNone/>
            </a:pPr>
            <a:r>
              <a:rPr lang="en-US" sz="4400" dirty="0">
                <a:solidFill>
                  <a:srgbClr val="7953B8"/>
                </a:solidFill>
                <a:latin typeface="Segoe UI Semibold" pitchFamily="34" charset="0"/>
                <a:ea typeface="Segoe UI Semibold" pitchFamily="34" charset="-122"/>
                <a:cs typeface="Segoe UI Semibold" pitchFamily="34" charset="-120"/>
              </a:rPr>
              <a:t>60%</a:t>
            </a:r>
            <a:endParaRPr lang="en-US" sz="4400" dirty="0"/>
          </a:p>
        </p:txBody>
      </p:sp>
      <p:sp>
        <p:nvSpPr>
          <p:cNvPr id="23" name="Text 18"/>
          <p:cNvSpPr/>
          <p:nvPr/>
        </p:nvSpPr>
        <p:spPr>
          <a:xfrm>
            <a:off x="13716000" y="2880360"/>
            <a:ext cx="3749040" cy="914400"/>
          </a:xfrm>
          <a:prstGeom prst="rect">
            <a:avLst/>
          </a:prstGeom>
          <a:noFill/>
          <a:ln/>
        </p:spPr>
        <p:txBody>
          <a:bodyPr wrap="square" lIns="0" tIns="0" rIns="0" bIns="0" rtlCol="0" anchor="ctr"/>
          <a:lstStyle/>
          <a:p>
            <a:pPr indent="0" marL="0">
              <a:buNone/>
            </a:pPr>
            <a:r>
              <a:rPr lang="en-US" sz="1800" dirty="0">
                <a:solidFill>
                  <a:srgbClr val="251833"/>
                </a:solidFill>
                <a:latin typeface="Segoe UI Semibold" pitchFamily="34" charset="0"/>
                <a:ea typeface="Segoe UI Semibold" pitchFamily="34" charset="-122"/>
                <a:cs typeface="Segoe UI Semibold" pitchFamily="34" charset="-120"/>
              </a:rPr>
              <a:t>Weekly sessions</a:t>
            </a:r>
            <a:endParaRPr lang="en-US" sz="1800" dirty="0"/>
          </a:p>
        </p:txBody>
      </p:sp>
      <p:sp>
        <p:nvSpPr>
          <p:cNvPr id="24" name="Text 19"/>
          <p:cNvSpPr/>
          <p:nvPr/>
        </p:nvSpPr>
        <p:spPr>
          <a:xfrm>
            <a:off x="11658600" y="3995928"/>
            <a:ext cx="2011680" cy="914400"/>
          </a:xfrm>
          <a:prstGeom prst="rect">
            <a:avLst/>
          </a:prstGeom>
          <a:noFill/>
          <a:ln/>
        </p:spPr>
        <p:txBody>
          <a:bodyPr wrap="square" lIns="0" tIns="0" rIns="0" bIns="0" rtlCol="0" anchor="ctr"/>
          <a:lstStyle/>
          <a:p>
            <a:pPr indent="0" marL="0">
              <a:buNone/>
            </a:pPr>
            <a:r>
              <a:rPr lang="en-US" sz="4400" dirty="0">
                <a:solidFill>
                  <a:srgbClr val="008774"/>
                </a:solidFill>
                <a:latin typeface="Segoe UI Semibold" pitchFamily="34" charset="0"/>
                <a:ea typeface="Segoe UI Semibold" pitchFamily="34" charset="-122"/>
                <a:cs typeface="Segoe UI Semibold" pitchFamily="34" charset="-120"/>
              </a:rPr>
              <a:t>30%</a:t>
            </a:r>
            <a:endParaRPr lang="en-US" sz="4400" dirty="0"/>
          </a:p>
        </p:txBody>
      </p:sp>
      <p:sp>
        <p:nvSpPr>
          <p:cNvPr id="25" name="Text 20"/>
          <p:cNvSpPr/>
          <p:nvPr/>
        </p:nvSpPr>
        <p:spPr>
          <a:xfrm>
            <a:off x="13716000" y="3995928"/>
            <a:ext cx="3749040" cy="914400"/>
          </a:xfrm>
          <a:prstGeom prst="rect">
            <a:avLst/>
          </a:prstGeom>
          <a:noFill/>
          <a:ln/>
        </p:spPr>
        <p:txBody>
          <a:bodyPr wrap="square" lIns="0" tIns="0" rIns="0" bIns="0" rtlCol="0" anchor="ctr"/>
          <a:lstStyle/>
          <a:p>
            <a:pPr indent="0" marL="0">
              <a:buNone/>
            </a:pPr>
            <a:r>
              <a:rPr lang="en-US" sz="1800" dirty="0">
                <a:solidFill>
                  <a:srgbClr val="251833"/>
                </a:solidFill>
                <a:latin typeface="Segoe UI Semibold" pitchFamily="34" charset="0"/>
                <a:ea typeface="Segoe UI Semibold" pitchFamily="34" charset="-122"/>
                <a:cs typeface="Segoe UI Semibold" pitchFamily="34" charset="-120"/>
              </a:rPr>
              <a:t>Weekly active days</a:t>
            </a:r>
            <a:endParaRPr lang="en-US" sz="1800" dirty="0"/>
          </a:p>
        </p:txBody>
      </p:sp>
      <p:sp>
        <p:nvSpPr>
          <p:cNvPr id="26" name="Text 21"/>
          <p:cNvSpPr/>
          <p:nvPr/>
        </p:nvSpPr>
        <p:spPr>
          <a:xfrm>
            <a:off x="11658600" y="5111496"/>
            <a:ext cx="2011680" cy="914400"/>
          </a:xfrm>
          <a:prstGeom prst="rect">
            <a:avLst/>
          </a:prstGeom>
          <a:noFill/>
          <a:ln/>
        </p:spPr>
        <p:txBody>
          <a:bodyPr wrap="square" lIns="0" tIns="0" rIns="0" bIns="0" rtlCol="0" anchor="ctr"/>
          <a:lstStyle/>
          <a:p>
            <a:pPr indent="0" marL="0">
              <a:buNone/>
            </a:pPr>
            <a:r>
              <a:rPr lang="en-US" sz="4400" dirty="0">
                <a:solidFill>
                  <a:srgbClr val="BF5B25"/>
                </a:solidFill>
                <a:latin typeface="Segoe UI Semibold" pitchFamily="34" charset="0"/>
                <a:ea typeface="Segoe UI Semibold" pitchFamily="34" charset="-122"/>
                <a:cs typeface="Segoe UI Semibold" pitchFamily="34" charset="-120"/>
              </a:rPr>
              <a:t>10%</a:t>
            </a:r>
            <a:endParaRPr lang="en-US" sz="4400" dirty="0"/>
          </a:p>
        </p:txBody>
      </p:sp>
      <p:sp>
        <p:nvSpPr>
          <p:cNvPr id="27" name="Text 22"/>
          <p:cNvSpPr/>
          <p:nvPr/>
        </p:nvSpPr>
        <p:spPr>
          <a:xfrm>
            <a:off x="13716000" y="5111496"/>
            <a:ext cx="3749040" cy="914400"/>
          </a:xfrm>
          <a:prstGeom prst="rect">
            <a:avLst/>
          </a:prstGeom>
          <a:noFill/>
          <a:ln/>
        </p:spPr>
        <p:txBody>
          <a:bodyPr wrap="square" lIns="0" tIns="0" rIns="0" bIns="0" rtlCol="0" anchor="ctr"/>
          <a:lstStyle/>
          <a:p>
            <a:pPr indent="0" marL="0">
              <a:buNone/>
            </a:pPr>
            <a:r>
              <a:rPr lang="en-US" sz="1800" dirty="0">
                <a:solidFill>
                  <a:srgbClr val="251833"/>
                </a:solidFill>
                <a:latin typeface="Segoe UI Semibold" pitchFamily="34" charset="0"/>
                <a:ea typeface="Segoe UI Semibold" pitchFamily="34" charset="-122"/>
                <a:cs typeface="Segoe UI Semibold" pitchFamily="34" charset="-120"/>
              </a:rPr>
              <a:t>Sessions per active day</a:t>
            </a:r>
            <a:endParaRPr lang="en-US" sz="1800" dirty="0"/>
          </a:p>
        </p:txBody>
      </p:sp>
      <p:sp>
        <p:nvSpPr>
          <p:cNvPr id="28" name="Shape 23"/>
          <p:cNvSpPr/>
          <p:nvPr/>
        </p:nvSpPr>
        <p:spPr>
          <a:xfrm>
            <a:off x="11384280" y="6583680"/>
            <a:ext cx="6291072" cy="1290066"/>
          </a:xfrm>
          <a:prstGeom prst="roundRect">
            <a:avLst>
              <a:gd name="adj" fmla="val 7088"/>
            </a:avLst>
          </a:prstGeom>
          <a:solidFill>
            <a:srgbClr val="FFFFFF"/>
          </a:solidFill>
          <a:ln w="12700">
            <a:solidFill>
              <a:srgbClr val="E2DDEB"/>
            </a:solidFill>
            <a:prstDash val="solid"/>
          </a:ln>
        </p:spPr>
      </p:sp>
      <p:sp>
        <p:nvSpPr>
          <p:cNvPr id="29" name="Shape 24"/>
          <p:cNvSpPr/>
          <p:nvPr/>
        </p:nvSpPr>
        <p:spPr>
          <a:xfrm>
            <a:off x="11567160" y="6766560"/>
            <a:ext cx="347472" cy="347472"/>
          </a:xfrm>
          <a:prstGeom prst="ellipse">
            <a:avLst/>
          </a:prstGeom>
          <a:solidFill>
            <a:srgbClr val="3B2750"/>
          </a:solidFill>
          <a:ln w="25400">
            <a:solidFill>
              <a:srgbClr val="FFFFFF"/>
            </a:solidFill>
            <a:prstDash val="solid"/>
          </a:ln>
        </p:spPr>
      </p:sp>
      <p:sp>
        <p:nvSpPr>
          <p:cNvPr id="30" name="Text 25"/>
          <p:cNvSpPr/>
          <p:nvPr/>
        </p:nvSpPr>
        <p:spPr>
          <a:xfrm>
            <a:off x="11567160" y="6775704"/>
            <a:ext cx="347472" cy="347472"/>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i</a:t>
            </a:r>
            <a:endParaRPr lang="en-US" sz="1500" dirty="0"/>
          </a:p>
        </p:txBody>
      </p:sp>
      <p:sp>
        <p:nvSpPr>
          <p:cNvPr id="31" name="Text 26"/>
          <p:cNvSpPr/>
          <p:nvPr/>
        </p:nvSpPr>
        <p:spPr>
          <a:xfrm>
            <a:off x="12042648" y="6766560"/>
            <a:ext cx="5605272" cy="346710"/>
          </a:xfrm>
          <a:prstGeom prst="rect">
            <a:avLst/>
          </a:prstGeom>
          <a:noFill/>
          <a:ln/>
        </p:spPr>
        <p:txBody>
          <a:bodyPr wrap="square" lIns="0" tIns="0" rIns="0" bIns="0" rtlCol="0" anchor="t"/>
          <a:lstStyle/>
          <a:p>
            <a:pPr indent="0" marL="0">
              <a:buNone/>
            </a:pPr>
            <a:r>
              <a:rPr lang="en-US" sz="1850" dirty="0">
                <a:solidFill>
                  <a:srgbClr val="251833"/>
                </a:solidFill>
                <a:latin typeface="Segoe UI Semibold" pitchFamily="34" charset="0"/>
                <a:ea typeface="Segoe UI Semibold" pitchFamily="34" charset="-122"/>
                <a:cs typeface="Segoe UI Semibold" pitchFamily="34" charset="-120"/>
              </a:rPr>
              <a:t>A conversation, not a decision</a:t>
            </a:r>
            <a:endParaRPr lang="en-US" sz="1850" dirty="0"/>
          </a:p>
        </p:txBody>
      </p:sp>
      <p:sp>
        <p:nvSpPr>
          <p:cNvPr id="32" name="Text 27"/>
          <p:cNvSpPr/>
          <p:nvPr/>
        </p:nvSpPr>
        <p:spPr>
          <a:xfrm>
            <a:off x="11612880" y="7168134"/>
            <a:ext cx="5833872" cy="541020"/>
          </a:xfrm>
          <a:prstGeom prst="rect">
            <a:avLst/>
          </a:prstGeom>
          <a:noFill/>
          <a:ln/>
        </p:spPr>
        <p:txBody>
          <a:bodyPr wrap="square" lIns="0" tIns="0" rIns="0" bIns="0" rtlCol="0" anchor="t"/>
          <a:lstStyle/>
          <a:p>
            <a:pPr indent="0" marL="0">
              <a:buNone/>
            </a:pPr>
            <a:r>
              <a:rPr lang="en-US" sz="1450" dirty="0">
                <a:solidFill>
                  <a:srgbClr val="637087"/>
                </a:solidFill>
                <a:latin typeface="Segoe UI" pitchFamily="34" charset="0"/>
                <a:ea typeface="Segoe UI" pitchFamily="34" charset="-122"/>
                <a:cs typeface="Segoe UI" pitchFamily="34" charset="-120"/>
              </a:rPr>
              <a:t>Combine it with job needs, cost and feedback. Individual ranks need Minimum Group Size 1.</a:t>
            </a:r>
            <a:endParaRPr lang="en-US" sz="1450" dirty="0"/>
          </a:p>
        </p:txBody>
      </p:sp>
      <p:sp>
        <p:nvSpPr>
          <p:cNvPr id="33" name="Shape 28"/>
          <p:cNvSpPr/>
          <p:nvPr/>
        </p:nvSpPr>
        <p:spPr>
          <a:xfrm>
            <a:off x="612648" y="9144000"/>
            <a:ext cx="17062704" cy="566928"/>
          </a:xfrm>
          <a:prstGeom prst="roundRect">
            <a:avLst>
              <a:gd name="adj" fmla="val 12903"/>
            </a:avLst>
          </a:prstGeom>
          <a:solidFill>
            <a:srgbClr val="251833"/>
          </a:solidFill>
          <a:ln/>
        </p:spPr>
      </p:sp>
      <p:sp>
        <p:nvSpPr>
          <p:cNvPr id="34" name="Text 29"/>
          <p:cNvSpPr/>
          <p:nvPr/>
        </p:nvSpPr>
        <p:spPr>
          <a:xfrm>
            <a:off x="841248" y="9144000"/>
            <a:ext cx="1463040" cy="566928"/>
          </a:xfrm>
          <a:prstGeom prst="rect">
            <a:avLst/>
          </a:prstGeom>
          <a:noFill/>
          <a:ln/>
        </p:spPr>
        <p:txBody>
          <a:bodyPr wrap="square" lIns="0" tIns="0" rIns="0" bIns="0" rtlCol="0" anchor="ctr"/>
          <a:lstStyle/>
          <a:p>
            <a:pPr indent="0" marL="0">
              <a:buNone/>
            </a:pPr>
            <a:r>
              <a:rPr lang="en-US" sz="1300" spc="100" kern="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35" name="Text 30"/>
          <p:cNvSpPr/>
          <p:nvPr/>
        </p:nvSpPr>
        <p:spPr>
          <a:xfrm>
            <a:off x="2304288" y="9144000"/>
            <a:ext cx="15142464" cy="56692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These teams use Copilot Chat often and regularly. Let's ask whether a license would help their work.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2F8"/>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637087"/>
                </a:solidFill>
                <a:latin typeface="Segoe UI" pitchFamily="34" charset="0"/>
                <a:ea typeface="Segoe UI" pitchFamily="34" charset="-122"/>
                <a:cs typeface="Segoe UI" pitchFamily="34" charset="-120"/>
              </a:rPr>
              <a:t>14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indent="0" marL="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BEFORE YOU DRAW CONCLUSIONS</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251833"/>
                </a:solidFill>
                <a:latin typeface="Segoe UI Semibold" pitchFamily="34" charset="0"/>
                <a:ea typeface="Segoe UI Semibold" pitchFamily="34" charset="-122"/>
                <a:cs typeface="Segoe UI Semibold" pitchFamily="34" charset="-120"/>
              </a:rPr>
              <a:t>Read the numbers responsibly</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indent="0" marL="0">
              <a:buNone/>
            </a:pPr>
            <a:r>
              <a:rPr lang="en-US" sz="2000" dirty="0">
                <a:solidFill>
                  <a:srgbClr val="637087"/>
                </a:solidFill>
                <a:latin typeface="Segoe UI" pitchFamily="34" charset="0"/>
                <a:ea typeface="Segoe UI" pitchFamily="34" charset="-122"/>
                <a:cs typeface="Segoe UI" pitchFamily="34" charset="-120"/>
              </a:rPr>
              <a:t>Six things to keep in mind on every page.</a:t>
            </a:r>
            <a:endParaRPr lang="en-US" sz="2000" dirty="0"/>
          </a:p>
        </p:txBody>
      </p:sp>
      <p:sp>
        <p:nvSpPr>
          <p:cNvPr id="9" name="Shape 5"/>
          <p:cNvSpPr/>
          <p:nvPr/>
        </p:nvSpPr>
        <p:spPr>
          <a:xfrm>
            <a:off x="612648" y="2286000"/>
            <a:ext cx="5504688" cy="3127248"/>
          </a:xfrm>
          <a:prstGeom prst="roundRect">
            <a:avLst>
              <a:gd name="adj" fmla="val 2924"/>
            </a:avLst>
          </a:prstGeom>
          <a:solidFill>
            <a:srgbClr val="FFFFFF"/>
          </a:solidFill>
          <a:ln w="12700">
            <a:solidFill>
              <a:srgbClr val="E2DDEB"/>
            </a:solidFill>
            <a:prstDash val="solid"/>
          </a:ln>
        </p:spPr>
      </p:sp>
      <p:sp>
        <p:nvSpPr>
          <p:cNvPr id="10" name="Shape 6"/>
          <p:cNvSpPr/>
          <p:nvPr/>
        </p:nvSpPr>
        <p:spPr>
          <a:xfrm>
            <a:off x="932688" y="2606040"/>
            <a:ext cx="457200" cy="457200"/>
          </a:xfrm>
          <a:prstGeom prst="ellipse">
            <a:avLst/>
          </a:prstGeom>
          <a:solidFill>
            <a:srgbClr val="7953B8"/>
          </a:solidFill>
          <a:ln w="25400">
            <a:solidFill>
              <a:srgbClr val="FFFFFF"/>
            </a:solidFill>
            <a:prstDash val="solid"/>
          </a:ln>
        </p:spPr>
      </p:sp>
      <p:sp>
        <p:nvSpPr>
          <p:cNvPr id="11" name="Text 7"/>
          <p:cNvSpPr/>
          <p:nvPr/>
        </p:nvSpPr>
        <p:spPr>
          <a:xfrm>
            <a:off x="932688" y="2615184"/>
            <a:ext cx="45720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1</a:t>
            </a:r>
            <a:endParaRPr lang="en-US" sz="1800" dirty="0"/>
          </a:p>
        </p:txBody>
      </p:sp>
      <p:sp>
        <p:nvSpPr>
          <p:cNvPr id="12" name="Text 8"/>
          <p:cNvSpPr/>
          <p:nvPr/>
        </p:nvSpPr>
        <p:spPr>
          <a:xfrm>
            <a:off x="932688" y="3246120"/>
            <a:ext cx="4864608" cy="457200"/>
          </a:xfrm>
          <a:prstGeom prst="rect">
            <a:avLst/>
          </a:prstGeom>
          <a:noFill/>
          <a:ln/>
        </p:spPr>
        <p:txBody>
          <a:bodyPr wrap="square" lIns="0" tIns="0" rIns="0" bIns="0" rtlCol="0" anchor="ctr"/>
          <a:lstStyle/>
          <a:p>
            <a:pPr indent="0" marL="0">
              <a:buNone/>
            </a:pPr>
            <a:r>
              <a:rPr lang="en-US" sz="2100" dirty="0">
                <a:solidFill>
                  <a:srgbClr val="251833"/>
                </a:solidFill>
                <a:latin typeface="Segoe UI Semibold" pitchFamily="34" charset="0"/>
                <a:ea typeface="Segoe UI Semibold" pitchFamily="34" charset="-122"/>
                <a:cs typeface="Segoe UI Semibold" pitchFamily="34" charset="-120"/>
              </a:rPr>
              <a:t>People in scope aren't all active</a:t>
            </a:r>
            <a:endParaRPr lang="en-US" sz="2100" dirty="0"/>
          </a:p>
        </p:txBody>
      </p:sp>
      <p:sp>
        <p:nvSpPr>
          <p:cNvPr id="13" name="Text 9"/>
          <p:cNvSpPr/>
          <p:nvPr/>
        </p:nvSpPr>
        <p:spPr>
          <a:xfrm>
            <a:off x="932688" y="3767328"/>
            <a:ext cx="4864608" cy="1508760"/>
          </a:xfrm>
          <a:prstGeom prst="rect">
            <a:avLst/>
          </a:prstGeom>
          <a:noFill/>
          <a:ln/>
        </p:spPr>
        <p:txBody>
          <a:bodyPr wrap="square" lIns="0" tIns="0" rIns="0" bIns="0" rtlCol="0" anchor="t"/>
          <a:lstStyle/>
          <a:p>
            <a:pPr indent="0" marL="0">
              <a:buNone/>
            </a:pPr>
            <a:r>
              <a:rPr lang="en-US" sz="1700" dirty="0">
                <a:solidFill>
                  <a:srgbClr val="637087"/>
                </a:solidFill>
                <a:latin typeface="Segoe UI" pitchFamily="34" charset="0"/>
                <a:ea typeface="Segoe UI" pitchFamily="34" charset="-122"/>
                <a:cs typeface="Segoe UI" pitchFamily="34" charset="-120"/>
              </a:rPr>
              <a:t>People in scope are everyone in the selected group. Active users are those with recorded use. A large team can have few active users.</a:t>
            </a:r>
            <a:endParaRPr lang="en-US" sz="1700" dirty="0"/>
          </a:p>
        </p:txBody>
      </p:sp>
      <p:sp>
        <p:nvSpPr>
          <p:cNvPr id="14" name="Shape 10"/>
          <p:cNvSpPr/>
          <p:nvPr/>
        </p:nvSpPr>
        <p:spPr>
          <a:xfrm>
            <a:off x="6391656" y="2286000"/>
            <a:ext cx="5504688" cy="3127248"/>
          </a:xfrm>
          <a:prstGeom prst="roundRect">
            <a:avLst>
              <a:gd name="adj" fmla="val 2924"/>
            </a:avLst>
          </a:prstGeom>
          <a:solidFill>
            <a:srgbClr val="FFFFFF"/>
          </a:solidFill>
          <a:ln w="12700">
            <a:solidFill>
              <a:srgbClr val="E2DDEB"/>
            </a:solidFill>
            <a:prstDash val="solid"/>
          </a:ln>
        </p:spPr>
      </p:sp>
      <p:sp>
        <p:nvSpPr>
          <p:cNvPr id="15" name="Shape 11"/>
          <p:cNvSpPr/>
          <p:nvPr/>
        </p:nvSpPr>
        <p:spPr>
          <a:xfrm>
            <a:off x="6711696" y="2606040"/>
            <a:ext cx="457200" cy="457200"/>
          </a:xfrm>
          <a:prstGeom prst="ellipse">
            <a:avLst/>
          </a:prstGeom>
          <a:solidFill>
            <a:srgbClr val="008774"/>
          </a:solidFill>
          <a:ln w="25400">
            <a:solidFill>
              <a:srgbClr val="FFFFFF"/>
            </a:solidFill>
            <a:prstDash val="solid"/>
          </a:ln>
        </p:spPr>
      </p:sp>
      <p:sp>
        <p:nvSpPr>
          <p:cNvPr id="16" name="Text 12"/>
          <p:cNvSpPr/>
          <p:nvPr/>
        </p:nvSpPr>
        <p:spPr>
          <a:xfrm>
            <a:off x="6711696" y="2615184"/>
            <a:ext cx="45720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2</a:t>
            </a:r>
            <a:endParaRPr lang="en-US" sz="1800" dirty="0"/>
          </a:p>
        </p:txBody>
      </p:sp>
      <p:sp>
        <p:nvSpPr>
          <p:cNvPr id="17" name="Text 13"/>
          <p:cNvSpPr/>
          <p:nvPr/>
        </p:nvSpPr>
        <p:spPr>
          <a:xfrm>
            <a:off x="6711696" y="3246120"/>
            <a:ext cx="4864608" cy="457200"/>
          </a:xfrm>
          <a:prstGeom prst="rect">
            <a:avLst/>
          </a:prstGeom>
          <a:noFill/>
          <a:ln/>
        </p:spPr>
        <p:txBody>
          <a:bodyPr wrap="square" lIns="0" tIns="0" rIns="0" bIns="0" rtlCol="0" anchor="ctr"/>
          <a:lstStyle/>
          <a:p>
            <a:pPr indent="0" marL="0">
              <a:buNone/>
            </a:pPr>
            <a:r>
              <a:rPr lang="en-US" sz="2100" dirty="0">
                <a:solidFill>
                  <a:srgbClr val="251833"/>
                </a:solidFill>
                <a:latin typeface="Segoe UI Semibold" pitchFamily="34" charset="0"/>
                <a:ea typeface="Segoe UI Semibold" pitchFamily="34" charset="-122"/>
                <a:cs typeface="Segoe UI Semibold" pitchFamily="34" charset="-120"/>
              </a:rPr>
              <a:t>Groups overlap</a:t>
            </a:r>
            <a:endParaRPr lang="en-US" sz="2100" dirty="0"/>
          </a:p>
        </p:txBody>
      </p:sp>
      <p:sp>
        <p:nvSpPr>
          <p:cNvPr id="18" name="Text 14"/>
          <p:cNvSpPr/>
          <p:nvPr/>
        </p:nvSpPr>
        <p:spPr>
          <a:xfrm>
            <a:off x="6711696" y="3767328"/>
            <a:ext cx="4864608" cy="1508760"/>
          </a:xfrm>
          <a:prstGeom prst="rect">
            <a:avLst/>
          </a:prstGeom>
          <a:noFill/>
          <a:ln/>
        </p:spPr>
        <p:txBody>
          <a:bodyPr wrap="square" lIns="0" tIns="0" rIns="0" bIns="0" rtlCol="0" anchor="t"/>
          <a:lstStyle/>
          <a:p>
            <a:pPr indent="0" marL="0">
              <a:buNone/>
            </a:pPr>
            <a:r>
              <a:rPr lang="en-US" sz="1700" dirty="0">
                <a:solidFill>
                  <a:srgbClr val="637087"/>
                </a:solidFill>
                <a:latin typeface="Segoe UI" pitchFamily="34" charset="0"/>
                <a:ea typeface="Segoe UI" pitchFamily="34" charset="-122"/>
                <a:cs typeface="Segoe UI" pitchFamily="34" charset="-120"/>
              </a:rPr>
              <a:t>One person can use M365 Copilot, Copilot Chat and agents. Compare these groups side by side; don't add them up.</a:t>
            </a:r>
            <a:endParaRPr lang="en-US" sz="1700" dirty="0"/>
          </a:p>
        </p:txBody>
      </p:sp>
      <p:sp>
        <p:nvSpPr>
          <p:cNvPr id="19" name="Shape 15"/>
          <p:cNvSpPr/>
          <p:nvPr/>
        </p:nvSpPr>
        <p:spPr>
          <a:xfrm>
            <a:off x="12170664" y="2286000"/>
            <a:ext cx="5504688" cy="3127248"/>
          </a:xfrm>
          <a:prstGeom prst="roundRect">
            <a:avLst>
              <a:gd name="adj" fmla="val 2924"/>
            </a:avLst>
          </a:prstGeom>
          <a:solidFill>
            <a:srgbClr val="FFFFFF"/>
          </a:solidFill>
          <a:ln w="12700">
            <a:solidFill>
              <a:srgbClr val="E2DDEB"/>
            </a:solidFill>
            <a:prstDash val="solid"/>
          </a:ln>
        </p:spPr>
      </p:sp>
      <p:sp>
        <p:nvSpPr>
          <p:cNvPr id="20" name="Shape 16"/>
          <p:cNvSpPr/>
          <p:nvPr/>
        </p:nvSpPr>
        <p:spPr>
          <a:xfrm>
            <a:off x="12490704" y="2606040"/>
            <a:ext cx="457200" cy="457200"/>
          </a:xfrm>
          <a:prstGeom prst="ellipse">
            <a:avLst/>
          </a:prstGeom>
          <a:solidFill>
            <a:srgbClr val="BF5B25"/>
          </a:solidFill>
          <a:ln w="25400">
            <a:solidFill>
              <a:srgbClr val="FFFFFF"/>
            </a:solidFill>
            <a:prstDash val="solid"/>
          </a:ln>
        </p:spPr>
      </p:sp>
      <p:sp>
        <p:nvSpPr>
          <p:cNvPr id="21" name="Text 17"/>
          <p:cNvSpPr/>
          <p:nvPr/>
        </p:nvSpPr>
        <p:spPr>
          <a:xfrm>
            <a:off x="12490704" y="2615184"/>
            <a:ext cx="45720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3</a:t>
            </a:r>
            <a:endParaRPr lang="en-US" sz="1800" dirty="0"/>
          </a:p>
        </p:txBody>
      </p:sp>
      <p:sp>
        <p:nvSpPr>
          <p:cNvPr id="22" name="Text 18"/>
          <p:cNvSpPr/>
          <p:nvPr/>
        </p:nvSpPr>
        <p:spPr>
          <a:xfrm>
            <a:off x="12490704" y="3246120"/>
            <a:ext cx="4864608" cy="457200"/>
          </a:xfrm>
          <a:prstGeom prst="rect">
            <a:avLst/>
          </a:prstGeom>
          <a:noFill/>
          <a:ln/>
        </p:spPr>
        <p:txBody>
          <a:bodyPr wrap="square" lIns="0" tIns="0" rIns="0" bIns="0" rtlCol="0" anchor="ctr"/>
          <a:lstStyle/>
          <a:p>
            <a:pPr indent="0" marL="0">
              <a:buNone/>
            </a:pPr>
            <a:r>
              <a:rPr lang="en-US" sz="2100" dirty="0">
                <a:solidFill>
                  <a:srgbClr val="251833"/>
                </a:solidFill>
                <a:latin typeface="Segoe UI Semibold" pitchFamily="34" charset="0"/>
                <a:ea typeface="Segoe UI Semibold" pitchFamily="34" charset="-122"/>
                <a:cs typeface="Segoe UI Semibold" pitchFamily="34" charset="-120"/>
              </a:rPr>
              <a:t>Activity isn't value</a:t>
            </a:r>
            <a:endParaRPr lang="en-US" sz="2100" dirty="0"/>
          </a:p>
        </p:txBody>
      </p:sp>
      <p:sp>
        <p:nvSpPr>
          <p:cNvPr id="23" name="Text 19"/>
          <p:cNvSpPr/>
          <p:nvPr/>
        </p:nvSpPr>
        <p:spPr>
          <a:xfrm>
            <a:off x="12490704" y="3767328"/>
            <a:ext cx="4864608" cy="1508760"/>
          </a:xfrm>
          <a:prstGeom prst="rect">
            <a:avLst/>
          </a:prstGeom>
          <a:noFill/>
          <a:ln/>
        </p:spPr>
        <p:txBody>
          <a:bodyPr wrap="square" lIns="0" tIns="0" rIns="0" bIns="0" rtlCol="0" anchor="t"/>
          <a:lstStyle/>
          <a:p>
            <a:pPr indent="0" marL="0">
              <a:buNone/>
            </a:pPr>
            <a:r>
              <a:rPr lang="en-US" sz="1700" dirty="0">
                <a:solidFill>
                  <a:srgbClr val="637087"/>
                </a:solidFill>
                <a:latin typeface="Segoe UI" pitchFamily="34" charset="0"/>
                <a:ea typeface="Segoe UI" pitchFamily="34" charset="-122"/>
                <a:cs typeface="Segoe UI" pitchFamily="34" charset="-120"/>
              </a:rPr>
              <a:t>Prompts count requests and sessions count conversations. Neither measures time saved, quality or return on investment.</a:t>
            </a:r>
            <a:endParaRPr lang="en-US" sz="1700" dirty="0"/>
          </a:p>
        </p:txBody>
      </p:sp>
      <p:sp>
        <p:nvSpPr>
          <p:cNvPr id="24" name="Shape 20"/>
          <p:cNvSpPr/>
          <p:nvPr/>
        </p:nvSpPr>
        <p:spPr>
          <a:xfrm>
            <a:off x="612648" y="5641848"/>
            <a:ext cx="5504688" cy="3127248"/>
          </a:xfrm>
          <a:prstGeom prst="roundRect">
            <a:avLst>
              <a:gd name="adj" fmla="val 2924"/>
            </a:avLst>
          </a:prstGeom>
          <a:solidFill>
            <a:srgbClr val="FFFFFF"/>
          </a:solidFill>
          <a:ln w="12700">
            <a:solidFill>
              <a:srgbClr val="E2DDEB"/>
            </a:solidFill>
            <a:prstDash val="solid"/>
          </a:ln>
        </p:spPr>
      </p:sp>
      <p:sp>
        <p:nvSpPr>
          <p:cNvPr id="25" name="Shape 21"/>
          <p:cNvSpPr/>
          <p:nvPr/>
        </p:nvSpPr>
        <p:spPr>
          <a:xfrm>
            <a:off x="932688" y="5961888"/>
            <a:ext cx="457200" cy="457200"/>
          </a:xfrm>
          <a:prstGeom prst="ellipse">
            <a:avLst/>
          </a:prstGeom>
          <a:solidFill>
            <a:srgbClr val="4268B2"/>
          </a:solidFill>
          <a:ln w="25400">
            <a:solidFill>
              <a:srgbClr val="FFFFFF"/>
            </a:solidFill>
            <a:prstDash val="solid"/>
          </a:ln>
        </p:spPr>
      </p:sp>
      <p:sp>
        <p:nvSpPr>
          <p:cNvPr id="26" name="Text 22"/>
          <p:cNvSpPr/>
          <p:nvPr/>
        </p:nvSpPr>
        <p:spPr>
          <a:xfrm>
            <a:off x="932688" y="5971032"/>
            <a:ext cx="45720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4</a:t>
            </a:r>
            <a:endParaRPr lang="en-US" sz="1800" dirty="0"/>
          </a:p>
        </p:txBody>
      </p:sp>
      <p:sp>
        <p:nvSpPr>
          <p:cNvPr id="27" name="Text 23"/>
          <p:cNvSpPr/>
          <p:nvPr/>
        </p:nvSpPr>
        <p:spPr>
          <a:xfrm>
            <a:off x="932688" y="6601968"/>
            <a:ext cx="4864608" cy="457200"/>
          </a:xfrm>
          <a:prstGeom prst="rect">
            <a:avLst/>
          </a:prstGeom>
          <a:noFill/>
          <a:ln/>
        </p:spPr>
        <p:txBody>
          <a:bodyPr wrap="square" lIns="0" tIns="0" rIns="0" bIns="0" rtlCol="0" anchor="ctr"/>
          <a:lstStyle/>
          <a:p>
            <a:pPr indent="0" marL="0">
              <a:buNone/>
            </a:pPr>
            <a:r>
              <a:rPr lang="en-US" sz="2100" dirty="0">
                <a:solidFill>
                  <a:srgbClr val="251833"/>
                </a:solidFill>
                <a:latin typeface="Segoe UI Semibold" pitchFamily="34" charset="0"/>
                <a:ea typeface="Segoe UI Semibold" pitchFamily="34" charset="-122"/>
                <a:cs typeface="Segoe UI Semibold" pitchFamily="34" charset="-120"/>
              </a:rPr>
              <a:t>Habits use one month</a:t>
            </a:r>
            <a:endParaRPr lang="en-US" sz="2100" dirty="0"/>
          </a:p>
        </p:txBody>
      </p:sp>
      <p:sp>
        <p:nvSpPr>
          <p:cNvPr id="28" name="Text 24"/>
          <p:cNvSpPr/>
          <p:nvPr/>
        </p:nvSpPr>
        <p:spPr>
          <a:xfrm>
            <a:off x="932688" y="7123176"/>
            <a:ext cx="4864608" cy="1508760"/>
          </a:xfrm>
          <a:prstGeom prst="rect">
            <a:avLst/>
          </a:prstGeom>
          <a:noFill/>
          <a:ln/>
        </p:spPr>
        <p:txBody>
          <a:bodyPr wrap="square" lIns="0" tIns="0" rIns="0" bIns="0" rtlCol="0" anchor="t"/>
          <a:lstStyle/>
          <a:p>
            <a:pPr indent="0" marL="0">
              <a:buNone/>
            </a:pPr>
            <a:r>
              <a:rPr lang="en-US" sz="1700" dirty="0">
                <a:solidFill>
                  <a:srgbClr val="637087"/>
                </a:solidFill>
                <a:latin typeface="Segoe UI" pitchFamily="34" charset="0"/>
                <a:ea typeface="Segoe UI" pitchFamily="34" charset="-122"/>
                <a:cs typeface="Segoe UI" pitchFamily="34" charset="-120"/>
              </a:rPr>
              <a:t>Habit cards describe the month printed on the page. Tables nearby cover the whole selected period.</a:t>
            </a:r>
            <a:endParaRPr lang="en-US" sz="1700" dirty="0"/>
          </a:p>
        </p:txBody>
      </p:sp>
      <p:sp>
        <p:nvSpPr>
          <p:cNvPr id="29" name="Shape 25"/>
          <p:cNvSpPr/>
          <p:nvPr/>
        </p:nvSpPr>
        <p:spPr>
          <a:xfrm>
            <a:off x="6391656" y="5641848"/>
            <a:ext cx="5504688" cy="3127248"/>
          </a:xfrm>
          <a:prstGeom prst="roundRect">
            <a:avLst>
              <a:gd name="adj" fmla="val 2924"/>
            </a:avLst>
          </a:prstGeom>
          <a:solidFill>
            <a:srgbClr val="FFFFFF"/>
          </a:solidFill>
          <a:ln w="12700">
            <a:solidFill>
              <a:srgbClr val="E2DDEB"/>
            </a:solidFill>
            <a:prstDash val="solid"/>
          </a:ln>
        </p:spPr>
      </p:sp>
      <p:sp>
        <p:nvSpPr>
          <p:cNvPr id="30" name="Shape 26"/>
          <p:cNvSpPr/>
          <p:nvPr/>
        </p:nvSpPr>
        <p:spPr>
          <a:xfrm>
            <a:off x="6711696" y="5961888"/>
            <a:ext cx="457200" cy="457200"/>
          </a:xfrm>
          <a:prstGeom prst="ellipse">
            <a:avLst/>
          </a:prstGeom>
          <a:solidFill>
            <a:srgbClr val="7953B8"/>
          </a:solidFill>
          <a:ln w="25400">
            <a:solidFill>
              <a:srgbClr val="FFFFFF"/>
            </a:solidFill>
            <a:prstDash val="solid"/>
          </a:ln>
        </p:spPr>
      </p:sp>
      <p:sp>
        <p:nvSpPr>
          <p:cNvPr id="31" name="Text 27"/>
          <p:cNvSpPr/>
          <p:nvPr/>
        </p:nvSpPr>
        <p:spPr>
          <a:xfrm>
            <a:off x="6711696" y="5971032"/>
            <a:ext cx="45720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5</a:t>
            </a:r>
            <a:endParaRPr lang="en-US" sz="1800" dirty="0"/>
          </a:p>
        </p:txBody>
      </p:sp>
      <p:sp>
        <p:nvSpPr>
          <p:cNvPr id="32" name="Text 28"/>
          <p:cNvSpPr/>
          <p:nvPr/>
        </p:nvSpPr>
        <p:spPr>
          <a:xfrm>
            <a:off x="6711696" y="6601968"/>
            <a:ext cx="4864608" cy="457200"/>
          </a:xfrm>
          <a:prstGeom prst="rect">
            <a:avLst/>
          </a:prstGeom>
          <a:noFill/>
          <a:ln/>
        </p:spPr>
        <p:txBody>
          <a:bodyPr wrap="square" lIns="0" tIns="0" rIns="0" bIns="0" rtlCol="0" anchor="ctr"/>
          <a:lstStyle/>
          <a:p>
            <a:pPr indent="0" marL="0">
              <a:buNone/>
            </a:pPr>
            <a:r>
              <a:rPr lang="en-US" sz="2100" dirty="0">
                <a:solidFill>
                  <a:srgbClr val="251833"/>
                </a:solidFill>
                <a:latin typeface="Segoe UI Semibold" pitchFamily="34" charset="0"/>
                <a:ea typeface="Segoe UI Semibold" pitchFamily="34" charset="-122"/>
                <a:cs typeface="Segoe UI Semibold" pitchFamily="34" charset="-120"/>
              </a:rPr>
              <a:t>License status is a snapshot</a:t>
            </a:r>
            <a:endParaRPr lang="en-US" sz="2100" dirty="0"/>
          </a:p>
        </p:txBody>
      </p:sp>
      <p:sp>
        <p:nvSpPr>
          <p:cNvPr id="33" name="Text 29"/>
          <p:cNvSpPr/>
          <p:nvPr/>
        </p:nvSpPr>
        <p:spPr>
          <a:xfrm>
            <a:off x="6711696" y="7123176"/>
            <a:ext cx="4864608" cy="1508760"/>
          </a:xfrm>
          <a:prstGeom prst="rect">
            <a:avLst/>
          </a:prstGeom>
          <a:noFill/>
          <a:ln/>
        </p:spPr>
        <p:txBody>
          <a:bodyPr wrap="square" lIns="0" tIns="0" rIns="0" bIns="0" rtlCol="0" anchor="t"/>
          <a:lstStyle/>
          <a:p>
            <a:pPr indent="0" marL="0">
              <a:buNone/>
            </a:pPr>
            <a:r>
              <a:rPr lang="en-US" sz="1700" dirty="0">
                <a:solidFill>
                  <a:srgbClr val="637087"/>
                </a:solidFill>
                <a:latin typeface="Segoe UI" pitchFamily="34" charset="0"/>
                <a:ea typeface="Segoe UI" pitchFamily="34" charset="-122"/>
                <a:cs typeface="Segoe UI" pitchFamily="34" charset="-120"/>
              </a:rPr>
              <a:t>It comes from the people file at collection time. Unknown is shown as Unknown, never as unlicensed.</a:t>
            </a:r>
            <a:endParaRPr lang="en-US" sz="1700" dirty="0"/>
          </a:p>
        </p:txBody>
      </p:sp>
      <p:sp>
        <p:nvSpPr>
          <p:cNvPr id="34" name="Shape 30"/>
          <p:cNvSpPr/>
          <p:nvPr/>
        </p:nvSpPr>
        <p:spPr>
          <a:xfrm>
            <a:off x="12170664" y="5641848"/>
            <a:ext cx="5504688" cy="3127248"/>
          </a:xfrm>
          <a:prstGeom prst="roundRect">
            <a:avLst>
              <a:gd name="adj" fmla="val 2924"/>
            </a:avLst>
          </a:prstGeom>
          <a:solidFill>
            <a:srgbClr val="FFFFFF"/>
          </a:solidFill>
          <a:ln w="12700">
            <a:solidFill>
              <a:srgbClr val="E2DDEB"/>
            </a:solidFill>
            <a:prstDash val="solid"/>
          </a:ln>
        </p:spPr>
      </p:sp>
      <p:sp>
        <p:nvSpPr>
          <p:cNvPr id="35" name="Shape 31"/>
          <p:cNvSpPr/>
          <p:nvPr/>
        </p:nvSpPr>
        <p:spPr>
          <a:xfrm>
            <a:off x="12490704" y="5961888"/>
            <a:ext cx="457200" cy="457200"/>
          </a:xfrm>
          <a:prstGeom prst="ellipse">
            <a:avLst/>
          </a:prstGeom>
          <a:solidFill>
            <a:srgbClr val="008774"/>
          </a:solidFill>
          <a:ln w="25400">
            <a:solidFill>
              <a:srgbClr val="FFFFFF"/>
            </a:solidFill>
            <a:prstDash val="solid"/>
          </a:ln>
        </p:spPr>
      </p:sp>
      <p:sp>
        <p:nvSpPr>
          <p:cNvPr id="36" name="Text 32"/>
          <p:cNvSpPr/>
          <p:nvPr/>
        </p:nvSpPr>
        <p:spPr>
          <a:xfrm>
            <a:off x="12490704" y="5971032"/>
            <a:ext cx="45720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Segoe UI Semibold" pitchFamily="34" charset="0"/>
                <a:ea typeface="Segoe UI Semibold" pitchFamily="34" charset="-122"/>
                <a:cs typeface="Segoe UI Semibold" pitchFamily="34" charset="-120"/>
              </a:rPr>
              <a:t>6</a:t>
            </a:r>
            <a:endParaRPr lang="en-US" sz="1800" dirty="0"/>
          </a:p>
        </p:txBody>
      </p:sp>
      <p:sp>
        <p:nvSpPr>
          <p:cNvPr id="37" name="Text 33"/>
          <p:cNvSpPr/>
          <p:nvPr/>
        </p:nvSpPr>
        <p:spPr>
          <a:xfrm>
            <a:off x="12490704" y="6601968"/>
            <a:ext cx="4864608" cy="457200"/>
          </a:xfrm>
          <a:prstGeom prst="rect">
            <a:avLst/>
          </a:prstGeom>
          <a:noFill/>
          <a:ln/>
        </p:spPr>
        <p:txBody>
          <a:bodyPr wrap="square" lIns="0" tIns="0" rIns="0" bIns="0" rtlCol="0" anchor="ctr"/>
          <a:lstStyle/>
          <a:p>
            <a:pPr indent="0" marL="0">
              <a:buNone/>
            </a:pPr>
            <a:r>
              <a:rPr lang="en-US" sz="2100" dirty="0">
                <a:solidFill>
                  <a:srgbClr val="251833"/>
                </a:solidFill>
                <a:latin typeface="Segoe UI Semibold" pitchFamily="34" charset="0"/>
                <a:ea typeface="Segoe UI Semibold" pitchFamily="34" charset="-122"/>
                <a:cs typeface="Segoe UI Semibold" pitchFamily="34" charset="-120"/>
              </a:rPr>
              <a:t>Categories are clues</a:t>
            </a:r>
            <a:endParaRPr lang="en-US" sz="2100" dirty="0"/>
          </a:p>
        </p:txBody>
      </p:sp>
      <p:sp>
        <p:nvSpPr>
          <p:cNvPr id="38" name="Text 34"/>
          <p:cNvSpPr/>
          <p:nvPr/>
        </p:nvSpPr>
        <p:spPr>
          <a:xfrm>
            <a:off x="12490704" y="7123176"/>
            <a:ext cx="4864608" cy="1508760"/>
          </a:xfrm>
          <a:prstGeom prst="rect">
            <a:avLst/>
          </a:prstGeom>
          <a:noFill/>
          <a:ln/>
        </p:spPr>
        <p:txBody>
          <a:bodyPr wrap="square" lIns="0" tIns="0" rIns="0" bIns="0" rtlCol="0" anchor="t"/>
          <a:lstStyle/>
          <a:p>
            <a:pPr indent="0" marL="0">
              <a:buNone/>
            </a:pPr>
            <a:r>
              <a:rPr lang="en-US" sz="1700" dirty="0">
                <a:solidFill>
                  <a:srgbClr val="637087"/>
                </a:solidFill>
                <a:latin typeface="Segoe UI" pitchFamily="34" charset="0"/>
                <a:ea typeface="Segoe UI" pitchFamily="34" charset="-122"/>
                <a:cs typeface="Segoe UI" pitchFamily="34" charset="-120"/>
              </a:rPr>
              <a:t>Inferred activity and agent use cases come from activity records and agent descriptions. Check them with the people doing the work.</a:t>
            </a:r>
            <a:endParaRPr lang="en-US" sz="1700" dirty="0"/>
          </a:p>
        </p:txBody>
      </p:sp>
      <p:sp>
        <p:nvSpPr>
          <p:cNvPr id="39" name="Shape 35"/>
          <p:cNvSpPr/>
          <p:nvPr/>
        </p:nvSpPr>
        <p:spPr>
          <a:xfrm>
            <a:off x="612648" y="9144000"/>
            <a:ext cx="17062704" cy="566928"/>
          </a:xfrm>
          <a:prstGeom prst="roundRect">
            <a:avLst>
              <a:gd name="adj" fmla="val 12903"/>
            </a:avLst>
          </a:prstGeom>
          <a:solidFill>
            <a:srgbClr val="251833"/>
          </a:solidFill>
          <a:ln/>
        </p:spPr>
      </p:sp>
      <p:sp>
        <p:nvSpPr>
          <p:cNvPr id="40" name="Text 36"/>
          <p:cNvSpPr/>
          <p:nvPr/>
        </p:nvSpPr>
        <p:spPr>
          <a:xfrm>
            <a:off x="841248" y="9144000"/>
            <a:ext cx="1463040" cy="566928"/>
          </a:xfrm>
          <a:prstGeom prst="rect">
            <a:avLst/>
          </a:prstGeom>
          <a:noFill/>
          <a:ln/>
        </p:spPr>
        <p:txBody>
          <a:bodyPr wrap="square" lIns="0" tIns="0" rIns="0" bIns="0" rtlCol="0" anchor="ctr"/>
          <a:lstStyle/>
          <a:p>
            <a:pPr indent="0" marL="0">
              <a:buNone/>
            </a:pPr>
            <a:r>
              <a:rPr lang="en-US" sz="1300" spc="100" kern="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41" name="Text 37"/>
          <p:cNvSpPr/>
          <p:nvPr/>
        </p:nvSpPr>
        <p:spPr>
          <a:xfrm>
            <a:off x="2304288" y="9144000"/>
            <a:ext cx="15142464" cy="56692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The report shows recorded activity. The team can tell us what it means for their work.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2F8"/>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637087"/>
                </a:solidFill>
                <a:latin typeface="Segoe UI" pitchFamily="34" charset="0"/>
                <a:ea typeface="Segoe UI" pitchFamily="34" charset="-122"/>
                <a:cs typeface="Segoe UI" pitchFamily="34" charset="-120"/>
              </a:rPr>
              <a:t>15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indent="0" marL="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PRIVACY BUILT IN</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251833"/>
                </a:solidFill>
                <a:latin typeface="Segoe UI Semibold" pitchFamily="34" charset="0"/>
                <a:ea typeface="Segoe UI Semibold" pitchFamily="34" charset="-122"/>
                <a:cs typeface="Segoe UI Semibold" pitchFamily="34" charset="-120"/>
              </a:rPr>
              <a:t>Team-level by default, detail only when approved</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indent="0" marL="0">
              <a:buNone/>
            </a:pPr>
            <a:r>
              <a:rPr lang="en-US" sz="2000" dirty="0">
                <a:solidFill>
                  <a:srgbClr val="637087"/>
                </a:solidFill>
                <a:latin typeface="Segoe UI" pitchFamily="34" charset="0"/>
                <a:ea typeface="Segoe UI" pitchFamily="34" charset="-122"/>
                <a:cs typeface="Segoe UI" pitchFamily="34" charset="-120"/>
              </a:rPr>
              <a:t>Two controls decide what each viewer can see. Agree them before you share the report.</a:t>
            </a:r>
            <a:endParaRPr lang="en-US" sz="2000" dirty="0"/>
          </a:p>
        </p:txBody>
      </p:sp>
      <p:sp>
        <p:nvSpPr>
          <p:cNvPr id="9" name="Shape 5"/>
          <p:cNvSpPr/>
          <p:nvPr/>
        </p:nvSpPr>
        <p:spPr>
          <a:xfrm>
            <a:off x="612648" y="2286000"/>
            <a:ext cx="10378440" cy="6583680"/>
          </a:xfrm>
          <a:prstGeom prst="roundRect">
            <a:avLst>
              <a:gd name="adj" fmla="val 1389"/>
            </a:avLst>
          </a:prstGeom>
          <a:solidFill>
            <a:srgbClr val="FFFFFF"/>
          </a:solidFill>
          <a:ln w="12700">
            <a:solidFill>
              <a:srgbClr val="E2DDEB"/>
            </a:solidFill>
            <a:prstDash val="solid"/>
          </a:ln>
        </p:spPr>
      </p:sp>
      <p:sp>
        <p:nvSpPr>
          <p:cNvPr id="10" name="Text 6"/>
          <p:cNvSpPr/>
          <p:nvPr/>
        </p:nvSpPr>
        <p:spPr>
          <a:xfrm>
            <a:off x="978408" y="2514600"/>
            <a:ext cx="7315200" cy="320040"/>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MINIMUM GROUP SIZE</a:t>
            </a:r>
            <a:endParaRPr lang="en-US" sz="1200" dirty="0"/>
          </a:p>
        </p:txBody>
      </p:sp>
      <p:sp>
        <p:nvSpPr>
          <p:cNvPr id="11" name="Text 7"/>
          <p:cNvSpPr/>
          <p:nvPr/>
        </p:nvSpPr>
        <p:spPr>
          <a:xfrm>
            <a:off x="978408" y="2880360"/>
            <a:ext cx="9601200" cy="731520"/>
          </a:xfrm>
          <a:prstGeom prst="rect">
            <a:avLst/>
          </a:prstGeom>
          <a:noFill/>
          <a:ln/>
        </p:spPr>
        <p:txBody>
          <a:bodyPr wrap="square" lIns="0" tIns="0" rIns="0" bIns="0" rtlCol="0" anchor="t"/>
          <a:lstStyle/>
          <a:p>
            <a:pPr indent="0" marL="0">
              <a:buNone/>
            </a:pPr>
            <a:r>
              <a:rPr lang="en-US" sz="1900" dirty="0">
                <a:solidFill>
                  <a:srgbClr val="251833"/>
                </a:solidFill>
                <a:latin typeface="Segoe UI Semibold" pitchFamily="34" charset="0"/>
                <a:ea typeface="Segoe UI Semibold" pitchFamily="34" charset="-122"/>
                <a:cs typeface="Segoe UI Semibold" pitchFamily="34" charset="-120"/>
              </a:rPr>
              <a:t>The smallest number of eligible people a group needs before the report shows its results.</a:t>
            </a:r>
            <a:endParaRPr lang="en-US" sz="1900" dirty="0"/>
          </a:p>
        </p:txBody>
      </p:sp>
      <p:sp>
        <p:nvSpPr>
          <p:cNvPr id="12" name="Shape 8"/>
          <p:cNvSpPr/>
          <p:nvPr/>
        </p:nvSpPr>
        <p:spPr>
          <a:xfrm>
            <a:off x="978408" y="3794760"/>
            <a:ext cx="3063240" cy="3429000"/>
          </a:xfrm>
          <a:prstGeom prst="roundRect">
            <a:avLst>
              <a:gd name="adj" fmla="val 2985"/>
            </a:avLst>
          </a:prstGeom>
          <a:solidFill>
            <a:srgbClr val="ECE5F4"/>
          </a:solidFill>
          <a:ln/>
        </p:spPr>
      </p:sp>
      <p:sp>
        <p:nvSpPr>
          <p:cNvPr id="13" name="Text 9"/>
          <p:cNvSpPr/>
          <p:nvPr/>
        </p:nvSpPr>
        <p:spPr>
          <a:xfrm>
            <a:off x="1252728" y="4023360"/>
            <a:ext cx="2560320" cy="1188720"/>
          </a:xfrm>
          <a:prstGeom prst="rect">
            <a:avLst/>
          </a:prstGeom>
          <a:noFill/>
          <a:ln/>
        </p:spPr>
        <p:txBody>
          <a:bodyPr wrap="square" lIns="0" tIns="0" rIns="0" bIns="0" rtlCol="0" anchor="ctr"/>
          <a:lstStyle/>
          <a:p>
            <a:pPr indent="0" marL="0">
              <a:buNone/>
            </a:pPr>
            <a:r>
              <a:rPr lang="en-US" sz="6400" dirty="0">
                <a:solidFill>
                  <a:srgbClr val="7953B8"/>
                </a:solidFill>
                <a:latin typeface="Segoe UI Semibold" pitchFamily="34" charset="0"/>
                <a:ea typeface="Segoe UI Semibold" pitchFamily="34" charset="-122"/>
                <a:cs typeface="Segoe UI Semibold" pitchFamily="34" charset="-120"/>
              </a:rPr>
              <a:t>3</a:t>
            </a:r>
            <a:endParaRPr lang="en-US" sz="6400" dirty="0"/>
          </a:p>
        </p:txBody>
      </p:sp>
      <p:sp>
        <p:nvSpPr>
          <p:cNvPr id="14" name="Text 10"/>
          <p:cNvSpPr/>
          <p:nvPr/>
        </p:nvSpPr>
        <p:spPr>
          <a:xfrm>
            <a:off x="1252728" y="5349240"/>
            <a:ext cx="2560320" cy="457200"/>
          </a:xfrm>
          <a:prstGeom prst="rect">
            <a:avLst/>
          </a:prstGeom>
          <a:noFill/>
          <a:ln/>
        </p:spPr>
        <p:txBody>
          <a:bodyPr wrap="square" lIns="0" tIns="0" rIns="0" bIns="0" rtlCol="0" anchor="ctr"/>
          <a:lstStyle/>
          <a:p>
            <a:pPr indent="0" marL="0">
              <a:buNone/>
            </a:pPr>
            <a:r>
              <a:rPr lang="en-US" sz="2100" dirty="0">
                <a:solidFill>
                  <a:srgbClr val="251833"/>
                </a:solidFill>
                <a:latin typeface="Segoe UI Semibold" pitchFamily="34" charset="0"/>
                <a:ea typeface="Segoe UI Semibold" pitchFamily="34" charset="-122"/>
                <a:cs typeface="Segoe UI Semibold" pitchFamily="34" charset="-120"/>
              </a:rPr>
              <a:t>Default</a:t>
            </a:r>
            <a:endParaRPr lang="en-US" sz="2100" dirty="0"/>
          </a:p>
        </p:txBody>
      </p:sp>
      <p:sp>
        <p:nvSpPr>
          <p:cNvPr id="15" name="Text 11"/>
          <p:cNvSpPr/>
          <p:nvPr/>
        </p:nvSpPr>
        <p:spPr>
          <a:xfrm>
            <a:off x="1252728" y="5897880"/>
            <a:ext cx="2560320" cy="1234440"/>
          </a:xfrm>
          <a:prstGeom prst="rect">
            <a:avLst/>
          </a:prstGeom>
          <a:noFill/>
          <a:ln/>
        </p:spPr>
        <p:txBody>
          <a:bodyPr wrap="square" lIns="0" tIns="0" rIns="0" bIns="0" rtlCol="0" anchor="t"/>
          <a:lstStyle/>
          <a:p>
            <a:pPr indent="0" marL="0">
              <a:buNone/>
            </a:pPr>
            <a:r>
              <a:rPr lang="en-US" sz="1700" dirty="0">
                <a:solidFill>
                  <a:srgbClr val="637087"/>
                </a:solidFill>
                <a:latin typeface="Segoe UI" pitchFamily="34" charset="0"/>
                <a:ea typeface="Segoe UI" pitchFamily="34" charset="-122"/>
                <a:cs typeface="Segoe UI" pitchFamily="34" charset="-120"/>
              </a:rPr>
              <a:t>Team-level reporting. Individual activity stays hidden.</a:t>
            </a:r>
            <a:endParaRPr lang="en-US" sz="1700" dirty="0"/>
          </a:p>
        </p:txBody>
      </p:sp>
      <p:sp>
        <p:nvSpPr>
          <p:cNvPr id="16" name="Shape 12"/>
          <p:cNvSpPr/>
          <p:nvPr/>
        </p:nvSpPr>
        <p:spPr>
          <a:xfrm>
            <a:off x="4224528" y="3794760"/>
            <a:ext cx="3063240" cy="3429000"/>
          </a:xfrm>
          <a:prstGeom prst="roundRect">
            <a:avLst>
              <a:gd name="adj" fmla="val 2985"/>
            </a:avLst>
          </a:prstGeom>
          <a:solidFill>
            <a:srgbClr val="ECE5F4"/>
          </a:solidFill>
          <a:ln/>
        </p:spPr>
      </p:sp>
      <p:sp>
        <p:nvSpPr>
          <p:cNvPr id="17" name="Text 13"/>
          <p:cNvSpPr/>
          <p:nvPr/>
        </p:nvSpPr>
        <p:spPr>
          <a:xfrm>
            <a:off x="4498848" y="4023360"/>
            <a:ext cx="2560320" cy="1188720"/>
          </a:xfrm>
          <a:prstGeom prst="rect">
            <a:avLst/>
          </a:prstGeom>
          <a:noFill/>
          <a:ln/>
        </p:spPr>
        <p:txBody>
          <a:bodyPr wrap="square" lIns="0" tIns="0" rIns="0" bIns="0" rtlCol="0" anchor="ctr"/>
          <a:lstStyle/>
          <a:p>
            <a:pPr indent="0" marL="0">
              <a:buNone/>
            </a:pPr>
            <a:r>
              <a:rPr lang="en-US" sz="6400" dirty="0">
                <a:solidFill>
                  <a:srgbClr val="008774"/>
                </a:solidFill>
                <a:latin typeface="Segoe UI Semibold" pitchFamily="34" charset="0"/>
                <a:ea typeface="Segoe UI Semibold" pitchFamily="34" charset="-122"/>
                <a:cs typeface="Segoe UI Semibold" pitchFamily="34" charset="-120"/>
              </a:rPr>
              <a:t>1</a:t>
            </a:r>
            <a:endParaRPr lang="en-US" sz="6400" dirty="0"/>
          </a:p>
        </p:txBody>
      </p:sp>
      <p:sp>
        <p:nvSpPr>
          <p:cNvPr id="18" name="Text 14"/>
          <p:cNvSpPr/>
          <p:nvPr/>
        </p:nvSpPr>
        <p:spPr>
          <a:xfrm>
            <a:off x="4498848" y="5349240"/>
            <a:ext cx="2560320" cy="457200"/>
          </a:xfrm>
          <a:prstGeom prst="rect">
            <a:avLst/>
          </a:prstGeom>
          <a:noFill/>
          <a:ln/>
        </p:spPr>
        <p:txBody>
          <a:bodyPr wrap="square" lIns="0" tIns="0" rIns="0" bIns="0" rtlCol="0" anchor="ctr"/>
          <a:lstStyle/>
          <a:p>
            <a:pPr indent="0" marL="0">
              <a:buNone/>
            </a:pPr>
            <a:r>
              <a:rPr lang="en-US" sz="2100" dirty="0">
                <a:solidFill>
                  <a:srgbClr val="251833"/>
                </a:solidFill>
                <a:latin typeface="Segoe UI Semibold" pitchFamily="34" charset="0"/>
                <a:ea typeface="Segoe UI Semibold" pitchFamily="34" charset="-122"/>
                <a:cs typeface="Segoe UI Semibold" pitchFamily="34" charset="-120"/>
              </a:rPr>
              <a:t>Approved detail</a:t>
            </a:r>
            <a:endParaRPr lang="en-US" sz="2100" dirty="0"/>
          </a:p>
        </p:txBody>
      </p:sp>
      <p:sp>
        <p:nvSpPr>
          <p:cNvPr id="19" name="Text 15"/>
          <p:cNvSpPr/>
          <p:nvPr/>
        </p:nvSpPr>
        <p:spPr>
          <a:xfrm>
            <a:off x="4498848" y="5897880"/>
            <a:ext cx="2560320" cy="1234440"/>
          </a:xfrm>
          <a:prstGeom prst="rect">
            <a:avLst/>
          </a:prstGeom>
          <a:noFill/>
          <a:ln/>
        </p:spPr>
        <p:txBody>
          <a:bodyPr wrap="square" lIns="0" tIns="0" rIns="0" bIns="0" rtlCol="0" anchor="t"/>
          <a:lstStyle/>
          <a:p>
            <a:pPr indent="0" marL="0">
              <a:buNone/>
            </a:pPr>
            <a:r>
              <a:rPr lang="en-US" sz="1700" dirty="0">
                <a:solidFill>
                  <a:srgbClr val="637087"/>
                </a:solidFill>
                <a:latin typeface="Segoe UI" pitchFamily="34" charset="0"/>
                <a:ea typeface="Segoe UI" pitchFamily="34" charset="-122"/>
                <a:cs typeface="Segoe UI" pitchFamily="34" charset="-120"/>
              </a:rPr>
              <a:t>Individual views, such as By user. Use only when approved.</a:t>
            </a:r>
            <a:endParaRPr lang="en-US" sz="1700" dirty="0"/>
          </a:p>
        </p:txBody>
      </p:sp>
      <p:sp>
        <p:nvSpPr>
          <p:cNvPr id="20" name="Shape 16"/>
          <p:cNvSpPr/>
          <p:nvPr/>
        </p:nvSpPr>
        <p:spPr>
          <a:xfrm>
            <a:off x="7470648" y="3794760"/>
            <a:ext cx="3063240" cy="3429000"/>
          </a:xfrm>
          <a:prstGeom prst="roundRect">
            <a:avLst>
              <a:gd name="adj" fmla="val 2985"/>
            </a:avLst>
          </a:prstGeom>
          <a:solidFill>
            <a:srgbClr val="ECE5F4"/>
          </a:solidFill>
          <a:ln/>
        </p:spPr>
      </p:sp>
      <p:sp>
        <p:nvSpPr>
          <p:cNvPr id="21" name="Text 17"/>
          <p:cNvSpPr/>
          <p:nvPr/>
        </p:nvSpPr>
        <p:spPr>
          <a:xfrm>
            <a:off x="7744968" y="4023360"/>
            <a:ext cx="2560320" cy="1188720"/>
          </a:xfrm>
          <a:prstGeom prst="rect">
            <a:avLst/>
          </a:prstGeom>
          <a:noFill/>
          <a:ln/>
        </p:spPr>
        <p:txBody>
          <a:bodyPr wrap="square" lIns="0" tIns="0" rIns="0" bIns="0" rtlCol="0" anchor="ctr"/>
          <a:lstStyle/>
          <a:p>
            <a:pPr indent="0" marL="0">
              <a:buNone/>
            </a:pPr>
            <a:r>
              <a:rPr lang="en-US" sz="6400" dirty="0">
                <a:solidFill>
                  <a:srgbClr val="BF5B25"/>
                </a:solidFill>
                <a:latin typeface="Segoe UI Semibold" pitchFamily="34" charset="0"/>
                <a:ea typeface="Segoe UI Semibold" pitchFamily="34" charset="-122"/>
                <a:cs typeface="Segoe UI Semibold" pitchFamily="34" charset="-120"/>
              </a:rPr>
              <a:t>10</a:t>
            </a:r>
            <a:endParaRPr lang="en-US" sz="6400" dirty="0"/>
          </a:p>
        </p:txBody>
      </p:sp>
      <p:sp>
        <p:nvSpPr>
          <p:cNvPr id="22" name="Text 18"/>
          <p:cNvSpPr/>
          <p:nvPr/>
        </p:nvSpPr>
        <p:spPr>
          <a:xfrm>
            <a:off x="7744968" y="5349240"/>
            <a:ext cx="2560320" cy="457200"/>
          </a:xfrm>
          <a:prstGeom prst="rect">
            <a:avLst/>
          </a:prstGeom>
          <a:noFill/>
          <a:ln/>
        </p:spPr>
        <p:txBody>
          <a:bodyPr wrap="square" lIns="0" tIns="0" rIns="0" bIns="0" rtlCol="0" anchor="ctr"/>
          <a:lstStyle/>
          <a:p>
            <a:pPr indent="0" marL="0">
              <a:buNone/>
            </a:pPr>
            <a:r>
              <a:rPr lang="en-US" sz="2100" dirty="0">
                <a:solidFill>
                  <a:srgbClr val="251833"/>
                </a:solidFill>
                <a:latin typeface="Segoe UI Semibold" pitchFamily="34" charset="0"/>
                <a:ea typeface="Segoe UI Semibold" pitchFamily="34" charset="-122"/>
                <a:cs typeface="Segoe UI Semibold" pitchFamily="34" charset="-120"/>
              </a:rPr>
              <a:t>Your choice</a:t>
            </a:r>
            <a:endParaRPr lang="en-US" sz="2100" dirty="0"/>
          </a:p>
        </p:txBody>
      </p:sp>
      <p:sp>
        <p:nvSpPr>
          <p:cNvPr id="23" name="Text 19"/>
          <p:cNvSpPr/>
          <p:nvPr/>
        </p:nvSpPr>
        <p:spPr>
          <a:xfrm>
            <a:off x="7744968" y="5897880"/>
            <a:ext cx="2560320" cy="1234440"/>
          </a:xfrm>
          <a:prstGeom prst="rect">
            <a:avLst/>
          </a:prstGeom>
          <a:noFill/>
          <a:ln/>
        </p:spPr>
        <p:txBody>
          <a:bodyPr wrap="square" lIns="0" tIns="0" rIns="0" bIns="0" rtlCol="0" anchor="t"/>
          <a:lstStyle/>
          <a:p>
            <a:pPr indent="0" marL="0">
              <a:buNone/>
            </a:pPr>
            <a:r>
              <a:rPr lang="en-US" sz="1700" dirty="0">
                <a:solidFill>
                  <a:srgbClr val="637087"/>
                </a:solidFill>
                <a:latin typeface="Segoe UI" pitchFamily="34" charset="0"/>
                <a:ea typeface="Segoe UI" pitchFamily="34" charset="-122"/>
                <a:cs typeface="Segoe UI" pitchFamily="34" charset="-120"/>
              </a:rPr>
              <a:t>Any whole number. For example, 10 shows groups of ten or more.</a:t>
            </a:r>
            <a:endParaRPr lang="en-US" sz="1700" dirty="0"/>
          </a:p>
        </p:txBody>
      </p:sp>
      <p:sp>
        <p:nvSpPr>
          <p:cNvPr id="24" name="Text 20"/>
          <p:cNvSpPr/>
          <p:nvPr/>
        </p:nvSpPr>
        <p:spPr>
          <a:xfrm>
            <a:off x="978408" y="7406640"/>
            <a:ext cx="9646920" cy="1234440"/>
          </a:xfrm>
          <a:prstGeom prst="rect">
            <a:avLst/>
          </a:prstGeom>
          <a:noFill/>
          <a:ln/>
        </p:spPr>
        <p:txBody>
          <a:bodyPr wrap="square" lIns="0" tIns="0" rIns="0" bIns="0" rtlCol="0" anchor="t"/>
          <a:lstStyle/>
          <a:p>
            <a:pPr indent="0" marL="0">
              <a:buNone/>
            </a:pPr>
            <a:r>
              <a:rPr lang="en-US" sz="1600" dirty="0">
                <a:solidFill>
                  <a:srgbClr val="26354A"/>
                </a:solidFill>
                <a:latin typeface="Segoe UI" pitchFamily="34" charset="0"/>
                <a:ea typeface="Segoe UI" pitchFamily="34" charset="-122"/>
                <a:cs typeface="Segoe UI" pitchFamily="34" charset="-120"/>
              </a:rPr>
              <a:t>It counts eligible people in the group, not active users, so a qualifying team can still show zero, one or two active users. It's a display rule, not anonymization.</a:t>
            </a:r>
            <a:endParaRPr lang="en-US" sz="1600" dirty="0"/>
          </a:p>
        </p:txBody>
      </p:sp>
      <p:sp>
        <p:nvSpPr>
          <p:cNvPr id="25" name="Shape 21"/>
          <p:cNvSpPr/>
          <p:nvPr/>
        </p:nvSpPr>
        <p:spPr>
          <a:xfrm>
            <a:off x="11311128" y="2286000"/>
            <a:ext cx="6364224" cy="6583680"/>
          </a:xfrm>
          <a:prstGeom prst="roundRect">
            <a:avLst>
              <a:gd name="adj" fmla="val 1437"/>
            </a:avLst>
          </a:prstGeom>
          <a:solidFill>
            <a:srgbClr val="FFFFFF"/>
          </a:solidFill>
          <a:ln w="12700">
            <a:solidFill>
              <a:srgbClr val="E2DDEB"/>
            </a:solidFill>
            <a:prstDash val="solid"/>
          </a:ln>
        </p:spPr>
      </p:sp>
      <p:sp>
        <p:nvSpPr>
          <p:cNvPr id="26" name="Text 22"/>
          <p:cNvSpPr/>
          <p:nvPr/>
        </p:nvSpPr>
        <p:spPr>
          <a:xfrm>
            <a:off x="11676888" y="2514600"/>
            <a:ext cx="5669280" cy="320040"/>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ROW-LEVEL SECURITY ROLES</a:t>
            </a:r>
            <a:endParaRPr lang="en-US" sz="1200" dirty="0"/>
          </a:p>
        </p:txBody>
      </p:sp>
      <p:sp>
        <p:nvSpPr>
          <p:cNvPr id="27" name="Shape 23"/>
          <p:cNvSpPr/>
          <p:nvPr/>
        </p:nvSpPr>
        <p:spPr>
          <a:xfrm>
            <a:off x="11676888" y="2971800"/>
            <a:ext cx="5632704" cy="2103120"/>
          </a:xfrm>
          <a:prstGeom prst="roundRect">
            <a:avLst>
              <a:gd name="adj" fmla="val 4348"/>
            </a:avLst>
          </a:prstGeom>
          <a:solidFill>
            <a:srgbClr val="ECE5F4"/>
          </a:solidFill>
          <a:ln/>
        </p:spPr>
      </p:sp>
      <p:sp>
        <p:nvSpPr>
          <p:cNvPr id="28" name="Text 24"/>
          <p:cNvSpPr/>
          <p:nvPr/>
        </p:nvSpPr>
        <p:spPr>
          <a:xfrm>
            <a:off x="11951208" y="3200400"/>
            <a:ext cx="5120640" cy="457200"/>
          </a:xfrm>
          <a:prstGeom prst="rect">
            <a:avLst/>
          </a:prstGeom>
          <a:noFill/>
          <a:ln/>
        </p:spPr>
        <p:txBody>
          <a:bodyPr wrap="square" lIns="0" tIns="0" rIns="0" bIns="0" rtlCol="0" anchor="ctr"/>
          <a:lstStyle/>
          <a:p>
            <a:pPr indent="0" marL="0">
              <a:buNone/>
            </a:pPr>
            <a:r>
              <a:rPr lang="en-US" sz="2100" dirty="0">
                <a:solidFill>
                  <a:srgbClr val="251833"/>
                </a:solidFill>
                <a:latin typeface="Segoe UI Semibold" pitchFamily="34" charset="0"/>
                <a:ea typeface="Segoe UI Semibold" pitchFamily="34" charset="-122"/>
                <a:cs typeface="Segoe UI Semibold" pitchFamily="34" charset="-120"/>
              </a:rPr>
              <a:t>Reporting hierarchy</a:t>
            </a:r>
            <a:endParaRPr lang="en-US" sz="2100" dirty="0"/>
          </a:p>
        </p:txBody>
      </p:sp>
      <p:sp>
        <p:nvSpPr>
          <p:cNvPr id="29" name="Text 25"/>
          <p:cNvSpPr/>
          <p:nvPr/>
        </p:nvSpPr>
        <p:spPr>
          <a:xfrm>
            <a:off x="11951208" y="3703320"/>
            <a:ext cx="5120640" cy="1188720"/>
          </a:xfrm>
          <a:prstGeom prst="rect">
            <a:avLst/>
          </a:prstGeom>
          <a:noFill/>
          <a:ln/>
        </p:spPr>
        <p:txBody>
          <a:bodyPr wrap="square" lIns="0" tIns="0" rIns="0" bIns="0" rtlCol="0" anchor="t"/>
          <a:lstStyle/>
          <a:p>
            <a:pPr indent="0" marL="0">
              <a:buNone/>
            </a:pPr>
            <a:r>
              <a:rPr lang="en-US" sz="1700" dirty="0">
                <a:solidFill>
                  <a:srgbClr val="637087"/>
                </a:solidFill>
                <a:latin typeface="Segoe UI" pitchFamily="34" charset="0"/>
                <a:ea typeface="Segoe UI" pitchFamily="34" charset="-122"/>
                <a:cs typeface="Segoe UI" pitchFamily="34" charset="-120"/>
              </a:rPr>
              <a:t>Managers see themselves and everyone who reports to them, directly or indirectly.</a:t>
            </a:r>
            <a:endParaRPr lang="en-US" sz="1700" dirty="0"/>
          </a:p>
        </p:txBody>
      </p:sp>
      <p:sp>
        <p:nvSpPr>
          <p:cNvPr id="30" name="Shape 26"/>
          <p:cNvSpPr/>
          <p:nvPr/>
        </p:nvSpPr>
        <p:spPr>
          <a:xfrm>
            <a:off x="11676888" y="5303520"/>
            <a:ext cx="5632704" cy="2103120"/>
          </a:xfrm>
          <a:prstGeom prst="roundRect">
            <a:avLst>
              <a:gd name="adj" fmla="val 4348"/>
            </a:avLst>
          </a:prstGeom>
          <a:solidFill>
            <a:srgbClr val="ECE5F4"/>
          </a:solidFill>
          <a:ln/>
        </p:spPr>
      </p:sp>
      <p:sp>
        <p:nvSpPr>
          <p:cNvPr id="31" name="Text 27"/>
          <p:cNvSpPr/>
          <p:nvPr/>
        </p:nvSpPr>
        <p:spPr>
          <a:xfrm>
            <a:off x="11951208" y="5532120"/>
            <a:ext cx="5120640" cy="457200"/>
          </a:xfrm>
          <a:prstGeom prst="rect">
            <a:avLst/>
          </a:prstGeom>
          <a:noFill/>
          <a:ln/>
        </p:spPr>
        <p:txBody>
          <a:bodyPr wrap="square" lIns="0" tIns="0" rIns="0" bIns="0" rtlCol="0" anchor="ctr"/>
          <a:lstStyle/>
          <a:p>
            <a:pPr indent="0" marL="0">
              <a:buNone/>
            </a:pPr>
            <a:r>
              <a:rPr lang="en-US" sz="2100" dirty="0">
                <a:solidFill>
                  <a:srgbClr val="251833"/>
                </a:solidFill>
                <a:latin typeface="Segoe UI Semibold" pitchFamily="34" charset="0"/>
                <a:ea typeface="Segoe UI Semibold" pitchFamily="34" charset="-122"/>
                <a:cs typeface="Segoe UI Semibold" pitchFamily="34" charset="-120"/>
              </a:rPr>
              <a:t>All data viewers</a:t>
            </a:r>
            <a:endParaRPr lang="en-US" sz="2100" dirty="0"/>
          </a:p>
        </p:txBody>
      </p:sp>
      <p:sp>
        <p:nvSpPr>
          <p:cNvPr id="32" name="Text 28"/>
          <p:cNvSpPr/>
          <p:nvPr/>
        </p:nvSpPr>
        <p:spPr>
          <a:xfrm>
            <a:off x="11951208" y="6035040"/>
            <a:ext cx="5120640" cy="1188720"/>
          </a:xfrm>
          <a:prstGeom prst="rect">
            <a:avLst/>
          </a:prstGeom>
          <a:noFill/>
          <a:ln/>
        </p:spPr>
        <p:txBody>
          <a:bodyPr wrap="square" lIns="0" tIns="0" rIns="0" bIns="0" rtlCol="0" anchor="t"/>
          <a:lstStyle/>
          <a:p>
            <a:pPr indent="0" marL="0">
              <a:buNone/>
            </a:pPr>
            <a:r>
              <a:rPr lang="en-US" sz="1700" dirty="0">
                <a:solidFill>
                  <a:srgbClr val="637087"/>
                </a:solidFill>
                <a:latin typeface="Segoe UI" pitchFamily="34" charset="0"/>
                <a:ea typeface="Segoe UI" pitchFamily="34" charset="-122"/>
                <a:cs typeface="Segoe UI" pitchFamily="34" charset="-120"/>
              </a:rPr>
              <a:t>Executive sponsors, analysts and adoption leads see the whole organization.</a:t>
            </a:r>
            <a:endParaRPr lang="en-US" sz="1700" dirty="0"/>
          </a:p>
        </p:txBody>
      </p:sp>
      <p:sp>
        <p:nvSpPr>
          <p:cNvPr id="33" name="Text 29"/>
          <p:cNvSpPr/>
          <p:nvPr/>
        </p:nvSpPr>
        <p:spPr>
          <a:xfrm>
            <a:off x="11676888" y="7772400"/>
            <a:ext cx="5632704" cy="822960"/>
          </a:xfrm>
          <a:prstGeom prst="rect">
            <a:avLst/>
          </a:prstGeom>
          <a:noFill/>
          <a:ln/>
        </p:spPr>
        <p:txBody>
          <a:bodyPr wrap="square" lIns="0" tIns="0" rIns="0" bIns="0" rtlCol="0" anchor="ctr"/>
          <a:lstStyle/>
          <a:p>
            <a:pPr indent="0" marL="0">
              <a:buNone/>
            </a:pPr>
            <a:r>
              <a:rPr lang="en-US" sz="1700" dirty="0">
                <a:solidFill>
                  <a:srgbClr val="BF5B25"/>
                </a:solidFill>
                <a:latin typeface="Segoe UI Semibold" pitchFamily="34" charset="0"/>
                <a:ea typeface="Segoe UI Semibold" pitchFamily="34" charset="-122"/>
                <a:cs typeface="Segoe UI Semibold" pitchFamily="34" charset="-120"/>
              </a:rPr>
              <a:t>Viewers see no data until they're assigned a role.</a:t>
            </a:r>
            <a:endParaRPr lang="en-US" sz="1700" dirty="0"/>
          </a:p>
        </p:txBody>
      </p:sp>
      <p:sp>
        <p:nvSpPr>
          <p:cNvPr id="34" name="Shape 30"/>
          <p:cNvSpPr/>
          <p:nvPr/>
        </p:nvSpPr>
        <p:spPr>
          <a:xfrm>
            <a:off x="612648" y="9144000"/>
            <a:ext cx="17062704" cy="566928"/>
          </a:xfrm>
          <a:prstGeom prst="roundRect">
            <a:avLst>
              <a:gd name="adj" fmla="val 12903"/>
            </a:avLst>
          </a:prstGeom>
          <a:solidFill>
            <a:srgbClr val="251833"/>
          </a:solidFill>
          <a:ln/>
        </p:spPr>
      </p:sp>
      <p:sp>
        <p:nvSpPr>
          <p:cNvPr id="35" name="Text 31"/>
          <p:cNvSpPr/>
          <p:nvPr/>
        </p:nvSpPr>
        <p:spPr>
          <a:xfrm>
            <a:off x="841248" y="9144000"/>
            <a:ext cx="1463040" cy="566928"/>
          </a:xfrm>
          <a:prstGeom prst="rect">
            <a:avLst/>
          </a:prstGeom>
          <a:noFill/>
          <a:ln/>
        </p:spPr>
        <p:txBody>
          <a:bodyPr wrap="square" lIns="0" tIns="0" rIns="0" bIns="0" rtlCol="0" anchor="ctr"/>
          <a:lstStyle/>
          <a:p>
            <a:pPr indent="0" marL="0">
              <a:buNone/>
            </a:pPr>
            <a:r>
              <a:rPr lang="en-US" sz="1300" spc="100" kern="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36" name="Text 32"/>
          <p:cNvSpPr/>
          <p:nvPr/>
        </p:nvSpPr>
        <p:spPr>
          <a:xfrm>
            <a:off x="2304288" y="9144000"/>
            <a:ext cx="15142464" cy="56692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By default we only see team-level results, and each person sees only the data their role allows.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2F8"/>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637087"/>
                </a:solidFill>
                <a:latin typeface="Segoe UI" pitchFamily="34" charset="0"/>
                <a:ea typeface="Segoe UI" pitchFamily="34" charset="-122"/>
                <a:cs typeface="Segoe UI" pitchFamily="34" charset="-120"/>
              </a:rPr>
              <a:t>16 / 17</a:t>
            </a:r>
            <a:endParaRPr lang="en-US" sz="1100" dirty="0"/>
          </a:p>
        </p:txBody>
      </p:sp>
      <p:sp>
        <p:nvSpPr>
          <p:cNvPr id="5" name="Text 1"/>
          <p:cNvSpPr/>
          <p:nvPr/>
        </p:nvSpPr>
        <p:spPr>
          <a:xfrm>
            <a:off x="2103120" y="9875520"/>
            <a:ext cx="13716000" cy="292608"/>
          </a:xfrm>
          <a:prstGeom prst="rect">
            <a:avLst/>
          </a:prstGeom>
          <a:noFill/>
          <a:ln/>
        </p:spPr>
        <p:txBody>
          <a:bodyPr wrap="square" lIns="0" tIns="0" rIns="0" bIns="0" rtlCol="0" anchor="ctr"/>
          <a:lstStyle/>
          <a:p>
            <a:pPr indent="0" marL="0">
              <a:buNone/>
            </a:pPr>
            <a:r>
              <a:rPr lang="en-US" sz="1100" dirty="0">
                <a:solidFill>
                  <a:srgbClr val="637087"/>
                </a:solidFill>
                <a:latin typeface="Segoe UI" pitchFamily="34" charset="0"/>
                <a:ea typeface="Segoe UI" pitchFamily="34" charset="-122"/>
                <a:cs typeface="Segoe UI" pitchFamily="34" charset="-120"/>
              </a:rPr>
              <a:t>AI-in-One Dashboard v2.0.0  ·  Storyboard  ·  Example data</a:t>
            </a:r>
            <a:endParaRPr lang="en-US" sz="1100" dirty="0"/>
          </a:p>
        </p:txBody>
      </p:sp>
      <p:sp>
        <p:nvSpPr>
          <p:cNvPr id="6" name="Text 2"/>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MAKE IT USEFUL</a:t>
            </a:r>
            <a:endParaRPr lang="en-US" sz="1200" dirty="0"/>
          </a:p>
        </p:txBody>
      </p:sp>
      <p:sp>
        <p:nvSpPr>
          <p:cNvPr id="7" name="Text 3"/>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251833"/>
                </a:solidFill>
                <a:latin typeface="Segoe UI Semibold" pitchFamily="34" charset="0"/>
                <a:ea typeface="Segoe UI Semibold" pitchFamily="34" charset="-122"/>
                <a:cs typeface="Segoe UI Semibold" pitchFamily="34" charset="-120"/>
              </a:rPr>
              <a:t>Turn patterns into conversations</a:t>
            </a:r>
            <a:endParaRPr lang="en-US" sz="3700" dirty="0"/>
          </a:p>
        </p:txBody>
      </p:sp>
      <p:sp>
        <p:nvSpPr>
          <p:cNvPr id="8" name="Text 4"/>
          <p:cNvSpPr/>
          <p:nvPr/>
        </p:nvSpPr>
        <p:spPr>
          <a:xfrm>
            <a:off x="612648" y="1591056"/>
            <a:ext cx="15910560" cy="438912"/>
          </a:xfrm>
          <a:prstGeom prst="rect">
            <a:avLst/>
          </a:prstGeom>
          <a:noFill/>
          <a:ln/>
        </p:spPr>
        <p:txBody>
          <a:bodyPr wrap="square" lIns="0" tIns="0" rIns="0" bIns="0" rtlCol="0" anchor="t"/>
          <a:lstStyle/>
          <a:p>
            <a:pPr indent="0" marL="0">
              <a:buNone/>
            </a:pPr>
            <a:r>
              <a:rPr lang="en-US" sz="2000" dirty="0">
                <a:solidFill>
                  <a:srgbClr val="637087"/>
                </a:solidFill>
                <a:latin typeface="Segoe UI" pitchFamily="34" charset="0"/>
                <a:ea typeface="Segoe UI" pitchFamily="34" charset="-122"/>
                <a:cs typeface="Segoe UI" pitchFamily="34" charset="-120"/>
              </a:rPr>
              <a:t>The report shows the pattern. The team can explain it. Agree one change, then look again next month.</a:t>
            </a:r>
            <a:endParaRPr lang="en-US" sz="2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12648" y="2331720"/>
          <a:ext cx="17062704" cy="914400"/>
        </p:xfrm>
        <a:graphic>
          <a:graphicData uri="http://schemas.openxmlformats.org/drawingml/2006/table">
            <a:tbl>
              <a:tblPr/>
              <a:tblGrid>
                <a:gridCol w="5120640"/>
                <a:gridCol w="6309360"/>
                <a:gridCol w="5641848"/>
              </a:tblGrid>
              <a:tr h="548640">
                <a:tc>
                  <a:txBody>
                    <a:bodyPr/>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If you see…</a:t>
                      </a:r>
                      <a:endParaRPr lang="en-US" sz="14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251833"/>
                    </a:solidFill>
                  </a:tcPr>
                </a:tc>
                <a:tc>
                  <a:txBody>
                    <a:bodyPr/>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Ask the team…</a:t>
                      </a:r>
                      <a:endParaRPr lang="en-US" sz="14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251833"/>
                    </a:solidFill>
                  </a:tcPr>
                </a:tc>
                <a:tc>
                  <a:txBody>
                    <a:bodyPr/>
                    <a:lstStyle/>
                    <a:p>
                      <a:pPr indent="0" marL="0">
                        <a:buNone/>
                      </a:pPr>
                      <a:r>
                        <a:rPr lang="en-US" sz="1400" dirty="0">
                          <a:solidFill>
                            <a:srgbClr val="FFFFFF"/>
                          </a:solidFill>
                          <a:latin typeface="Segoe UI Semibold" pitchFamily="34" charset="0"/>
                          <a:ea typeface="Segoe UI Semibold" pitchFamily="34" charset="-122"/>
                          <a:cs typeface="Segoe UI Semibold" pitchFamily="34" charset="-120"/>
                        </a:rPr>
                        <a:t>Try next…</a:t>
                      </a:r>
                      <a:endParaRPr lang="en-US" sz="14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251833"/>
                    </a:solidFill>
                  </a:tcPr>
                </a:tc>
              </a:tr>
              <a:tr h="1097280">
                <a:tc>
                  <a:txBody>
                    <a:bodyPr/>
                    <a:lstStyle/>
                    <a:p>
                      <a:pPr indent="0" marL="0">
                        <a:buNone/>
                      </a:pPr>
                      <a:r>
                        <a:rPr lang="en-US" sz="1500" dirty="0">
                          <a:solidFill>
                            <a:srgbClr val="251833"/>
                          </a:solidFill>
                          <a:latin typeface="Segoe UI Semibold" pitchFamily="34" charset="0"/>
                          <a:ea typeface="Segoe UI Semibold" pitchFamily="34" charset="-122"/>
                          <a:cs typeface="Segoe UI Semibold" pitchFamily="34" charset="-120"/>
                        </a:rPr>
                        <a:t>Many licensed users are inactive</a:t>
                      </a:r>
                      <a:endParaRPr lang="en-US" sz="15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tc>
                  <a:txBody>
                    <a:bodyPr/>
                    <a:lstStyle/>
                    <a:p>
                      <a:pPr indent="0" marL="0">
                        <a:buNone/>
                      </a:pPr>
                      <a:r>
                        <a:rPr lang="en-US" sz="1500" dirty="0">
                          <a:solidFill>
                            <a:srgbClr val="637087"/>
                          </a:solidFill>
                          <a:latin typeface="Segoe UI" pitchFamily="34" charset="0"/>
                          <a:ea typeface="Segoe UI" pitchFamily="34" charset="-122"/>
                          <a:cs typeface="Segoe UI" pitchFamily="34" charset="-120"/>
                        </a:rPr>
                        <a:t>What gets in the way? Is it time, training or the type of work?</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tc>
                  <a:txBody>
                    <a:bodyPr/>
                    <a:lstStyle/>
                    <a:p>
                      <a:pPr indent="0" marL="0">
                        <a:buNone/>
                      </a:pPr>
                      <a:r>
                        <a:rPr lang="en-US" sz="1500" dirty="0">
                          <a:solidFill>
                            <a:srgbClr val="637087"/>
                          </a:solidFill>
                          <a:latin typeface="Segoe UI" pitchFamily="34" charset="0"/>
                          <a:ea typeface="Segoe UI" pitchFamily="34" charset="-122"/>
                          <a:cs typeface="Segoe UI" pitchFamily="34" charset="-120"/>
                        </a:rPr>
                        <a:t>Run a short session on two everyday tasks</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tr>
              <a:tr h="1097280">
                <a:tc>
                  <a:txBody>
                    <a:bodyPr/>
                    <a:lstStyle/>
                    <a:p>
                      <a:pPr indent="0" marL="0">
                        <a:buNone/>
                      </a:pPr>
                      <a:r>
                        <a:rPr lang="en-US" sz="1500" dirty="0">
                          <a:solidFill>
                            <a:srgbClr val="251833"/>
                          </a:solidFill>
                          <a:latin typeface="Segoe UI Semibold" pitchFamily="34" charset="0"/>
                          <a:ea typeface="Segoe UI Semibold" pitchFamily="34" charset="-122"/>
                          <a:cs typeface="Segoe UI Semibold" pitchFamily="34" charset="-120"/>
                        </a:rPr>
                        <a:t>A team uses Copilot Chat often without a license</a:t>
                      </a:r>
                      <a:endParaRPr lang="en-US" sz="15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ECE5F4"/>
                    </a:solidFill>
                  </a:tcPr>
                </a:tc>
                <a:tc>
                  <a:txBody>
                    <a:bodyPr/>
                    <a:lstStyle/>
                    <a:p>
                      <a:pPr indent="0" marL="0">
                        <a:buNone/>
                      </a:pPr>
                      <a:r>
                        <a:rPr lang="en-US" sz="1500" dirty="0">
                          <a:solidFill>
                            <a:srgbClr val="637087"/>
                          </a:solidFill>
                          <a:latin typeface="Segoe UI" pitchFamily="34" charset="0"/>
                          <a:ea typeface="Segoe UI" pitchFamily="34" charset="-122"/>
                          <a:cs typeface="Segoe UI" pitchFamily="34" charset="-120"/>
                        </a:rPr>
                        <a:t>Would licensed features help their regular work?</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ECE5F4"/>
                    </a:solidFill>
                  </a:tcPr>
                </a:tc>
                <a:tc>
                  <a:txBody>
                    <a:bodyPr/>
                    <a:lstStyle/>
                    <a:p>
                      <a:pPr indent="0" marL="0">
                        <a:buNone/>
                      </a:pPr>
                      <a:r>
                        <a:rPr lang="en-US" sz="1500" dirty="0">
                          <a:solidFill>
                            <a:srgbClr val="637087"/>
                          </a:solidFill>
                          <a:latin typeface="Segoe UI" pitchFamily="34" charset="0"/>
                          <a:ea typeface="Segoe UI" pitchFamily="34" charset="-122"/>
                          <a:cs typeface="Segoe UI" pitchFamily="34" charset="-120"/>
                        </a:rPr>
                        <a:t>Review on License Prioritization with cost and need</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ECE5F4"/>
                    </a:solidFill>
                  </a:tcPr>
                </a:tc>
              </a:tr>
              <a:tr h="1097280">
                <a:tc>
                  <a:txBody>
                    <a:bodyPr/>
                    <a:lstStyle/>
                    <a:p>
                      <a:pPr indent="0" marL="0">
                        <a:buNone/>
                      </a:pPr>
                      <a:r>
                        <a:rPr lang="en-US" sz="1500" dirty="0">
                          <a:solidFill>
                            <a:srgbClr val="251833"/>
                          </a:solidFill>
                          <a:latin typeface="Segoe UI Semibold" pitchFamily="34" charset="0"/>
                          <a:ea typeface="Segoe UI Semibold" pitchFamily="34" charset="-122"/>
                          <a:cs typeface="Segoe UI Semibold" pitchFamily="34" charset="-120"/>
                        </a:rPr>
                        <a:t>People try an agent but don't come back</a:t>
                      </a:r>
                      <a:endParaRPr lang="en-US" sz="15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tc>
                  <a:txBody>
                    <a:bodyPr/>
                    <a:lstStyle/>
                    <a:p>
                      <a:pPr indent="0" marL="0">
                        <a:buNone/>
                      </a:pPr>
                      <a:r>
                        <a:rPr lang="en-US" sz="1500" dirty="0">
                          <a:solidFill>
                            <a:srgbClr val="637087"/>
                          </a:solidFill>
                          <a:latin typeface="Segoe UI" pitchFamily="34" charset="0"/>
                          <a:ea typeface="Segoe UI" pitchFamily="34" charset="-122"/>
                          <a:cs typeface="Segoe UI" pitchFamily="34" charset="-120"/>
                        </a:rPr>
                        <a:t>Does it answer the questions people actually ask?</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tc>
                  <a:txBody>
                    <a:bodyPr/>
                    <a:lstStyle/>
                    <a:p>
                      <a:pPr indent="0" marL="0">
                        <a:buNone/>
                      </a:pPr>
                      <a:r>
                        <a:rPr lang="en-US" sz="1500" dirty="0">
                          <a:solidFill>
                            <a:srgbClr val="637087"/>
                          </a:solidFill>
                          <a:latin typeface="Segoe UI" pitchFamily="34" charset="0"/>
                          <a:ea typeface="Segoe UI" pitchFamily="34" charset="-122"/>
                          <a:cs typeface="Segoe UI" pitchFamily="34" charset="-120"/>
                        </a:rPr>
                        <a:t>Ask the owner to improve it, then compare in a month</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tr>
              <a:tr h="1097280">
                <a:tc>
                  <a:txBody>
                    <a:bodyPr/>
                    <a:lstStyle/>
                    <a:p>
                      <a:pPr indent="0" marL="0">
                        <a:buNone/>
                      </a:pPr>
                      <a:r>
                        <a:rPr lang="en-US" sz="1500" dirty="0">
                          <a:solidFill>
                            <a:srgbClr val="251833"/>
                          </a:solidFill>
                          <a:latin typeface="Segoe UI Semibold" pitchFamily="34" charset="0"/>
                          <a:ea typeface="Segoe UI Semibold" pitchFamily="34" charset="-122"/>
                          <a:cs typeface="Segoe UI Semibold" pitchFamily="34" charset="-120"/>
                        </a:rPr>
                        <a:t>A small team relies on a specialist agent</a:t>
                      </a:r>
                      <a:endParaRPr lang="en-US" sz="15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ECE5F4"/>
                    </a:solidFill>
                  </a:tcPr>
                </a:tc>
                <a:tc>
                  <a:txBody>
                    <a:bodyPr/>
                    <a:lstStyle/>
                    <a:p>
                      <a:pPr indent="0" marL="0">
                        <a:buNone/>
                      </a:pPr>
                      <a:r>
                        <a:rPr lang="en-US" sz="1500" dirty="0">
                          <a:solidFill>
                            <a:srgbClr val="637087"/>
                          </a:solidFill>
                          <a:latin typeface="Segoe UI" pitchFamily="34" charset="0"/>
                          <a:ea typeface="Segoe UI" pitchFamily="34" charset="-122"/>
                          <a:cs typeface="Segoe UI" pitchFamily="34" charset="-120"/>
                        </a:rPr>
                        <a:t>Could other teams with similar work benefit?</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ECE5F4"/>
                    </a:solidFill>
                  </a:tcPr>
                </a:tc>
                <a:tc>
                  <a:txBody>
                    <a:bodyPr/>
                    <a:lstStyle/>
                    <a:p>
                      <a:pPr indent="0" marL="0">
                        <a:buNone/>
                      </a:pPr>
                      <a:r>
                        <a:rPr lang="en-US" sz="1500" dirty="0">
                          <a:solidFill>
                            <a:srgbClr val="637087"/>
                          </a:solidFill>
                          <a:latin typeface="Segoe UI" pitchFamily="34" charset="0"/>
                          <a:ea typeface="Segoe UI" pitchFamily="34" charset="-122"/>
                          <a:cs typeface="Segoe UI" pitchFamily="34" charset="-120"/>
                        </a:rPr>
                        <a:t>Share it with one more team and watch reach</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ECE5F4"/>
                    </a:solidFill>
                  </a:tcPr>
                </a:tc>
              </a:tr>
              <a:tr h="1097280">
                <a:tc>
                  <a:txBody>
                    <a:bodyPr/>
                    <a:lstStyle/>
                    <a:p>
                      <a:pPr indent="0" marL="0">
                        <a:buNone/>
                      </a:pPr>
                      <a:r>
                        <a:rPr lang="en-US" sz="1500" dirty="0">
                          <a:solidFill>
                            <a:srgbClr val="251833"/>
                          </a:solidFill>
                          <a:latin typeface="Segoe UI Semibold" pitchFamily="34" charset="0"/>
                          <a:ea typeface="Segoe UI Semibold" pitchFamily="34" charset="-122"/>
                          <a:cs typeface="Segoe UI Semibold" pitchFamily="34" charset="-120"/>
                        </a:rPr>
                        <a:t>Habits stay Light month after month</a:t>
                      </a:r>
                      <a:endParaRPr lang="en-US" sz="1500" dirty="0">
                        <a:latin typeface="Segoe UI Semibold" charset="0"/>
                        <a:ea typeface="Segoe UI Semibold" charset="0"/>
                        <a:cs typeface="Segoe UI Semibold"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tc>
                  <a:txBody>
                    <a:bodyPr/>
                    <a:lstStyle/>
                    <a:p>
                      <a:pPr indent="0" marL="0">
                        <a:buNone/>
                      </a:pPr>
                      <a:r>
                        <a:rPr lang="en-US" sz="1500" dirty="0">
                          <a:solidFill>
                            <a:srgbClr val="637087"/>
                          </a:solidFill>
                          <a:latin typeface="Segoe UI" pitchFamily="34" charset="0"/>
                          <a:ea typeface="Segoe UI" pitchFamily="34" charset="-122"/>
                          <a:cs typeface="Segoe UI" pitchFamily="34" charset="-120"/>
                        </a:rPr>
                        <a:t>Which tasks could become a weekly routine?</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tc>
                  <a:txBody>
                    <a:bodyPr/>
                    <a:lstStyle/>
                    <a:p>
                      <a:pPr indent="0" marL="0">
                        <a:buNone/>
                      </a:pPr>
                      <a:r>
                        <a:rPr lang="en-US" sz="1500" dirty="0">
                          <a:solidFill>
                            <a:srgbClr val="637087"/>
                          </a:solidFill>
                          <a:latin typeface="Segoe UI" pitchFamily="34" charset="0"/>
                          <a:ea typeface="Segoe UI" pitchFamily="34" charset="-122"/>
                          <a:cs typeface="Segoe UI" pitchFamily="34" charset="-120"/>
                        </a:rPr>
                        <a:t>Agree one task to try with Copilot each week</a:t>
                      </a:r>
                      <a:endParaRPr lang="en-US" sz="1500" dirty="0">
                        <a:latin typeface="Segoe UI" charset="0"/>
                        <a:ea typeface="Segoe UI" charset="0"/>
                        <a:cs typeface="Segoe UI" charset="0"/>
                      </a:endParaRPr>
                    </a:p>
                  </a:txBody>
                  <a:tcPr marL="152400" marR="152400" marT="76200" marB="76200" anchor="ctr">
                    <a:lnL w="12700" cap="flat" cmpd="sng" algn="ctr">
                      <a:solidFill>
                        <a:srgbClr val="E2DDEB"/>
                      </a:solidFill>
                      <a:prstDash val="solid"/>
                      <a:round/>
                      <a:headEnd type="none" w="med" len="med"/>
                      <a:tailEnd type="none" w="med" len="med"/>
                    </a:lnL>
                    <a:lnR w="12700" cap="flat" cmpd="sng" algn="ctr">
                      <a:solidFill>
                        <a:srgbClr val="E2DDEB"/>
                      </a:solidFill>
                      <a:prstDash val="solid"/>
                      <a:round/>
                      <a:headEnd type="none" w="med" len="med"/>
                      <a:tailEnd type="none" w="med" len="med"/>
                    </a:lnR>
                    <a:lnT w="12700" cap="flat" cmpd="sng" algn="ctr">
                      <a:solidFill>
                        <a:srgbClr val="E2DDEB"/>
                      </a:solidFill>
                      <a:prstDash val="solid"/>
                      <a:round/>
                      <a:headEnd type="none" w="med" len="med"/>
                      <a:tailEnd type="none" w="med" len="med"/>
                    </a:lnT>
                    <a:lnB w="12700" cap="flat" cmpd="sng" algn="ctr">
                      <a:solidFill>
                        <a:srgbClr val="E2DDEB"/>
                      </a:solidFill>
                      <a:prstDash val="solid"/>
                      <a:round/>
                      <a:headEnd type="none" w="med" len="med"/>
                      <a:tailEnd type="none" w="med" len="med"/>
                    </a:lnB>
                    <a:solidFill>
                      <a:srgbClr val="FFFFFF"/>
                    </a:solidFill>
                  </a:tcPr>
                </a:tc>
              </a:tr>
            </a:tbl>
          </a:graphicData>
        </a:graphic>
      </p:graphicFrame>
      <p:sp>
        <p:nvSpPr>
          <p:cNvPr id="10" name="Shape 5"/>
          <p:cNvSpPr/>
          <p:nvPr/>
        </p:nvSpPr>
        <p:spPr>
          <a:xfrm>
            <a:off x="612648" y="9144000"/>
            <a:ext cx="17062704" cy="566928"/>
          </a:xfrm>
          <a:prstGeom prst="roundRect">
            <a:avLst>
              <a:gd name="adj" fmla="val 12903"/>
            </a:avLst>
          </a:prstGeom>
          <a:solidFill>
            <a:srgbClr val="251833"/>
          </a:solidFill>
          <a:ln/>
        </p:spPr>
      </p:sp>
      <p:sp>
        <p:nvSpPr>
          <p:cNvPr id="11" name="Text 6"/>
          <p:cNvSpPr/>
          <p:nvPr/>
        </p:nvSpPr>
        <p:spPr>
          <a:xfrm>
            <a:off x="841248" y="9144000"/>
            <a:ext cx="1463040" cy="566928"/>
          </a:xfrm>
          <a:prstGeom prst="rect">
            <a:avLst/>
          </a:prstGeom>
          <a:noFill/>
          <a:ln/>
        </p:spPr>
        <p:txBody>
          <a:bodyPr wrap="square" lIns="0" tIns="0" rIns="0" bIns="0" rtlCol="0" anchor="ctr"/>
          <a:lstStyle/>
          <a:p>
            <a:pPr indent="0" marL="0">
              <a:buNone/>
            </a:pPr>
            <a:r>
              <a:rPr lang="en-US" sz="1300" spc="100" kern="0" dirty="0">
                <a:solidFill>
                  <a:srgbClr val="B9F3E0"/>
                </a:solidFill>
                <a:latin typeface="Segoe UI Semibold" pitchFamily="34" charset="0"/>
                <a:ea typeface="Segoe UI Semibold" pitchFamily="34" charset="-122"/>
                <a:cs typeface="Segoe UI Semibold" pitchFamily="34" charset="-120"/>
              </a:rPr>
              <a:t>SAY THIS</a:t>
            </a:r>
            <a:endParaRPr lang="en-US" sz="1300" dirty="0"/>
          </a:p>
        </p:txBody>
      </p:sp>
      <p:sp>
        <p:nvSpPr>
          <p:cNvPr id="12" name="Text 7"/>
          <p:cNvSpPr/>
          <p:nvPr/>
        </p:nvSpPr>
        <p:spPr>
          <a:xfrm>
            <a:off x="2304288" y="9144000"/>
            <a:ext cx="15142464" cy="56692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Let's agree one change to try and come back to the same view next month.</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51833"/>
        </a:solidFill>
      </p:bgPr>
    </p:bg>
    <p:spTree>
      <p:nvGrpSpPr>
        <p:cNvPr id="1" name=""/>
        <p:cNvGrpSpPr/>
        <p:nvPr/>
      </p:nvGrpSpPr>
      <p:grpSpPr>
        <a:xfrm>
          <a:off x="0" y="0"/>
          <a:ext cx="0" cy="0"/>
          <a:chOff x="0" y="0"/>
          <a:chExt cx="0" cy="0"/>
        </a:xfrm>
      </p:grpSpPr>
      <p:pic>
        <p:nvPicPr>
          <p:cNvPr id="2" name="Image 0" descr="Microsoft Copilot">    </p:cNvPr>
          <p:cNvPicPr>
            <a:picLocks noChangeAspect="1"/>
          </p:cNvPicPr>
          <p:nvPr/>
        </p:nvPicPr>
        <p:blipFill>
          <a:blip r:embed="rId1"/>
          <a:stretch>
            <a:fillRect/>
          </a:stretch>
        </p:blipFill>
        <p:spPr>
          <a:xfrm>
            <a:off x="17026128" y="457200"/>
            <a:ext cx="758952" cy="758952"/>
          </a:xfrm>
          <a:prstGeom prst="rect">
            <a:avLst/>
          </a:prstGeom>
        </p:spPr>
      </p:pic>
      <p:pic>
        <p:nvPicPr>
          <p:cNvPr id="3" name="Image 1" descr="Microsoft">    </p:cNvPr>
          <p:cNvPicPr>
            <a:picLocks noChangeAspect="1"/>
          </p:cNvPicPr>
          <p:nvPr/>
        </p:nvPicPr>
        <p:blipFill>
          <a:blip r:embed="rId2"/>
          <a:stretch>
            <a:fillRect/>
          </a:stretch>
        </p:blipFill>
        <p:spPr>
          <a:xfrm>
            <a:off x="713232" y="9729216"/>
            <a:ext cx="1042416" cy="557784"/>
          </a:xfrm>
          <a:prstGeom prst="rect">
            <a:avLst/>
          </a:prstGeom>
        </p:spPr>
      </p:pic>
      <p:sp>
        <p:nvSpPr>
          <p:cNvPr id="4" name="Text 0"/>
          <p:cNvSpPr/>
          <p:nvPr/>
        </p:nvSpPr>
        <p:spPr>
          <a:xfrm>
            <a:off x="16175736" y="9875520"/>
            <a:ext cx="1499616" cy="292608"/>
          </a:xfrm>
          <a:prstGeom prst="rect">
            <a:avLst/>
          </a:prstGeom>
          <a:noFill/>
          <a:ln/>
        </p:spPr>
        <p:txBody>
          <a:bodyPr wrap="square" lIns="0" tIns="0" rIns="0" bIns="0" rtlCol="0" anchor="ctr"/>
          <a:lstStyle/>
          <a:p>
            <a:pPr algn="r" indent="0" marL="0">
              <a:buNone/>
            </a:pPr>
            <a:r>
              <a:rPr lang="en-US" sz="1100" dirty="0">
                <a:solidFill>
                  <a:srgbClr val="CEBEDC"/>
                </a:solidFill>
                <a:latin typeface="Segoe UI" pitchFamily="34" charset="0"/>
                <a:ea typeface="Segoe UI" pitchFamily="34" charset="-122"/>
                <a:cs typeface="Segoe UI" pitchFamily="34" charset="-120"/>
              </a:rPr>
              <a:t>17 / 17</a:t>
            </a:r>
            <a:endParaRPr lang="en-US" sz="1100" dirty="0"/>
          </a:p>
        </p:txBody>
      </p:sp>
      <p:sp>
        <p:nvSpPr>
          <p:cNvPr id="5" name="Text 1"/>
          <p:cNvSpPr/>
          <p:nvPr/>
        </p:nvSpPr>
        <p:spPr>
          <a:xfrm>
            <a:off x="612648" y="384048"/>
            <a:ext cx="14630400" cy="301752"/>
          </a:xfrm>
          <a:prstGeom prst="rect">
            <a:avLst/>
          </a:prstGeom>
          <a:noFill/>
          <a:ln/>
        </p:spPr>
        <p:txBody>
          <a:bodyPr wrap="square" lIns="0" tIns="0" rIns="0" bIns="0" rtlCol="0" anchor="ctr"/>
          <a:lstStyle/>
          <a:p>
            <a:pPr indent="0" marL="0">
              <a:buNone/>
            </a:pPr>
            <a:r>
              <a:rPr lang="en-US" sz="1200" spc="150" kern="0" dirty="0">
                <a:solidFill>
                  <a:srgbClr val="B9F3E0"/>
                </a:solidFill>
                <a:latin typeface="Segoe UI Semibold" pitchFamily="34" charset="0"/>
                <a:ea typeface="Segoe UI Semibold" pitchFamily="34" charset="-122"/>
                <a:cs typeface="Segoe UI Semibold" pitchFamily="34" charset="-120"/>
              </a:rPr>
              <a:t>MAKE THE MOST OF V2.0.0</a:t>
            </a:r>
            <a:endParaRPr lang="en-US" sz="1200" dirty="0"/>
          </a:p>
        </p:txBody>
      </p:sp>
      <p:sp>
        <p:nvSpPr>
          <p:cNvPr id="6" name="Text 2"/>
          <p:cNvSpPr/>
          <p:nvPr/>
        </p:nvSpPr>
        <p:spPr>
          <a:xfrm>
            <a:off x="612648" y="822960"/>
            <a:ext cx="15910560" cy="740664"/>
          </a:xfrm>
          <a:prstGeom prst="rect">
            <a:avLst/>
          </a:prstGeom>
          <a:noFill/>
          <a:ln/>
        </p:spPr>
        <p:txBody>
          <a:bodyPr wrap="square" lIns="0" tIns="0" rIns="0" bIns="0" rtlCol="0" anchor="ctr">
            <a:normAutofit/>
          </a:bodyPr>
          <a:lstStyle/>
          <a:p>
            <a:pPr indent="0" marL="0">
              <a:buNone/>
            </a:pPr>
            <a:r>
              <a:rPr lang="en-US" sz="3700" dirty="0">
                <a:solidFill>
                  <a:srgbClr val="FFFFFF"/>
                </a:solidFill>
                <a:latin typeface="Segoe UI Semibold" pitchFamily="34" charset="0"/>
                <a:ea typeface="Segoe UI Semibold" pitchFamily="34" charset="-122"/>
                <a:cs typeface="Segoe UI Semibold" pitchFamily="34" charset="-120"/>
              </a:rPr>
              <a:t>From a clearer picture to a useful conversation.</a:t>
            </a:r>
            <a:endParaRPr lang="en-US" sz="3700" dirty="0"/>
          </a:p>
        </p:txBody>
      </p:sp>
      <p:sp>
        <p:nvSpPr>
          <p:cNvPr id="7" name="Shape 3"/>
          <p:cNvSpPr/>
          <p:nvPr/>
        </p:nvSpPr>
        <p:spPr>
          <a:xfrm>
            <a:off x="612648" y="2377440"/>
            <a:ext cx="5486400" cy="3291840"/>
          </a:xfrm>
          <a:prstGeom prst="roundRect">
            <a:avLst>
              <a:gd name="adj" fmla="val 2778"/>
            </a:avLst>
          </a:prstGeom>
          <a:solidFill>
            <a:srgbClr val="3B2750"/>
          </a:solidFill>
          <a:ln/>
        </p:spPr>
      </p:sp>
      <p:sp>
        <p:nvSpPr>
          <p:cNvPr id="8" name="Text 4"/>
          <p:cNvSpPr/>
          <p:nvPr/>
        </p:nvSpPr>
        <p:spPr>
          <a:xfrm>
            <a:off x="978408" y="2606040"/>
            <a:ext cx="1828800" cy="640080"/>
          </a:xfrm>
          <a:prstGeom prst="rect">
            <a:avLst/>
          </a:prstGeom>
          <a:noFill/>
          <a:ln/>
        </p:spPr>
        <p:txBody>
          <a:bodyPr wrap="square" lIns="0" tIns="0" rIns="0" bIns="0" rtlCol="0" anchor="ctr"/>
          <a:lstStyle/>
          <a:p>
            <a:pPr indent="0" marL="0">
              <a:buNone/>
            </a:pPr>
            <a:r>
              <a:rPr lang="en-US" sz="3000" dirty="0">
                <a:solidFill>
                  <a:srgbClr val="B9F3E0"/>
                </a:solidFill>
                <a:latin typeface="Segoe UI Semibold" pitchFamily="34" charset="0"/>
                <a:ea typeface="Segoe UI Semibold" pitchFamily="34" charset="-122"/>
                <a:cs typeface="Segoe UI Semibold" pitchFamily="34" charset="-120"/>
              </a:rPr>
              <a:t>01</a:t>
            </a:r>
            <a:endParaRPr lang="en-US" sz="3000" dirty="0"/>
          </a:p>
        </p:txBody>
      </p:sp>
      <p:sp>
        <p:nvSpPr>
          <p:cNvPr id="9" name="Text 5"/>
          <p:cNvSpPr/>
          <p:nvPr/>
        </p:nvSpPr>
        <p:spPr>
          <a:xfrm>
            <a:off x="978408" y="3337560"/>
            <a:ext cx="4754880" cy="457200"/>
          </a:xfrm>
          <a:prstGeom prst="rect">
            <a:avLst/>
          </a:prstGeom>
          <a:noFill/>
          <a:ln/>
        </p:spPr>
        <p:txBody>
          <a:bodyPr wrap="square" lIns="0" tIns="0" rIns="0" bIns="0" rtlCol="0" anchor="ctr"/>
          <a:lstStyle/>
          <a:p>
            <a:pPr indent="0" marL="0">
              <a:buNone/>
            </a:pPr>
            <a:r>
              <a:rPr lang="en-US" sz="2100" dirty="0">
                <a:solidFill>
                  <a:srgbClr val="FFFFFF"/>
                </a:solidFill>
                <a:latin typeface="Segoe UI Semibold" pitchFamily="34" charset="0"/>
                <a:ea typeface="Segoe UI Semibold" pitchFamily="34" charset="-122"/>
                <a:cs typeface="Segoe UI Semibold" pitchFamily="34" charset="-120"/>
              </a:rPr>
              <a:t>Find the right view</a:t>
            </a:r>
            <a:endParaRPr lang="en-US" sz="2100" dirty="0"/>
          </a:p>
        </p:txBody>
      </p:sp>
      <p:sp>
        <p:nvSpPr>
          <p:cNvPr id="10" name="Text 6"/>
          <p:cNvSpPr/>
          <p:nvPr/>
        </p:nvSpPr>
        <p:spPr>
          <a:xfrm>
            <a:off x="978408" y="3931920"/>
            <a:ext cx="4754880" cy="1554480"/>
          </a:xfrm>
          <a:prstGeom prst="rect">
            <a:avLst/>
          </a:prstGeom>
          <a:noFill/>
          <a:ln/>
        </p:spPr>
        <p:txBody>
          <a:bodyPr wrap="square" lIns="0" tIns="0" rIns="0" bIns="0" rtlCol="0" anchor="t"/>
          <a:lstStyle/>
          <a:p>
            <a:pPr indent="0" marL="0">
              <a:buNone/>
            </a:pPr>
            <a:r>
              <a:rPr lang="en-US" sz="1700" dirty="0">
                <a:solidFill>
                  <a:srgbClr val="CEBEDC"/>
                </a:solidFill>
                <a:latin typeface="Segoe UI" pitchFamily="34" charset="0"/>
                <a:ea typeface="Segoe UI" pitchFamily="34" charset="-122"/>
                <a:cs typeface="Segoe UI" pitchFamily="34" charset="-120"/>
              </a:rPr>
              <a:t>Start on Copilot Usage Explorer with a team and a full month, then follow the question to the right page.</a:t>
            </a:r>
            <a:endParaRPr lang="en-US" sz="1700" dirty="0"/>
          </a:p>
        </p:txBody>
      </p:sp>
      <p:sp>
        <p:nvSpPr>
          <p:cNvPr id="11" name="Shape 7"/>
          <p:cNvSpPr/>
          <p:nvPr/>
        </p:nvSpPr>
        <p:spPr>
          <a:xfrm>
            <a:off x="6400800" y="2377440"/>
            <a:ext cx="5486400" cy="3291840"/>
          </a:xfrm>
          <a:prstGeom prst="roundRect">
            <a:avLst>
              <a:gd name="adj" fmla="val 2778"/>
            </a:avLst>
          </a:prstGeom>
          <a:solidFill>
            <a:srgbClr val="3B2750"/>
          </a:solidFill>
          <a:ln/>
        </p:spPr>
      </p:sp>
      <p:sp>
        <p:nvSpPr>
          <p:cNvPr id="12" name="Text 8"/>
          <p:cNvSpPr/>
          <p:nvPr/>
        </p:nvSpPr>
        <p:spPr>
          <a:xfrm>
            <a:off x="6766560" y="2606040"/>
            <a:ext cx="1828800" cy="640080"/>
          </a:xfrm>
          <a:prstGeom prst="rect">
            <a:avLst/>
          </a:prstGeom>
          <a:noFill/>
          <a:ln/>
        </p:spPr>
        <p:txBody>
          <a:bodyPr wrap="square" lIns="0" tIns="0" rIns="0" bIns="0" rtlCol="0" anchor="ctr"/>
          <a:lstStyle/>
          <a:p>
            <a:pPr indent="0" marL="0">
              <a:buNone/>
            </a:pPr>
            <a:r>
              <a:rPr lang="en-US" sz="3000" dirty="0">
                <a:solidFill>
                  <a:srgbClr val="B9F3E0"/>
                </a:solidFill>
                <a:latin typeface="Segoe UI Semibold" pitchFamily="34" charset="0"/>
                <a:ea typeface="Segoe UI Semibold" pitchFamily="34" charset="-122"/>
                <a:cs typeface="Segoe UI Semibold" pitchFamily="34" charset="-120"/>
              </a:rPr>
              <a:t>02</a:t>
            </a:r>
            <a:endParaRPr lang="en-US" sz="3000" dirty="0"/>
          </a:p>
        </p:txBody>
      </p:sp>
      <p:sp>
        <p:nvSpPr>
          <p:cNvPr id="13" name="Text 9"/>
          <p:cNvSpPr/>
          <p:nvPr/>
        </p:nvSpPr>
        <p:spPr>
          <a:xfrm>
            <a:off x="6766560" y="3337560"/>
            <a:ext cx="4754880" cy="457200"/>
          </a:xfrm>
          <a:prstGeom prst="rect">
            <a:avLst/>
          </a:prstGeom>
          <a:noFill/>
          <a:ln/>
        </p:spPr>
        <p:txBody>
          <a:bodyPr wrap="square" lIns="0" tIns="0" rIns="0" bIns="0" rtlCol="0" anchor="ctr"/>
          <a:lstStyle/>
          <a:p>
            <a:pPr indent="0" marL="0">
              <a:buNone/>
            </a:pPr>
            <a:r>
              <a:rPr lang="en-US" sz="2100" dirty="0">
                <a:solidFill>
                  <a:srgbClr val="FFFFFF"/>
                </a:solidFill>
                <a:latin typeface="Segoe UI Semibold" pitchFamily="34" charset="0"/>
                <a:ea typeface="Segoe UI Semibold" pitchFamily="34" charset="-122"/>
                <a:cs typeface="Segoe UI Semibold" pitchFamily="34" charset="-120"/>
              </a:rPr>
              <a:t>Read the right numbers</a:t>
            </a:r>
            <a:endParaRPr lang="en-US" sz="2100" dirty="0"/>
          </a:p>
        </p:txBody>
      </p:sp>
      <p:sp>
        <p:nvSpPr>
          <p:cNvPr id="14" name="Text 10"/>
          <p:cNvSpPr/>
          <p:nvPr/>
        </p:nvSpPr>
        <p:spPr>
          <a:xfrm>
            <a:off x="6766560" y="3931920"/>
            <a:ext cx="4754880" cy="1554480"/>
          </a:xfrm>
          <a:prstGeom prst="rect">
            <a:avLst/>
          </a:prstGeom>
          <a:noFill/>
          <a:ln/>
        </p:spPr>
        <p:txBody>
          <a:bodyPr wrap="square" lIns="0" tIns="0" rIns="0" bIns="0" rtlCol="0" anchor="t"/>
          <a:lstStyle/>
          <a:p>
            <a:pPr indent="0" marL="0">
              <a:buNone/>
            </a:pPr>
            <a:r>
              <a:rPr lang="en-US" sz="1700" dirty="0">
                <a:solidFill>
                  <a:srgbClr val="CEBEDC"/>
                </a:solidFill>
                <a:latin typeface="Segoe UI" pitchFamily="34" charset="0"/>
                <a:ea typeface="Segoe UI" pitchFamily="34" charset="-122"/>
                <a:cs typeface="Segoe UI" pitchFamily="34" charset="-120"/>
              </a:rPr>
              <a:t>Read people, prompts and sessions separately. Check the habit month and the license snapshot before comparing.</a:t>
            </a:r>
            <a:endParaRPr lang="en-US" sz="1700" dirty="0"/>
          </a:p>
        </p:txBody>
      </p:sp>
      <p:sp>
        <p:nvSpPr>
          <p:cNvPr id="15" name="Shape 11"/>
          <p:cNvSpPr/>
          <p:nvPr/>
        </p:nvSpPr>
        <p:spPr>
          <a:xfrm>
            <a:off x="12188952" y="2377440"/>
            <a:ext cx="5486400" cy="3291840"/>
          </a:xfrm>
          <a:prstGeom prst="roundRect">
            <a:avLst>
              <a:gd name="adj" fmla="val 2778"/>
            </a:avLst>
          </a:prstGeom>
          <a:solidFill>
            <a:srgbClr val="3B2750"/>
          </a:solidFill>
          <a:ln/>
        </p:spPr>
      </p:sp>
      <p:sp>
        <p:nvSpPr>
          <p:cNvPr id="16" name="Text 12"/>
          <p:cNvSpPr/>
          <p:nvPr/>
        </p:nvSpPr>
        <p:spPr>
          <a:xfrm>
            <a:off x="12554712" y="2606040"/>
            <a:ext cx="1828800" cy="640080"/>
          </a:xfrm>
          <a:prstGeom prst="rect">
            <a:avLst/>
          </a:prstGeom>
          <a:noFill/>
          <a:ln/>
        </p:spPr>
        <p:txBody>
          <a:bodyPr wrap="square" lIns="0" tIns="0" rIns="0" bIns="0" rtlCol="0" anchor="ctr"/>
          <a:lstStyle/>
          <a:p>
            <a:pPr indent="0" marL="0">
              <a:buNone/>
            </a:pPr>
            <a:r>
              <a:rPr lang="en-US" sz="3000" dirty="0">
                <a:solidFill>
                  <a:srgbClr val="B9F3E0"/>
                </a:solidFill>
                <a:latin typeface="Segoe UI Semibold" pitchFamily="34" charset="0"/>
                <a:ea typeface="Segoe UI Semibold" pitchFamily="34" charset="-122"/>
                <a:cs typeface="Segoe UI Semibold" pitchFamily="34" charset="-120"/>
              </a:rPr>
              <a:t>03</a:t>
            </a:r>
            <a:endParaRPr lang="en-US" sz="3000" dirty="0"/>
          </a:p>
        </p:txBody>
      </p:sp>
      <p:sp>
        <p:nvSpPr>
          <p:cNvPr id="17" name="Text 13"/>
          <p:cNvSpPr/>
          <p:nvPr/>
        </p:nvSpPr>
        <p:spPr>
          <a:xfrm>
            <a:off x="12554712" y="3337560"/>
            <a:ext cx="4754880" cy="457200"/>
          </a:xfrm>
          <a:prstGeom prst="rect">
            <a:avLst/>
          </a:prstGeom>
          <a:noFill/>
          <a:ln/>
        </p:spPr>
        <p:txBody>
          <a:bodyPr wrap="square" lIns="0" tIns="0" rIns="0" bIns="0" rtlCol="0" anchor="ctr"/>
          <a:lstStyle/>
          <a:p>
            <a:pPr indent="0" marL="0">
              <a:buNone/>
            </a:pPr>
            <a:r>
              <a:rPr lang="en-US" sz="2100" dirty="0">
                <a:solidFill>
                  <a:srgbClr val="FFFFFF"/>
                </a:solidFill>
                <a:latin typeface="Segoe UI Semibold" pitchFamily="34" charset="0"/>
                <a:ea typeface="Segoe UI Semibold" pitchFamily="34" charset="-122"/>
                <a:cs typeface="Segoe UI Semibold" pitchFamily="34" charset="-120"/>
              </a:rPr>
              <a:t>Agree one next step</a:t>
            </a:r>
            <a:endParaRPr lang="en-US" sz="2100" dirty="0"/>
          </a:p>
        </p:txBody>
      </p:sp>
      <p:sp>
        <p:nvSpPr>
          <p:cNvPr id="18" name="Text 14"/>
          <p:cNvSpPr/>
          <p:nvPr/>
        </p:nvSpPr>
        <p:spPr>
          <a:xfrm>
            <a:off x="12554712" y="3931920"/>
            <a:ext cx="4754880" cy="1554480"/>
          </a:xfrm>
          <a:prstGeom prst="rect">
            <a:avLst/>
          </a:prstGeom>
          <a:noFill/>
          <a:ln/>
        </p:spPr>
        <p:txBody>
          <a:bodyPr wrap="square" lIns="0" tIns="0" rIns="0" bIns="0" rtlCol="0" anchor="t"/>
          <a:lstStyle/>
          <a:p>
            <a:pPr indent="0" marL="0">
              <a:buNone/>
            </a:pPr>
            <a:r>
              <a:rPr lang="en-US" sz="1700" dirty="0">
                <a:solidFill>
                  <a:srgbClr val="CEBEDC"/>
                </a:solidFill>
                <a:latin typeface="Segoe UI" pitchFamily="34" charset="0"/>
                <a:ea typeface="Segoe UI" pitchFamily="34" charset="-122"/>
                <a:cs typeface="Segoe UI" pitchFamily="34" charset="-120"/>
              </a:rPr>
              <a:t>Share what works, improve an agent or start a licensing conversation, then look again next month.</a:t>
            </a:r>
            <a:endParaRPr lang="en-US" sz="1700" dirty="0"/>
          </a:p>
        </p:txBody>
      </p:sp>
      <p:sp>
        <p:nvSpPr>
          <p:cNvPr id="19" name="Shape 15"/>
          <p:cNvSpPr/>
          <p:nvPr/>
        </p:nvSpPr>
        <p:spPr>
          <a:xfrm>
            <a:off x="612648" y="5989320"/>
            <a:ext cx="17062704" cy="2240280"/>
          </a:xfrm>
          <a:prstGeom prst="roundRect">
            <a:avLst>
              <a:gd name="adj" fmla="val 4082"/>
            </a:avLst>
          </a:prstGeom>
          <a:solidFill>
            <a:srgbClr val="FFFFFF"/>
          </a:solidFill>
          <a:ln/>
        </p:spPr>
      </p:sp>
      <p:sp>
        <p:nvSpPr>
          <p:cNvPr id="20" name="Text 16"/>
          <p:cNvSpPr/>
          <p:nvPr/>
        </p:nvSpPr>
        <p:spPr>
          <a:xfrm>
            <a:off x="978408" y="6263640"/>
            <a:ext cx="7315200" cy="320040"/>
          </a:xfrm>
          <a:prstGeom prst="rect">
            <a:avLst/>
          </a:prstGeom>
          <a:noFill/>
          <a:ln/>
        </p:spPr>
        <p:txBody>
          <a:bodyPr wrap="square" lIns="0" tIns="0" rIns="0" bIns="0" rtlCol="0" anchor="ctr"/>
          <a:lstStyle/>
          <a:p>
            <a:pPr indent="0" marL="0">
              <a:buNone/>
            </a:pPr>
            <a:r>
              <a:rPr lang="en-US" sz="1200" spc="150" kern="0" dirty="0">
                <a:solidFill>
                  <a:srgbClr val="7953B8"/>
                </a:solidFill>
                <a:latin typeface="Segoe UI Semibold" pitchFamily="34" charset="0"/>
                <a:ea typeface="Segoe UI Semibold" pitchFamily="34" charset="-122"/>
                <a:cs typeface="Segoe UI Semibold" pitchFamily="34" charset="-120"/>
              </a:rPr>
              <a:t>KEEP LEARNING</a:t>
            </a:r>
            <a:endParaRPr lang="en-US" sz="1200" dirty="0"/>
          </a:p>
        </p:txBody>
      </p:sp>
      <p:sp>
        <p:nvSpPr>
          <p:cNvPr id="21" name="Text 17">
            <a:hlinkClick r:id="rId3" tooltip=""/>
          </p:cNvPr>
          <p:cNvSpPr/>
          <p:nvPr/>
        </p:nvSpPr>
        <p:spPr>
          <a:xfrm>
            <a:off x="978408" y="6720840"/>
            <a:ext cx="3931920" cy="411480"/>
          </a:xfrm>
          <a:prstGeom prst="rect">
            <a:avLst/>
          </a:prstGeom>
          <a:noFill/>
          <a:ln/>
        </p:spPr>
        <p:txBody>
          <a:bodyPr wrap="square" lIns="0" tIns="0" rIns="0" bIns="0" rtlCol="0" anchor="ctr"/>
          <a:lstStyle/>
          <a:p>
            <a:pPr indent="0" marL="0">
              <a:buNone/>
            </a:pPr>
            <a:r>
              <a:rPr lang="en-US" sz="2000" u="sng" dirty="0">
                <a:solidFill>
                  <a:srgbClr val="251833"/>
                </a:solidFill>
                <a:latin typeface="Segoe UI Semibold" pitchFamily="34" charset="0"/>
                <a:ea typeface="Segoe UI Semibold" pitchFamily="34" charset="-122"/>
                <a:cs typeface="Segoe UI Semibold" pitchFamily="34" charset="-120"/>
                <a:hlinkClick r:id="rId3" invalidUrl="" action="" tgtFrame="" tooltip="" history="1" highlightClick="0" endSnd="0">
                  <a:extLst>
                    <a:ext uri="{A12FA001-AC4F-418D-AE19-62706E023703}">
                      <ahyp:hlinkClr xmlns:ahyp="http://schemas.microsoft.com/office/drawing/2018/hyperlinkcolor" val="tx"/>
                    </a:ext>
                  </a:extLst>
                </a:hlinkClick>
              </a:rPr>
              <a:t>Interpretation Guide</a:t>
            </a:r>
            <a:endParaRPr lang="en-US" sz="2000" dirty="0"/>
          </a:p>
        </p:txBody>
      </p:sp>
      <p:sp>
        <p:nvSpPr>
          <p:cNvPr id="22" name="Text 18"/>
          <p:cNvSpPr/>
          <p:nvPr/>
        </p:nvSpPr>
        <p:spPr>
          <a:xfrm>
            <a:off x="978408" y="7223760"/>
            <a:ext cx="3931920" cy="731520"/>
          </a:xfrm>
          <a:prstGeom prst="rect">
            <a:avLst/>
          </a:prstGeom>
          <a:noFill/>
          <a:ln/>
        </p:spPr>
        <p:txBody>
          <a:bodyPr wrap="square" lIns="0" tIns="0" rIns="0" bIns="0" rtlCol="0" anchor="t"/>
          <a:lstStyle/>
          <a:p>
            <a:pPr indent="0" marL="0">
              <a:buNone/>
            </a:pPr>
            <a:r>
              <a:rPr lang="en-US" sz="1600" dirty="0">
                <a:solidFill>
                  <a:srgbClr val="637087"/>
                </a:solidFill>
                <a:latin typeface="Segoe UI" pitchFamily="34" charset="0"/>
                <a:ea typeface="Segoe UI" pitchFamily="34" charset="-122"/>
                <a:cs typeface="Segoe UI" pitchFamily="34" charset="-120"/>
              </a:rPr>
              <a:t>What every number means, page by page</a:t>
            </a:r>
            <a:endParaRPr lang="en-US" sz="1600" dirty="0"/>
          </a:p>
        </p:txBody>
      </p:sp>
      <p:sp>
        <p:nvSpPr>
          <p:cNvPr id="23" name="Text 19">
            <a:hlinkClick r:id="rId4" tooltip=""/>
          </p:cNvPr>
          <p:cNvSpPr/>
          <p:nvPr/>
        </p:nvSpPr>
        <p:spPr>
          <a:xfrm>
            <a:off x="5184648" y="6720840"/>
            <a:ext cx="3931920" cy="411480"/>
          </a:xfrm>
          <a:prstGeom prst="rect">
            <a:avLst/>
          </a:prstGeom>
          <a:noFill/>
          <a:ln/>
        </p:spPr>
        <p:txBody>
          <a:bodyPr wrap="square" lIns="0" tIns="0" rIns="0" bIns="0" rtlCol="0" anchor="ctr"/>
          <a:lstStyle/>
          <a:p>
            <a:pPr indent="0" marL="0">
              <a:buNone/>
            </a:pPr>
            <a:r>
              <a:rPr lang="en-US" sz="2000" u="sng" dirty="0">
                <a:solidFill>
                  <a:srgbClr val="251833"/>
                </a:solidFill>
                <a:latin typeface="Segoe UI Semibold" pitchFamily="34" charset="0"/>
                <a:ea typeface="Segoe UI Semibold" pitchFamily="34" charset="-122"/>
                <a:cs typeface="Segoe UI Semibold" pitchFamily="34" charset="-120"/>
                <a:hlinkClick r:id="rId4" invalidUrl="" action="" tgtFrame="" tooltip="" history="1" highlightClick="0" endSnd="0">
                  <a:extLst>
                    <a:ext uri="{A12FA001-AC4F-418D-AE19-62706E023703}">
                      <ahyp:hlinkClr xmlns:ahyp="http://schemas.microsoft.com/office/drawing/2018/hyperlinkcolor" val="tx"/>
                    </a:ext>
                  </a:extLst>
                </a:hlinkClick>
              </a:rPr>
              <a:t>Metric Glossary &amp; Guide</a:t>
            </a:r>
            <a:endParaRPr lang="en-US" sz="2000" dirty="0"/>
          </a:p>
        </p:txBody>
      </p:sp>
      <p:sp>
        <p:nvSpPr>
          <p:cNvPr id="24" name="Text 20"/>
          <p:cNvSpPr/>
          <p:nvPr/>
        </p:nvSpPr>
        <p:spPr>
          <a:xfrm>
            <a:off x="5184648" y="7223760"/>
            <a:ext cx="3931920" cy="731520"/>
          </a:xfrm>
          <a:prstGeom prst="rect">
            <a:avLst/>
          </a:prstGeom>
          <a:noFill/>
          <a:ln/>
        </p:spPr>
        <p:txBody>
          <a:bodyPr wrap="square" lIns="0" tIns="0" rIns="0" bIns="0" rtlCol="0" anchor="t"/>
          <a:lstStyle/>
          <a:p>
            <a:pPr indent="0" marL="0">
              <a:buNone/>
            </a:pPr>
            <a:r>
              <a:rPr lang="en-US" sz="1600" dirty="0">
                <a:solidFill>
                  <a:srgbClr val="637087"/>
                </a:solidFill>
                <a:latin typeface="Segoe UI" pitchFamily="34" charset="0"/>
                <a:ea typeface="Segoe UI" pitchFamily="34" charset="-122"/>
                <a:cs typeface="Segoe UI" pitchFamily="34" charset="-120"/>
              </a:rPr>
              <a:t>Definitions inside the report itself</a:t>
            </a:r>
            <a:endParaRPr lang="en-US" sz="1600" dirty="0"/>
          </a:p>
        </p:txBody>
      </p:sp>
      <p:sp>
        <p:nvSpPr>
          <p:cNvPr id="25" name="Text 21">
            <a:hlinkClick r:id="rId5" tooltip=""/>
          </p:cNvPr>
          <p:cNvSpPr/>
          <p:nvPr/>
        </p:nvSpPr>
        <p:spPr>
          <a:xfrm>
            <a:off x="9390888" y="6720840"/>
            <a:ext cx="3931920" cy="411480"/>
          </a:xfrm>
          <a:prstGeom prst="rect">
            <a:avLst/>
          </a:prstGeom>
          <a:noFill/>
          <a:ln/>
        </p:spPr>
        <p:txBody>
          <a:bodyPr wrap="square" lIns="0" tIns="0" rIns="0" bIns="0" rtlCol="0" anchor="ctr"/>
          <a:lstStyle/>
          <a:p>
            <a:pPr indent="0" marL="0">
              <a:buNone/>
            </a:pPr>
            <a:r>
              <a:rPr lang="en-US" sz="2000" u="sng" dirty="0">
                <a:solidFill>
                  <a:srgbClr val="251833"/>
                </a:solidFill>
                <a:latin typeface="Segoe UI Semibold" pitchFamily="34" charset="0"/>
                <a:ea typeface="Segoe UI Semibold" pitchFamily="34" charset="-122"/>
                <a:cs typeface="Segoe UI Semibold" pitchFamily="34" charset="-120"/>
                <a:hlinkClick r:id="rId5" invalidUrl="" action="" tgtFrame="" tooltip="" history="1" highlightClick="0" endSnd="0">
                  <a:extLst>
                    <a:ext uri="{A12FA001-AC4F-418D-AE19-62706E023703}">
                      <ahyp:hlinkClr xmlns:ahyp="http://schemas.microsoft.com/office/drawing/2018/hyperlinkcolor" val="tx"/>
                    </a:ext>
                  </a:extLst>
                </a:hlinkClick>
              </a:rPr>
              <a:t>Screenshot tour</a:t>
            </a:r>
            <a:endParaRPr lang="en-US" sz="2000" dirty="0"/>
          </a:p>
        </p:txBody>
      </p:sp>
      <p:sp>
        <p:nvSpPr>
          <p:cNvPr id="26" name="Text 22"/>
          <p:cNvSpPr/>
          <p:nvPr/>
        </p:nvSpPr>
        <p:spPr>
          <a:xfrm>
            <a:off x="9390888" y="7223760"/>
            <a:ext cx="3931920" cy="731520"/>
          </a:xfrm>
          <a:prstGeom prst="rect">
            <a:avLst/>
          </a:prstGeom>
          <a:noFill/>
          <a:ln/>
        </p:spPr>
        <p:txBody>
          <a:bodyPr wrap="square" lIns="0" tIns="0" rIns="0" bIns="0" rtlCol="0" anchor="t"/>
          <a:lstStyle/>
          <a:p>
            <a:pPr indent="0" marL="0">
              <a:buNone/>
            </a:pPr>
            <a:r>
              <a:rPr lang="en-US" sz="1600" dirty="0">
                <a:solidFill>
                  <a:srgbClr val="637087"/>
                </a:solidFill>
                <a:latin typeface="Segoe UI" pitchFamily="34" charset="0"/>
                <a:ea typeface="Segoe UI" pitchFamily="34" charset="-122"/>
                <a:cs typeface="Segoe UI" pitchFamily="34" charset="-120"/>
              </a:rPr>
              <a:t>All 17 pages on GitHub</a:t>
            </a:r>
            <a:endParaRPr lang="en-US" sz="1600" dirty="0"/>
          </a:p>
        </p:txBody>
      </p:sp>
      <p:sp>
        <p:nvSpPr>
          <p:cNvPr id="27" name="Text 23">
            <a:hlinkClick r:id="rId6" tooltip=""/>
          </p:cNvPr>
          <p:cNvSpPr/>
          <p:nvPr/>
        </p:nvSpPr>
        <p:spPr>
          <a:xfrm>
            <a:off x="13597128" y="6720840"/>
            <a:ext cx="3931920" cy="411480"/>
          </a:xfrm>
          <a:prstGeom prst="rect">
            <a:avLst/>
          </a:prstGeom>
          <a:noFill/>
          <a:ln/>
        </p:spPr>
        <p:txBody>
          <a:bodyPr wrap="square" lIns="0" tIns="0" rIns="0" bIns="0" rtlCol="0" anchor="ctr"/>
          <a:lstStyle/>
          <a:p>
            <a:pPr indent="0" marL="0">
              <a:buNone/>
            </a:pPr>
            <a:r>
              <a:rPr lang="en-US" sz="2000" u="sng" dirty="0">
                <a:solidFill>
                  <a:srgbClr val="251833"/>
                </a:solidFill>
                <a:latin typeface="Segoe UI Semibold" pitchFamily="34" charset="0"/>
                <a:ea typeface="Segoe UI Semibold" pitchFamily="34" charset="-122"/>
                <a:cs typeface="Segoe UI Semibold" pitchFamily="34" charset="-120"/>
                <a:hlinkClick r:id="rId6" invalidUrl="" action="" tgtFrame="" tooltip="" history="1" highlightClick="0" endSnd="0">
                  <a:extLst>
                    <a:ext uri="{A12FA001-AC4F-418D-AE19-62706E023703}">
                      <ahyp:hlinkClr xmlns:ahyp="http://schemas.microsoft.com/office/drawing/2018/hyperlinkcolor" val="tx"/>
                    </a:ext>
                  </a:extLst>
                </a:hlinkClick>
              </a:rPr>
              <a:t>aka.ms/Analytics-Hub</a:t>
            </a:r>
            <a:endParaRPr lang="en-US" sz="2000" dirty="0"/>
          </a:p>
        </p:txBody>
      </p:sp>
      <p:sp>
        <p:nvSpPr>
          <p:cNvPr id="28" name="Text 24"/>
          <p:cNvSpPr/>
          <p:nvPr/>
        </p:nvSpPr>
        <p:spPr>
          <a:xfrm>
            <a:off x="13597128" y="7223760"/>
            <a:ext cx="3931920" cy="731520"/>
          </a:xfrm>
          <a:prstGeom prst="rect">
            <a:avLst/>
          </a:prstGeom>
          <a:noFill/>
          <a:ln/>
        </p:spPr>
        <p:txBody>
          <a:bodyPr wrap="square" lIns="0" tIns="0" rIns="0" bIns="0" rtlCol="0" anchor="t"/>
          <a:lstStyle/>
          <a:p>
            <a:pPr indent="0" marL="0">
              <a:buNone/>
            </a:pPr>
            <a:r>
              <a:rPr lang="en-US" sz="1600" dirty="0">
                <a:solidFill>
                  <a:srgbClr val="637087"/>
                </a:solidFill>
                <a:latin typeface="Segoe UI" pitchFamily="34" charset="0"/>
                <a:ea typeface="Segoe UI" pitchFamily="34" charset="-122"/>
                <a:cs typeface="Segoe UI" pitchFamily="34" charset="-120"/>
              </a:rPr>
              <a:t>More free Copilot analytics reports</a:t>
            </a:r>
            <a:endParaRPr lang="en-US" sz="1600" dirty="0"/>
          </a:p>
        </p:txBody>
      </p:sp>
      <p:sp>
        <p:nvSpPr>
          <p:cNvPr id="29" name="Text 25"/>
          <p:cNvSpPr/>
          <p:nvPr/>
        </p:nvSpPr>
        <p:spPr>
          <a:xfrm>
            <a:off x="612648" y="8549640"/>
            <a:ext cx="17062704" cy="548640"/>
          </a:xfrm>
          <a:prstGeom prst="rect">
            <a:avLst/>
          </a:prstGeom>
          <a:noFill/>
          <a:ln/>
        </p:spPr>
        <p:txBody>
          <a:bodyPr wrap="square" lIns="0" tIns="0" rIns="0" bIns="0" rtlCol="0" anchor="ctr"/>
          <a:lstStyle/>
          <a:p>
            <a:pPr indent="0" marL="0">
              <a:buNone/>
            </a:pPr>
            <a:r>
              <a:rPr lang="en-US" sz="1300" dirty="0">
                <a:solidFill>
                  <a:srgbClr val="CEBEDC"/>
                </a:solidFill>
                <a:latin typeface="Segoe UI" pitchFamily="34" charset="0"/>
                <a:ea typeface="Segoe UI" pitchFamily="34" charset="-122"/>
                <a:cs typeface="Segoe UI" pitchFamily="34" charset="-120"/>
              </a:rPr>
              <a:t>Every screenshot uses made-up example data. Use the live report for your organization's results. Get the dashboard at </a:t>
            </a:r>
            <a:pPr indent="0" marL="0">
              <a:buNone/>
            </a:pPr>
            <a:r>
              <a:rPr lang="en-US" sz="1300" u="sng" dirty="0">
                <a:solidFill>
                  <a:srgbClr val="FFFFFF"/>
                </a:solidFill>
                <a:latin typeface="Segoe UI" pitchFamily="34" charset="0"/>
                <a:ea typeface="Segoe UI" pitchFamily="34" charset="-122"/>
                <a:cs typeface="Segoe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aka.ms/AI-in-One</a:t>
            </a:r>
            <a:pPr indent="0" marL="0">
              <a:buNone/>
            </a:pPr>
            <a:r>
              <a:rPr lang="en-US" sz="1300" dirty="0">
                <a:solidFill>
                  <a:srgbClr val="CEBEDC"/>
                </a:solidFill>
                <a:latin typeface="Segoe UI" pitchFamily="34" charset="0"/>
                <a:ea typeface="Segoe UI" pitchFamily="34" charset="-122"/>
                <a:cs typeface="Segoe UI" pitchFamily="34" charset="-120"/>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AI-in-One Dashboard v2.0.0 - Storyboard</dc:title>
  <dc:subject>PptxGenJS Presentation</dc:subject>
  <dc:creator>Microsoft Copilot Analytics Team</dc:creator>
  <cp:lastModifiedBy>Microsoft Copilot Analytics Team</cp:lastModifiedBy>
  <cp:revision>1</cp:revision>
  <dcterms:created xsi:type="dcterms:W3CDTF">2026-10-06T00:45:40Z</dcterms:created>
  <dcterms:modified xsi:type="dcterms:W3CDTF">2026-10-06T00:45:40Z</dcterms:modified>
</cp:coreProperties>
</file>