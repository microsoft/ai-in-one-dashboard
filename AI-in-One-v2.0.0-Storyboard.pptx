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50" y="9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Middendorf" userId="63bcf7a1-561c-4cb5-8a5e-e06b5225b7ef" providerId="ADAL" clId="{BA308630-C799-48BB-B13B-D6DB741904BE}"/>
    <pc:docChg chg="undo custSel modSld">
      <pc:chgData name="Brian Middendorf" userId="63bcf7a1-561c-4cb5-8a5e-e06b5225b7ef" providerId="ADAL" clId="{BA308630-C799-48BB-B13B-D6DB741904BE}" dt="2026-10-06T00:20:45.471" v="54" actId="14100"/>
      <pc:docMkLst>
        <pc:docMk/>
      </pc:docMkLst>
      <pc:sldChg chg="modSp mod">
        <pc:chgData name="Brian Middendorf" userId="63bcf7a1-561c-4cb5-8a5e-e06b5225b7ef" providerId="ADAL" clId="{BA308630-C799-48BB-B13B-D6DB741904BE}" dt="2026-10-06T00:17:01.029" v="3" actId="14100"/>
        <pc:sldMkLst>
          <pc:docMk/>
          <pc:sldMk cId="0" sldId="259"/>
        </pc:sldMkLst>
        <pc:spChg chg="mod">
          <ac:chgData name="Brian Middendorf" userId="63bcf7a1-561c-4cb5-8a5e-e06b5225b7ef" providerId="ADAL" clId="{BA308630-C799-48BB-B13B-D6DB741904BE}" dt="2026-10-06T00:16:56.545" v="2" actId="14100"/>
          <ac:spMkLst>
            <pc:docMk/>
            <pc:sldMk cId="0" sldId="259"/>
            <ac:spMk id="11" creationId="{00000000-0000-0000-0000-000000000000}"/>
          </ac:spMkLst>
        </pc:spChg>
        <pc:spChg chg="mod">
          <ac:chgData name="Brian Middendorf" userId="63bcf7a1-561c-4cb5-8a5e-e06b5225b7ef" providerId="ADAL" clId="{BA308630-C799-48BB-B13B-D6DB741904BE}" dt="2026-10-06T00:17:01.029" v="3" actId="14100"/>
          <ac:spMkLst>
            <pc:docMk/>
            <pc:sldMk cId="0" sldId="259"/>
            <ac:spMk id="17" creationId="{00000000-0000-0000-0000-000000000000}"/>
          </ac:spMkLst>
        </pc:spChg>
      </pc:sldChg>
      <pc:sldChg chg="modSp mod">
        <pc:chgData name="Brian Middendorf" userId="63bcf7a1-561c-4cb5-8a5e-e06b5225b7ef" providerId="ADAL" clId="{BA308630-C799-48BB-B13B-D6DB741904BE}" dt="2026-10-06T00:17:35.913" v="6" actId="14100"/>
        <pc:sldMkLst>
          <pc:docMk/>
          <pc:sldMk cId="0" sldId="260"/>
        </pc:sldMkLst>
        <pc:spChg chg="mod">
          <ac:chgData name="Brian Middendorf" userId="63bcf7a1-561c-4cb5-8a5e-e06b5225b7ef" providerId="ADAL" clId="{BA308630-C799-48BB-B13B-D6DB741904BE}" dt="2026-10-06T00:17:28.309" v="5" actId="14100"/>
          <ac:spMkLst>
            <pc:docMk/>
            <pc:sldMk cId="0" sldId="260"/>
            <ac:spMk id="11" creationId="{00000000-0000-0000-0000-000000000000}"/>
          </ac:spMkLst>
        </pc:spChg>
        <pc:spChg chg="mod">
          <ac:chgData name="Brian Middendorf" userId="63bcf7a1-561c-4cb5-8a5e-e06b5225b7ef" providerId="ADAL" clId="{BA308630-C799-48BB-B13B-D6DB741904BE}" dt="2026-10-06T00:17:35.913" v="6" actId="14100"/>
          <ac:spMkLst>
            <pc:docMk/>
            <pc:sldMk cId="0" sldId="260"/>
            <ac:spMk id="14" creationId="{00000000-0000-0000-0000-000000000000}"/>
          </ac:spMkLst>
        </pc:spChg>
      </pc:sldChg>
      <pc:sldChg chg="modSp mod">
        <pc:chgData name="Brian Middendorf" userId="63bcf7a1-561c-4cb5-8a5e-e06b5225b7ef" providerId="ADAL" clId="{BA308630-C799-48BB-B13B-D6DB741904BE}" dt="2026-10-06T00:17:48.996" v="7" actId="14100"/>
        <pc:sldMkLst>
          <pc:docMk/>
          <pc:sldMk cId="0" sldId="261"/>
        </pc:sldMkLst>
        <pc:spChg chg="mod">
          <ac:chgData name="Brian Middendorf" userId="63bcf7a1-561c-4cb5-8a5e-e06b5225b7ef" providerId="ADAL" clId="{BA308630-C799-48BB-B13B-D6DB741904BE}" dt="2026-10-06T00:17:48.996" v="7" actId="14100"/>
          <ac:spMkLst>
            <pc:docMk/>
            <pc:sldMk cId="0" sldId="261"/>
            <ac:spMk id="11" creationId="{00000000-0000-0000-0000-000000000000}"/>
          </ac:spMkLst>
        </pc:spChg>
      </pc:sldChg>
      <pc:sldChg chg="modSp mod">
        <pc:chgData name="Brian Middendorf" userId="63bcf7a1-561c-4cb5-8a5e-e06b5225b7ef" providerId="ADAL" clId="{BA308630-C799-48BB-B13B-D6DB741904BE}" dt="2026-10-06T00:18:04.775" v="8" actId="14100"/>
        <pc:sldMkLst>
          <pc:docMk/>
          <pc:sldMk cId="0" sldId="262"/>
        </pc:sldMkLst>
        <pc:spChg chg="mod">
          <ac:chgData name="Brian Middendorf" userId="63bcf7a1-561c-4cb5-8a5e-e06b5225b7ef" providerId="ADAL" clId="{BA308630-C799-48BB-B13B-D6DB741904BE}" dt="2026-10-06T00:18:04.775" v="8" actId="14100"/>
          <ac:spMkLst>
            <pc:docMk/>
            <pc:sldMk cId="0" sldId="262"/>
            <ac:spMk id="43" creationId="{00000000-0000-0000-0000-000000000000}"/>
          </ac:spMkLst>
        </pc:spChg>
      </pc:sldChg>
      <pc:sldChg chg="modSp mod">
        <pc:chgData name="Brian Middendorf" userId="63bcf7a1-561c-4cb5-8a5e-e06b5225b7ef" providerId="ADAL" clId="{BA308630-C799-48BB-B13B-D6DB741904BE}" dt="2026-10-06T00:18:55.007" v="26" actId="1036"/>
        <pc:sldMkLst>
          <pc:docMk/>
          <pc:sldMk cId="0" sldId="263"/>
        </pc:sldMkLst>
        <pc:spChg chg="mod">
          <ac:chgData name="Brian Middendorf" userId="63bcf7a1-561c-4cb5-8a5e-e06b5225b7ef" providerId="ADAL" clId="{BA308630-C799-48BB-B13B-D6DB741904BE}" dt="2026-10-06T00:18:30.306" v="9" actId="14100"/>
          <ac:spMkLst>
            <pc:docMk/>
            <pc:sldMk cId="0" sldId="263"/>
            <ac:spMk id="11" creationId="{00000000-0000-0000-0000-000000000000}"/>
          </ac:spMkLst>
        </pc:spChg>
        <pc:spChg chg="mod">
          <ac:chgData name="Brian Middendorf" userId="63bcf7a1-561c-4cb5-8a5e-e06b5225b7ef" providerId="ADAL" clId="{BA308630-C799-48BB-B13B-D6DB741904BE}" dt="2026-10-06T00:18:55.007" v="26" actId="1036"/>
          <ac:spMkLst>
            <pc:docMk/>
            <pc:sldMk cId="0" sldId="263"/>
            <ac:spMk id="12" creationId="{00000000-0000-0000-0000-000000000000}"/>
          </ac:spMkLst>
        </pc:spChg>
        <pc:spChg chg="mod">
          <ac:chgData name="Brian Middendorf" userId="63bcf7a1-561c-4cb5-8a5e-e06b5225b7ef" providerId="ADAL" clId="{BA308630-C799-48BB-B13B-D6DB741904BE}" dt="2026-10-06T00:18:55.007" v="26" actId="1036"/>
          <ac:spMkLst>
            <pc:docMk/>
            <pc:sldMk cId="0" sldId="263"/>
            <ac:spMk id="13" creationId="{00000000-0000-0000-0000-000000000000}"/>
          </ac:spMkLst>
        </pc:spChg>
      </pc:sldChg>
      <pc:sldChg chg="modSp mod">
        <pc:chgData name="Brian Middendorf" userId="63bcf7a1-561c-4cb5-8a5e-e06b5225b7ef" providerId="ADAL" clId="{BA308630-C799-48BB-B13B-D6DB741904BE}" dt="2026-10-06T00:20:08.498" v="50" actId="14100"/>
        <pc:sldMkLst>
          <pc:docMk/>
          <pc:sldMk cId="0" sldId="265"/>
        </pc:sldMkLst>
        <pc:spChg chg="mod">
          <ac:chgData name="Brian Middendorf" userId="63bcf7a1-561c-4cb5-8a5e-e06b5225b7ef" providerId="ADAL" clId="{BA308630-C799-48BB-B13B-D6DB741904BE}" dt="2026-10-06T00:19:49.086" v="47" actId="14100"/>
          <ac:spMkLst>
            <pc:docMk/>
            <pc:sldMk cId="0" sldId="265"/>
            <ac:spMk id="11" creationId="{00000000-0000-0000-0000-000000000000}"/>
          </ac:spMkLst>
        </pc:spChg>
        <pc:spChg chg="mod">
          <ac:chgData name="Brian Middendorf" userId="63bcf7a1-561c-4cb5-8a5e-e06b5225b7ef" providerId="ADAL" clId="{BA308630-C799-48BB-B13B-D6DB741904BE}" dt="2026-10-06T00:20:08.498" v="50" actId="14100"/>
          <ac:spMkLst>
            <pc:docMk/>
            <pc:sldMk cId="0" sldId="265"/>
            <ac:spMk id="14" creationId="{00000000-0000-0000-0000-000000000000}"/>
          </ac:spMkLst>
        </pc:spChg>
        <pc:spChg chg="mod">
          <ac:chgData name="Brian Middendorf" userId="63bcf7a1-561c-4cb5-8a5e-e06b5225b7ef" providerId="ADAL" clId="{BA308630-C799-48BB-B13B-D6DB741904BE}" dt="2026-10-06T00:19:15.768" v="27" actId="14100"/>
          <ac:spMkLst>
            <pc:docMk/>
            <pc:sldMk cId="0" sldId="265"/>
            <ac:spMk id="17" creationId="{00000000-0000-0000-0000-000000000000}"/>
          </ac:spMkLst>
        </pc:spChg>
        <pc:spChg chg="mod">
          <ac:chgData name="Brian Middendorf" userId="63bcf7a1-561c-4cb5-8a5e-e06b5225b7ef" providerId="ADAL" clId="{BA308630-C799-48BB-B13B-D6DB741904BE}" dt="2026-10-06T00:19:34.265" v="46" actId="1036"/>
          <ac:spMkLst>
            <pc:docMk/>
            <pc:sldMk cId="0" sldId="265"/>
            <ac:spMk id="18" creationId="{00000000-0000-0000-0000-000000000000}"/>
          </ac:spMkLst>
        </pc:spChg>
        <pc:spChg chg="mod">
          <ac:chgData name="Brian Middendorf" userId="63bcf7a1-561c-4cb5-8a5e-e06b5225b7ef" providerId="ADAL" clId="{BA308630-C799-48BB-B13B-D6DB741904BE}" dt="2026-10-06T00:19:34.265" v="46" actId="1036"/>
          <ac:spMkLst>
            <pc:docMk/>
            <pc:sldMk cId="0" sldId="265"/>
            <ac:spMk id="19" creationId="{00000000-0000-0000-0000-000000000000}"/>
          </ac:spMkLst>
        </pc:spChg>
        <pc:spChg chg="mod">
          <ac:chgData name="Brian Middendorf" userId="63bcf7a1-561c-4cb5-8a5e-e06b5225b7ef" providerId="ADAL" clId="{BA308630-C799-48BB-B13B-D6DB741904BE}" dt="2026-10-06T00:20:03.974" v="49" actId="14100"/>
          <ac:spMkLst>
            <pc:docMk/>
            <pc:sldMk cId="0" sldId="265"/>
            <ac:spMk id="20" creationId="{00000000-0000-0000-0000-000000000000}"/>
          </ac:spMkLst>
        </pc:spChg>
      </pc:sldChg>
      <pc:sldChg chg="modSp mod">
        <pc:chgData name="Brian Middendorf" userId="63bcf7a1-561c-4cb5-8a5e-e06b5225b7ef" providerId="ADAL" clId="{BA308630-C799-48BB-B13B-D6DB741904BE}" dt="2026-10-06T00:20:22.159" v="52" actId="14100"/>
        <pc:sldMkLst>
          <pc:docMk/>
          <pc:sldMk cId="0" sldId="266"/>
        </pc:sldMkLst>
        <pc:spChg chg="mod">
          <ac:chgData name="Brian Middendorf" userId="63bcf7a1-561c-4cb5-8a5e-e06b5225b7ef" providerId="ADAL" clId="{BA308630-C799-48BB-B13B-D6DB741904BE}" dt="2026-10-06T00:20:22.159" v="52" actId="14100"/>
          <ac:spMkLst>
            <pc:docMk/>
            <pc:sldMk cId="0" sldId="266"/>
            <ac:spMk id="14" creationId="{00000000-0000-0000-0000-000000000000}"/>
          </ac:spMkLst>
        </pc:spChg>
      </pc:sldChg>
      <pc:sldChg chg="modSp mod">
        <pc:chgData name="Brian Middendorf" userId="63bcf7a1-561c-4cb5-8a5e-e06b5225b7ef" providerId="ADAL" clId="{BA308630-C799-48BB-B13B-D6DB741904BE}" dt="2026-10-06T00:20:45.471" v="54" actId="14100"/>
        <pc:sldMkLst>
          <pc:docMk/>
          <pc:sldMk cId="0" sldId="268"/>
        </pc:sldMkLst>
        <pc:spChg chg="mod">
          <ac:chgData name="Brian Middendorf" userId="63bcf7a1-561c-4cb5-8a5e-e06b5225b7ef" providerId="ADAL" clId="{BA308630-C799-48BB-B13B-D6DB741904BE}" dt="2026-10-06T00:20:39.696" v="53" actId="14100"/>
          <ac:spMkLst>
            <pc:docMk/>
            <pc:sldMk cId="0" sldId="268"/>
            <ac:spMk id="11" creationId="{00000000-0000-0000-0000-000000000000}"/>
          </ac:spMkLst>
        </pc:spChg>
        <pc:spChg chg="mod">
          <ac:chgData name="Brian Middendorf" userId="63bcf7a1-561c-4cb5-8a5e-e06b5225b7ef" providerId="ADAL" clId="{BA308630-C799-48BB-B13B-D6DB741904BE}" dt="2026-10-06T00:20:45.471" v="54" actId="14100"/>
          <ac:spMkLst>
            <pc:docMk/>
            <pc:sldMk cId="0" sldId="268"/>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051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deck to walk leaders through how people in your organization use Microsoft 365 Copilot, Copilot Chat and agents, with the AI-in-One dashboard v2.0.0.
Every screenshot uses made-up example data. The numbers show how the pages work; they are not benchmarks or targets.
Suggested flow: three questions, five steps, four short acts, then agree one next step. Plan for 20 to 30 minutes. Keep the live report open so you can switch to your own team and dates when a question comes up.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around three questions. Pick the one your audience cares about most and spend most of your time there.
Who is using Copilot? Start on Copilot Usage Explorer, then compare experiences on the two Copilot Overall pages.
Is it becoming a habit? The habit pages show how many days people used Copilot in a month. The usage-trend pages show whether people come back each week.
Where should we invest next? The agent pages show which agents reach people and keep them coming back. License Prioritization helps start a licensing conversation.
Keep the same team and dates as you move between pages; your selections follow you automatically.
Licensed activity includes every recorded experience, including agent-only users. Active plus inactive licensed users equals the licensed directory population after dates, scope, RLS and selected usage-band membership. A band selection cannot increase inactive licensed users.
The relevant tables and tooltips pair prompts and prompts per session with sessions. Weekly comparison bars and applicable month-over-month cards include prompt counterparts; line/area, top-N session and scatter series remain unchanged. Prompt counts reflect Purview audit coverage and are not guaranteed to match Viva Insights or Microsoft 365 admin center reports.
Usage bands recalculate from distinct prompts per active week among active users in the selected dates and authorized organization, reporting-team and license population. Each family is calculated independently, then selected memberships intersect. Ties share a band. No Usage includes eligible people without that family's recorded activity.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steps work for any audience.
1. Choose the people. Org filters, beside Clear filters, lets you pick company, division, department, reporting team, user and license. Include system agents defaults to No; Clear filters restores No. Reporting team includes a manager's direct and indirect reports.
2. Choose the dates. End on a full month: the habit pages describe the month before the end of your selected range.
3. See the whole picture on Copilot Usage Explorer.
4. Look closer on the comparison, habit and agent pages.
5. Agree one next step.
Before you present, confirm the approved Minimum Group Size and that each viewer has the right row-level security role. In Power BI Desktop, hold Ctrl when you select report buttons; in the Power BI service a normal click 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Usage Explorer is the starting page. It answers: how is my team, a manager's organization or one agent using Copilot right now?
1. Active users are people with recorded activity in the selected dates. Prompts are requests people sent. Sessions are conversations. Prompts per session shows depth, which can reflect useful work, retries or a difficult task. Repeat users have at least two sessions in the period.
2. The thin lines are daily values; the bold lines are 7-day averages.
3. One person can use several experiences, so these bars are not parts of one total.
4. The agent table lists every agent the selected people used. Right-click a name and choose Drill through, then Agent drillthrough, for that agent's details with the same team and dates.
Tip: Org filters, then Reporting team, lets you search for any manager by name.</a:t>
            </a:r>
          </a:p>
          <a:p>
            <a:r>
              <a:t>Explorer's Jul, Aug and Sep month-start dots are on the bold 7-day trends. Daily values, trend calculations, legend and tooltips are unchanged. Activity by experience switches sessions/prompts. Insufficient inference is explicitly labeled. Headline help and prompt-count footers explain context and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Trends compares the three main experiences over time: agents, Copilot Chat used without a Microsoft 365 Copilot license, and licensed Microsoft 365 Copilot.
The key message: one person can appear in several groups. Don't add the user counts together and don't assume people moved from one experience to another.
Weekly sessions per user is each active user's sessions divided by the weeks they were active, then averaged. It is not divided by every calendar week.
Inactive licensed users are licensed people with no recorded activity across any experience in the selected dates; agent-only users are active. That alone doesn't prove a license has no value; it's a reason to ask what would help.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heat colors to spot the busiest departments quickly.
The agent percentages answer one question per table: of this table's chat users, what share also used agents? Agent-only users and people with unknown license status don't inflate it.
License status comes from the people file supplied when the data was collected. It is a snapshot, not a history of every license change. Unknown is shown as Unknown, never treated as unlicensed.
Department results come first. Individual people appear only with approved Minimum Group Size 1. Agent prompts and prompts per session also stay blank when this table's licensed or unlicensed row is below its minimum, even if agent scope qualifies.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habit pages: agents, M365 Copilot and Copilot Chat. They all use the same four groups: Light is 1 to 5 active days in the month, Moderate 6 to 10, Frequent 11 to 15 and Daily 16 or more.
The habit month is printed at the top of each habit page. It is the calendar month before the end of your selected dates. If your dates end on 30 September, the cards describe August.
The cards and the previous-month bars describe that month. The department and agent tables describe the whole selected period, so their totals may differ from the cards.
Use habits to discuss routines, not to rate people. Different roles naturally use Copilot on different numbers of days.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focuses on people recorded with a Microsoft 365 Copilot license in the supplied people file.
Read users, sessions and apps together rather than choosing one number as a verdict on licenses. Some apps record more detail than others, so a small count can reflect how activity is recorded.
Month-over-month change compares prompts and sessions with the previous month for the selected dates. It isn't a target.
Usage alone doesn't prove productivity gains or that a license paid for itself. Use the pattern to ask the team what is working and where training or access would help.
Licensed activity includes every recorded experience, including agent-only users. Active plus inactive licensed users equals the licensed directory population after dates, scope, RLS and selected usage-band membership. A band selection cannot increase inactive licensed users.
The relevant tables and tooltips pair prompts and prompts per session with sessions. Weekly comparison bars and applicable month-over-month cards include prompt counterparts; line/area, top-N session and scatter series remain unchanged. Prompt counts reflect Purview audit coverage and are not guaranteed to match Viva Insights or Microsoft 365 admin center reports.
Usage bands recalculate from distinct prompts per active week among active users in the selected dates and authorized organization, reporting-team and license population. Each family is calculated independently, then selected memberships intersect. Ties share a band. No Usage includes eligible people without that family's recorded activity.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pages count recorded Copilot Chat activity from people listed without a Microsoft 365 Copilot license. Agent activity, Cowork and activity the report can't identify are kept separate and aren't counted as chat.
The repeat-use line is a share of that day's active users. For example, 50% means half the people active that day had another chat session. It doesn't mean half the company used chat.
More sessions can mean useful work, retries or a difficult task. Ask the team what was happening before drawing conclusions.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and repeat use tell you different things. Reach is how many people used an agent. Repeat use is the share with at least two separate conversations in the selected period; it's not next-month retention.
Agent adoption is agent users divided by all active Copilot users.
A widely used agent with little repeat use raises a different question from a specialist agent used regularly by a small team. Look at several weeks, not one busy day.
The filters on the right let you focus by return rate, review status, agent type, agent name and recency.</a:t>
            </a:r>
          </a:p>
          <a:p>
            <a:r>
              <a:t>Use Cases: eligible agents need at least MAX(Minimum Group Size, 5) users in scope. Each component is the share of other eligible agents with a lower return rate, sessions per user or prompts per session. Average the three equally; ties share percentiles and a sole eligible agent scores 100%. Break score ties by sessions descending, then agent name ascending. The tooltip retains users, sessions, prompts and prompts/session. Engagement is not measured business value.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label combines reach and recency for the selected team and dates. System-generated agents and Security Copilot entries ("Usage not tracked here") are not review targets, even when system agents are included.
No usage: no recorded activity in this selection. Review: last activity more than 60 days before the end of the selected dates. High impact: user and organization thresholds are met for the agent's type (100 users and 10 organizations for Microsoft agents, 30 and 3 for Agent Builder, 50 and 5 for others). Keep: everything else with recent use.
These thresholds are rules of thumb built into the report, not validated benchmarks. An agent can be valuable for an occasional specialist task without much activity. Missing catalog details are different from no recorded use, and a group below the minimum size may not show at all.
Before improving, sharing or retiring an agent, ask its owner what it's for and what its users think.</a:t>
            </a:r>
          </a:p>
          <a:p>
            <a:r>
              <a:t>Creator filtering includes matching no-usage catalog rows via metadata, not by disclosing protected activity. Dormant means previously used, last recorded activity over 60 days before the selected end date; No usage/Never Used is distinct. Existing review thresholds are rules of thumb, not validated business benchmarks.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reach agent details.
1. Open the Agent Details tab to browse freely. It starts with all agents.
2. On any page with agent names, right-click a name, choose Drill through, then Agent drillthrough. The details open for that agent with the same team and dates. Back returns you to where you were, and Explore all agents lets you pick another while keeping the team and dates.
Repeat users means people with at least two sessions in the selected period, not a later-month retention measure.
The agent's listed capabilities describe what it can do, not proof that every feature was used.</a:t>
            </a:r>
          </a:p>
          <a:p>
            <a:r>
              <a:t>Most used agent uses sessions in the current row and breaks ties by agent name; Agents used counts distinct agents in that scope. Disclosure and Minimum Group Size remain. The original Leaderboard action is drillthrough; the constrained selector is intentional. Its note and Open Agent Details button navigate to the full list. Right-click drillthrough and Clear filters are unchanged.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Chat users, active licensed users and inactive licensed users at a glance. Agent-only licensed users are active; active plus inactive reconciles to the licensed directory population.
2. The unlicensed usage leaderboard ranks departments by how much people without a Microsoft 365 Copilot license use Copilot Chat, with median weekly sessions and active days.
3. The scatter plots each department by how often and how regularly people use Copilot Chat. Departments toward the High Priority corner use it most. The reference lines are the selected group's medians, not targets.
The score weights weekly sessions 60%, weekly active days 30% and sessions per active day 10%. These weights are choices made for the score, not universal measures of value.
Use the page to identify a licensing conversation worth having. Bring in role, need, cost and colleague feedback. Individual rankings appear only when Minimum Group Size 1 has been approved.</a:t>
            </a:r>
          </a:p>
          <a:p>
            <a:r>
              <a:t>The unchanged score is 60% sessions per week divided by 10, 30% active days per week divided by 5, and 10% sessions per active day divided by 5. Scores are not capped. The chart's weekly metric selector changes the vertical units, selected-scope median and scale together. Licensed directory headcount is separate from active/inactive usage.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when your audience starts drawing strong conclusions.
1. People in scope is the eligible headcount for the selected group; Minimum Group Size uses that headcount. Active users are those with recorded activity in the dates.
2. The same person can appear in several experience groups, so totals aren't additive.
3. The report counts user prompts and conversations. It doesn't measure answer quality, time saved, revenue or employee performance.
4. Habit cards use the month before the end of the selected dates.
5. License status comes from the people file supplied when the data was collected, not a history of every change.
6. For store agents, Developer Name identifies the publisher, not a tenant creator. System-generated and untracked entries are not review targets. Activity categories remain clues, not measured outcomes.
The Metric Glossary &amp; Guide page in the report has a definition for every number.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Minimum Group Size is set by the report owner. It counts eligible people in the group, not active users, so a qualifying team can show zero, one or two active users. The default of 3 keeps reporting at team level. A setting of 1 enables individual views, such as By user on the agent leaderboard, and needs approval.
The setting is a display rule, not anonymization, and it doesn't replace access permissions.
Row-level security decides whose data each viewer sees. Reporting hierarchy: viewers see themselves and everyone who reports to them, matched by sign-in name. All data viewers: everyone. Until people or groups are assigned to a role in the Power BI service, viewers can't see the report's data.</a:t>
            </a:r>
          </a:p>
          <a:p>
            <a:r>
              <a:t>When Manager_UserKey exists in the original PAX source, blank is authoritative top of chain, without ManagerUPN fallback. Unresolved managers become roots. Legacy files still resolve by UPN, except an out-of-file manager no longer collapses descendants. Only the affected person's diagnostic is retained, for Hierarchy Message and Department Hierarchy Depth. Access permissions are unchanged.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a practical question. A pattern might point to training, an agent worth sharing or a task worth exploring, but the chart alone can't tell you which explanation is right.
Agree one change and revisit the same team with comparable dates next period. Ask colleagues whether the change helped their work, not just whether the numbers went up.
If the report will be used for recurring reviews, ask its owner to confirm that scheduled refresh brings in new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one next step and a date to look again.
Point people to the Interpretation Guide for detail on every page and number, and to the Metric Glossary &amp; Guide page inside the report. The dashboard at aka.ms/AI-in-One has the screenshot tour, setup instructions and the latest templates. More free reports from the Microsoft Copilot Analytics team are at aka.ms/Analytics-Hub.</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hyperlink" Target="https://aka.ms/Analytics-Hub" TargetMode="External"/><Relationship Id="rId3" Type="http://schemas.openxmlformats.org/officeDocument/2006/relationships/image" Target="../media/image1.png"/><Relationship Id="rId7" Type="http://schemas.openxmlformats.org/officeDocument/2006/relationships/hyperlink" Target="https://github.com/microsoft/AI-in-One-Dashboard/blob/main/Report%20Screenshots.md"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github.com/microsoft/AI-in-One-Dashboard/blob/main/Report%20Screenshots.md#page-17" TargetMode="External"/><Relationship Id="rId5" Type="http://schemas.openxmlformats.org/officeDocument/2006/relationships/hyperlink" Target="https://github.com/microsoft/AI-in-One-Dashboard/blob/main/AI-in-One-v2.0.0-Interpretation-Guide.pdf" TargetMode="External"/><Relationship Id="rId4" Type="http://schemas.openxmlformats.org/officeDocument/2006/relationships/image" Target="../media/image2.png"/><Relationship Id="rId9" Type="http://schemas.openxmlformats.org/officeDocument/2006/relationships/hyperlink" Target="https://aka.ms/AI-in-On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1833"/>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612648" y="1143000"/>
            <a:ext cx="8686800" cy="2377440"/>
          </a:xfrm>
          <a:prstGeom prst="rect">
            <a:avLst/>
          </a:prstGeom>
          <a:noFill/>
          <a:ln/>
        </p:spPr>
        <p:txBody>
          <a:bodyPr wrap="square" lIns="0" tIns="0" rIns="0" bIns="0" rtlCol="0" anchor="t"/>
          <a:lstStyle/>
          <a:p>
            <a:pPr marL="0" indent="0">
              <a:buNone/>
            </a:pPr>
            <a:r>
              <a:rPr lang="en-US" sz="5400" dirty="0">
                <a:solidFill>
                  <a:srgbClr val="FFFFFF"/>
                </a:solidFill>
                <a:latin typeface="Segoe UI Semibold" pitchFamily="34" charset="0"/>
                <a:ea typeface="Segoe UI Semibold" pitchFamily="34" charset="-122"/>
                <a:cs typeface="Segoe UI Semibold" pitchFamily="34" charset="-120"/>
              </a:rPr>
              <a:t>Tell your Copilot</a:t>
            </a:r>
            <a:endParaRPr lang="en-US" sz="5400" dirty="0"/>
          </a:p>
          <a:p>
            <a:pPr marL="0" indent="0">
              <a:buNone/>
            </a:pPr>
            <a:r>
              <a:rPr lang="en-US" sz="5400" dirty="0">
                <a:solidFill>
                  <a:srgbClr val="FFFFFF"/>
                </a:solidFill>
                <a:latin typeface="Segoe UI Semibold" pitchFamily="34" charset="0"/>
                <a:ea typeface="Segoe UI Semibold" pitchFamily="34" charset="-122"/>
                <a:cs typeface="Segoe UI Semibold" pitchFamily="34" charset="-120"/>
              </a:rPr>
              <a:t>adoption story.</a:t>
            </a:r>
            <a:endParaRPr lang="en-US" sz="5400" dirty="0"/>
          </a:p>
        </p:txBody>
      </p:sp>
      <p:sp>
        <p:nvSpPr>
          <p:cNvPr id="5" name="Text 1"/>
          <p:cNvSpPr/>
          <p:nvPr/>
        </p:nvSpPr>
        <p:spPr>
          <a:xfrm>
            <a:off x="612648" y="3977640"/>
            <a:ext cx="6766560" cy="457200"/>
          </a:xfrm>
          <a:prstGeom prst="rect">
            <a:avLst/>
          </a:prstGeom>
          <a:noFill/>
          <a:ln/>
        </p:spPr>
        <p:txBody>
          <a:bodyPr wrap="square" lIns="0" tIns="0" rIns="0" bIns="0" rtlCol="0" anchor="ctr"/>
          <a:lstStyle/>
          <a:p>
            <a:pPr marL="0" indent="0">
              <a:buNone/>
            </a:pPr>
            <a:r>
              <a:rPr lang="en-US" sz="2200" dirty="0">
                <a:solidFill>
                  <a:srgbClr val="B9F3E0"/>
                </a:solidFill>
                <a:latin typeface="Segoe UI Semibold" pitchFamily="34" charset="0"/>
                <a:ea typeface="Segoe UI Semibold" pitchFamily="34" charset="-122"/>
                <a:cs typeface="Segoe UI Semibold" pitchFamily="34" charset="-120"/>
              </a:rPr>
              <a:t>AI-in-One Dashboard v2.0.0  ·  Storyboard</a:t>
            </a:r>
            <a:endParaRPr lang="en-US" sz="2200" dirty="0"/>
          </a:p>
        </p:txBody>
      </p:sp>
      <p:sp>
        <p:nvSpPr>
          <p:cNvPr id="6" name="Text 2"/>
          <p:cNvSpPr/>
          <p:nvPr/>
        </p:nvSpPr>
        <p:spPr>
          <a:xfrm>
            <a:off x="612648" y="4572000"/>
            <a:ext cx="6400800" cy="1097280"/>
          </a:xfrm>
          <a:prstGeom prst="rect">
            <a:avLst/>
          </a:prstGeom>
          <a:noFill/>
          <a:ln/>
        </p:spPr>
        <p:txBody>
          <a:bodyPr wrap="square" lIns="0" tIns="0" rIns="0" bIns="0" rtlCol="0" anchor="t"/>
          <a:lstStyle/>
          <a:p>
            <a:pPr marL="0" indent="0">
              <a:buNone/>
            </a:pPr>
            <a:r>
              <a:rPr lang="en-US" sz="1800" dirty="0">
                <a:solidFill>
                  <a:srgbClr val="CEBEDC"/>
                </a:solidFill>
                <a:latin typeface="Segoe UI" pitchFamily="34" charset="0"/>
                <a:ea typeface="Segoe UI" pitchFamily="34" charset="-122"/>
                <a:cs typeface="Segoe UI" pitchFamily="34" charset="-120"/>
              </a:rPr>
              <a:t>A ready-to-present walkthrough for leadership reviews, adoption councils and stakeholder briefings.</a:t>
            </a:r>
            <a:endParaRPr lang="en-US" sz="1800" dirty="0"/>
          </a:p>
        </p:txBody>
      </p:sp>
      <p:sp>
        <p:nvSpPr>
          <p:cNvPr id="7" name="Text 3"/>
          <p:cNvSpPr/>
          <p:nvPr/>
        </p:nvSpPr>
        <p:spPr>
          <a:xfrm>
            <a:off x="612648" y="8092440"/>
            <a:ext cx="5486400" cy="731520"/>
          </a:xfrm>
          <a:prstGeom prst="rect">
            <a:avLst/>
          </a:prstGeom>
          <a:noFill/>
          <a:ln/>
        </p:spPr>
        <p:txBody>
          <a:bodyPr wrap="square" lIns="0" tIns="0" rIns="0" bIns="0" rtlCol="0" anchor="b"/>
          <a:lstStyle/>
          <a:p>
            <a:pPr marL="0" indent="0">
              <a:buNone/>
            </a:pPr>
            <a:r>
              <a:rPr lang="en-US" sz="1400" dirty="0">
                <a:solidFill>
                  <a:srgbClr val="CEBEDC"/>
                </a:solidFill>
                <a:latin typeface="Segoe UI" pitchFamily="34" charset="0"/>
                <a:ea typeface="Segoe UI" pitchFamily="34" charset="-122"/>
                <a:cs typeface="Segoe UI" pitchFamily="34" charset="-120"/>
              </a:rPr>
              <a:t>Microsoft Copilot Analytics Team</a:t>
            </a:r>
            <a:endParaRPr lang="en-US" sz="1400" dirty="0"/>
          </a:p>
          <a:p>
            <a:pPr marL="0" indent="0">
              <a:buNone/>
            </a:pPr>
            <a:r>
              <a:rPr lang="en-US" sz="1400" dirty="0">
                <a:solidFill>
                  <a:srgbClr val="CEBEDC"/>
                </a:solidFill>
                <a:latin typeface="Segoe UI" pitchFamily="34" charset="0"/>
                <a:ea typeface="Segoe UI" pitchFamily="34" charset="-122"/>
                <a:cs typeface="Segoe UI" pitchFamily="34" charset="-120"/>
              </a:rPr>
              <a:t>October 2026</a:t>
            </a:r>
            <a:endParaRPr lang="en-US" sz="1400" dirty="0"/>
          </a:p>
        </p:txBody>
      </p:sp>
      <p:sp>
        <p:nvSpPr>
          <p:cNvPr id="8" name="Shape 4"/>
          <p:cNvSpPr/>
          <p:nvPr/>
        </p:nvSpPr>
        <p:spPr>
          <a:xfrm>
            <a:off x="7635240" y="3063240"/>
            <a:ext cx="10040112" cy="6446520"/>
          </a:xfrm>
          <a:prstGeom prst="roundRect">
            <a:avLst>
              <a:gd name="adj" fmla="val 1418"/>
            </a:avLst>
          </a:prstGeom>
          <a:solidFill>
            <a:srgbClr val="FFFFFF"/>
          </a:solidFill>
          <a:ln/>
        </p:spPr>
        <p:txBody>
          <a:bodyPr/>
          <a:lstStyle/>
          <a:p>
            <a:endParaRPr lang="en-US"/>
          </a:p>
        </p:txBody>
      </p:sp>
      <p:pic>
        <p:nvPicPr>
          <p:cNvPr id="9" name="Image 2" descr="Copilot Usage Explorer page"/>
          <p:cNvPicPr>
            <a:picLocks noChangeAspect="1"/>
          </p:cNvPicPr>
          <p:nvPr/>
        </p:nvPicPr>
        <p:blipFill>
          <a:blip r:embed="rId5"/>
          <a:stretch>
            <a:fillRect/>
          </a:stretch>
        </p:blipFill>
        <p:spPr>
          <a:xfrm>
            <a:off x="7863840" y="3291840"/>
            <a:ext cx="9582912" cy="5911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02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THE STORY</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Three questions every leader asks</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Answer them in order, keeping the same team and dates on every page.</a:t>
            </a:r>
            <a:endParaRPr lang="en-US" sz="2000" dirty="0"/>
          </a:p>
        </p:txBody>
      </p:sp>
      <p:sp>
        <p:nvSpPr>
          <p:cNvPr id="9" name="Shape 5"/>
          <p:cNvSpPr/>
          <p:nvPr/>
        </p:nvSpPr>
        <p:spPr>
          <a:xfrm>
            <a:off x="612648" y="2331720"/>
            <a:ext cx="5504688" cy="6446520"/>
          </a:xfrm>
          <a:prstGeom prst="roundRect">
            <a:avLst>
              <a:gd name="adj" fmla="val 1661"/>
            </a:avLst>
          </a:prstGeom>
          <a:solidFill>
            <a:srgbClr val="FFFFFF"/>
          </a:solidFill>
          <a:ln w="12700">
            <a:solidFill>
              <a:srgbClr val="E2DDEB"/>
            </a:solidFill>
            <a:prstDash val="solid"/>
          </a:ln>
        </p:spPr>
        <p:txBody>
          <a:bodyPr/>
          <a:lstStyle/>
          <a:p>
            <a:endParaRPr lang="en-US"/>
          </a:p>
        </p:txBody>
      </p:sp>
      <p:sp>
        <p:nvSpPr>
          <p:cNvPr id="10" name="Text 6"/>
          <p:cNvSpPr/>
          <p:nvPr/>
        </p:nvSpPr>
        <p:spPr>
          <a:xfrm>
            <a:off x="978408" y="2606040"/>
            <a:ext cx="1828800" cy="914400"/>
          </a:xfrm>
          <a:prstGeom prst="rect">
            <a:avLst/>
          </a:prstGeom>
          <a:noFill/>
          <a:ln/>
        </p:spPr>
        <p:txBody>
          <a:bodyPr wrap="square" lIns="0" tIns="0" rIns="0" bIns="0" rtlCol="0" anchor="ctr"/>
          <a:lstStyle/>
          <a:p>
            <a:pPr marL="0" indent="0">
              <a:buNone/>
            </a:pPr>
            <a:r>
              <a:rPr lang="en-US" sz="4800" dirty="0">
                <a:solidFill>
                  <a:srgbClr val="7953B8"/>
                </a:solidFill>
                <a:latin typeface="Segoe UI Semibold" pitchFamily="34" charset="0"/>
                <a:ea typeface="Segoe UI Semibold" pitchFamily="34" charset="-122"/>
                <a:cs typeface="Segoe UI Semibold" pitchFamily="34" charset="-120"/>
              </a:rPr>
              <a:t>01</a:t>
            </a:r>
            <a:endParaRPr lang="en-US" sz="4800" dirty="0"/>
          </a:p>
        </p:txBody>
      </p:sp>
      <p:sp>
        <p:nvSpPr>
          <p:cNvPr id="11" name="Text 7"/>
          <p:cNvSpPr/>
          <p:nvPr/>
        </p:nvSpPr>
        <p:spPr>
          <a:xfrm>
            <a:off x="978408" y="3657600"/>
            <a:ext cx="4773168" cy="822960"/>
          </a:xfrm>
          <a:prstGeom prst="rect">
            <a:avLst/>
          </a:prstGeom>
          <a:noFill/>
          <a:ln/>
        </p:spPr>
        <p:txBody>
          <a:bodyPr wrap="square" lIns="0" tIns="0" rIns="0" bIns="0" rtlCol="0" anchor="t"/>
          <a:lstStyle/>
          <a:p>
            <a:pPr marL="0" indent="0">
              <a:buNone/>
            </a:pPr>
            <a:r>
              <a:rPr lang="en-US" sz="2600" dirty="0">
                <a:solidFill>
                  <a:srgbClr val="251833"/>
                </a:solidFill>
                <a:latin typeface="Segoe UI Semibold" pitchFamily="34" charset="0"/>
                <a:ea typeface="Segoe UI Semibold" pitchFamily="34" charset="-122"/>
                <a:cs typeface="Segoe UI Semibold" pitchFamily="34" charset="-120"/>
              </a:rPr>
              <a:t>Who is using Copilot?</a:t>
            </a:r>
            <a:endParaRPr lang="en-US" sz="2600" dirty="0"/>
          </a:p>
        </p:txBody>
      </p:sp>
      <p:sp>
        <p:nvSpPr>
          <p:cNvPr id="12" name="Text 8"/>
          <p:cNvSpPr/>
          <p:nvPr/>
        </p:nvSpPr>
        <p:spPr>
          <a:xfrm>
            <a:off x="978408" y="4526280"/>
            <a:ext cx="4773168" cy="1417320"/>
          </a:xfrm>
          <a:prstGeom prst="rect">
            <a:avLst/>
          </a:prstGeom>
          <a:noFill/>
          <a:ln/>
        </p:spPr>
        <p:txBody>
          <a:bodyPr wrap="square" lIns="0" tIns="0" rIns="0" bIns="0" rtlCol="0" anchor="t"/>
          <a:lstStyle/>
          <a:p>
            <a:pPr marL="0" indent="0">
              <a:buNone/>
            </a:pPr>
            <a:r>
              <a:rPr lang="en-US" sz="1900" dirty="0">
                <a:solidFill>
                  <a:srgbClr val="637087"/>
                </a:solidFill>
                <a:latin typeface="Segoe UI" pitchFamily="34" charset="0"/>
                <a:ea typeface="Segoe UI" pitchFamily="34" charset="-122"/>
                <a:cs typeface="Segoe UI" pitchFamily="34" charset="-120"/>
              </a:rPr>
              <a:t>How many people use Microsoft 365 Copilot, Copilot Chat and agents, and how much.</a:t>
            </a:r>
            <a:endParaRPr lang="en-US" sz="1900" dirty="0"/>
          </a:p>
        </p:txBody>
      </p:sp>
      <p:sp>
        <p:nvSpPr>
          <p:cNvPr id="13" name="Shape 9"/>
          <p:cNvSpPr/>
          <p:nvPr/>
        </p:nvSpPr>
        <p:spPr>
          <a:xfrm>
            <a:off x="978408" y="6172200"/>
            <a:ext cx="4773168" cy="18288"/>
          </a:xfrm>
          <a:prstGeom prst="rect">
            <a:avLst/>
          </a:prstGeom>
          <a:solidFill>
            <a:srgbClr val="E2DDEB"/>
          </a:solidFill>
          <a:ln/>
        </p:spPr>
        <p:txBody>
          <a:bodyPr/>
          <a:lstStyle/>
          <a:p>
            <a:endParaRPr lang="en-US"/>
          </a:p>
        </p:txBody>
      </p:sp>
      <p:sp>
        <p:nvSpPr>
          <p:cNvPr id="14" name="Text 10"/>
          <p:cNvSpPr/>
          <p:nvPr/>
        </p:nvSpPr>
        <p:spPr>
          <a:xfrm>
            <a:off x="978408" y="6355080"/>
            <a:ext cx="4773168"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WHERE TO LOOK</a:t>
            </a:r>
            <a:endParaRPr lang="en-US" sz="1200" dirty="0"/>
          </a:p>
        </p:txBody>
      </p:sp>
      <p:sp>
        <p:nvSpPr>
          <p:cNvPr id="15" name="Text 11"/>
          <p:cNvSpPr/>
          <p:nvPr/>
        </p:nvSpPr>
        <p:spPr>
          <a:xfrm>
            <a:off x="978408" y="6748272"/>
            <a:ext cx="4773168" cy="1463040"/>
          </a:xfrm>
          <a:prstGeom prst="rect">
            <a:avLst/>
          </a:prstGeom>
          <a:noFill/>
          <a:ln/>
        </p:spPr>
        <p:txBody>
          <a:bodyPr wrap="square" lIns="0" tIns="0" rIns="0" bIns="0" rtlCol="0" anchor="t"/>
          <a:lstStyle/>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Copilot Usage Explorer</a:t>
            </a:r>
            <a:endParaRPr lang="en-US" sz="1800" dirty="0"/>
          </a:p>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Combined Trends</a:t>
            </a:r>
            <a:endParaRPr lang="en-US" sz="1800" dirty="0"/>
          </a:p>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Combined Leaderboard</a:t>
            </a:r>
            <a:endParaRPr lang="en-US" sz="1800" dirty="0"/>
          </a:p>
        </p:txBody>
      </p:sp>
      <p:sp>
        <p:nvSpPr>
          <p:cNvPr id="16" name="Shape 12"/>
          <p:cNvSpPr/>
          <p:nvPr/>
        </p:nvSpPr>
        <p:spPr>
          <a:xfrm>
            <a:off x="6391656" y="2331720"/>
            <a:ext cx="5504688" cy="6446520"/>
          </a:xfrm>
          <a:prstGeom prst="roundRect">
            <a:avLst>
              <a:gd name="adj" fmla="val 1661"/>
            </a:avLst>
          </a:prstGeom>
          <a:solidFill>
            <a:srgbClr val="FFFFFF"/>
          </a:solidFill>
          <a:ln w="12700">
            <a:solidFill>
              <a:srgbClr val="E2DDEB"/>
            </a:solidFill>
            <a:prstDash val="solid"/>
          </a:ln>
        </p:spPr>
        <p:txBody>
          <a:bodyPr/>
          <a:lstStyle/>
          <a:p>
            <a:endParaRPr lang="en-US"/>
          </a:p>
        </p:txBody>
      </p:sp>
      <p:sp>
        <p:nvSpPr>
          <p:cNvPr id="17" name="Text 13"/>
          <p:cNvSpPr/>
          <p:nvPr/>
        </p:nvSpPr>
        <p:spPr>
          <a:xfrm>
            <a:off x="6757416" y="2606040"/>
            <a:ext cx="1828800" cy="914400"/>
          </a:xfrm>
          <a:prstGeom prst="rect">
            <a:avLst/>
          </a:prstGeom>
          <a:noFill/>
          <a:ln/>
        </p:spPr>
        <p:txBody>
          <a:bodyPr wrap="square" lIns="0" tIns="0" rIns="0" bIns="0" rtlCol="0" anchor="ctr"/>
          <a:lstStyle/>
          <a:p>
            <a:pPr marL="0" indent="0">
              <a:buNone/>
            </a:pPr>
            <a:r>
              <a:rPr lang="en-US" sz="4800" dirty="0">
                <a:solidFill>
                  <a:srgbClr val="008774"/>
                </a:solidFill>
                <a:latin typeface="Segoe UI Semibold" pitchFamily="34" charset="0"/>
                <a:ea typeface="Segoe UI Semibold" pitchFamily="34" charset="-122"/>
                <a:cs typeface="Segoe UI Semibold" pitchFamily="34" charset="-120"/>
              </a:rPr>
              <a:t>02</a:t>
            </a:r>
            <a:endParaRPr lang="en-US" sz="4800" dirty="0"/>
          </a:p>
        </p:txBody>
      </p:sp>
      <p:sp>
        <p:nvSpPr>
          <p:cNvPr id="18" name="Text 14"/>
          <p:cNvSpPr/>
          <p:nvPr/>
        </p:nvSpPr>
        <p:spPr>
          <a:xfrm>
            <a:off x="6757416" y="3657600"/>
            <a:ext cx="4773168" cy="822960"/>
          </a:xfrm>
          <a:prstGeom prst="rect">
            <a:avLst/>
          </a:prstGeom>
          <a:noFill/>
          <a:ln/>
        </p:spPr>
        <p:txBody>
          <a:bodyPr wrap="square" lIns="0" tIns="0" rIns="0" bIns="0" rtlCol="0" anchor="t"/>
          <a:lstStyle/>
          <a:p>
            <a:pPr marL="0" indent="0">
              <a:buNone/>
            </a:pPr>
            <a:r>
              <a:rPr lang="en-US" sz="2600" dirty="0">
                <a:solidFill>
                  <a:srgbClr val="251833"/>
                </a:solidFill>
                <a:latin typeface="Segoe UI Semibold" pitchFamily="34" charset="0"/>
                <a:ea typeface="Segoe UI Semibold" pitchFamily="34" charset="-122"/>
                <a:cs typeface="Segoe UI Semibold" pitchFamily="34" charset="-120"/>
              </a:rPr>
              <a:t>Is it becoming a habit?</a:t>
            </a:r>
            <a:endParaRPr lang="en-US" sz="2600" dirty="0"/>
          </a:p>
        </p:txBody>
      </p:sp>
      <p:sp>
        <p:nvSpPr>
          <p:cNvPr id="19" name="Text 15"/>
          <p:cNvSpPr/>
          <p:nvPr/>
        </p:nvSpPr>
        <p:spPr>
          <a:xfrm>
            <a:off x="6757416" y="4526280"/>
            <a:ext cx="4773168" cy="1417320"/>
          </a:xfrm>
          <a:prstGeom prst="rect">
            <a:avLst/>
          </a:prstGeom>
          <a:noFill/>
          <a:ln/>
        </p:spPr>
        <p:txBody>
          <a:bodyPr wrap="square" lIns="0" tIns="0" rIns="0" bIns="0" rtlCol="0" anchor="t"/>
          <a:lstStyle/>
          <a:p>
            <a:pPr marL="0" indent="0">
              <a:buNone/>
            </a:pPr>
            <a:r>
              <a:rPr lang="en-US" sz="1900" dirty="0">
                <a:solidFill>
                  <a:srgbClr val="637087"/>
                </a:solidFill>
                <a:latin typeface="Segoe UI" pitchFamily="34" charset="0"/>
                <a:ea typeface="Segoe UI" pitchFamily="34" charset="-122"/>
                <a:cs typeface="Segoe UI" pitchFamily="34" charset="-120"/>
              </a:rPr>
              <a:t>Whether people come back week after week, and how many active days they have each month.</a:t>
            </a:r>
            <a:endParaRPr lang="en-US" sz="1900" dirty="0"/>
          </a:p>
        </p:txBody>
      </p:sp>
      <p:sp>
        <p:nvSpPr>
          <p:cNvPr id="20" name="Shape 16"/>
          <p:cNvSpPr/>
          <p:nvPr/>
        </p:nvSpPr>
        <p:spPr>
          <a:xfrm>
            <a:off x="6757416" y="6172200"/>
            <a:ext cx="4773168" cy="18288"/>
          </a:xfrm>
          <a:prstGeom prst="rect">
            <a:avLst/>
          </a:prstGeom>
          <a:solidFill>
            <a:srgbClr val="E2DDEB"/>
          </a:solidFill>
          <a:ln/>
        </p:spPr>
        <p:txBody>
          <a:bodyPr/>
          <a:lstStyle/>
          <a:p>
            <a:endParaRPr lang="en-US"/>
          </a:p>
        </p:txBody>
      </p:sp>
      <p:sp>
        <p:nvSpPr>
          <p:cNvPr id="21" name="Text 17"/>
          <p:cNvSpPr/>
          <p:nvPr/>
        </p:nvSpPr>
        <p:spPr>
          <a:xfrm>
            <a:off x="6757416" y="6355080"/>
            <a:ext cx="4773168" cy="320040"/>
          </a:xfrm>
          <a:prstGeom prst="rect">
            <a:avLst/>
          </a:prstGeom>
          <a:noFill/>
          <a:ln/>
        </p:spPr>
        <p:txBody>
          <a:bodyPr wrap="square" lIns="0" tIns="0" rIns="0" bIns="0" rtlCol="0" anchor="ctr"/>
          <a:lstStyle/>
          <a:p>
            <a:pPr marL="0" indent="0">
              <a:buNone/>
            </a:pPr>
            <a:r>
              <a:rPr lang="en-US" sz="1200" kern="0" spc="150" dirty="0">
                <a:solidFill>
                  <a:srgbClr val="008774"/>
                </a:solidFill>
                <a:latin typeface="Segoe UI Semibold" pitchFamily="34" charset="0"/>
                <a:ea typeface="Segoe UI Semibold" pitchFamily="34" charset="-122"/>
                <a:cs typeface="Segoe UI Semibold" pitchFamily="34" charset="-120"/>
              </a:rPr>
              <a:t>WHERE TO LOOK</a:t>
            </a:r>
            <a:endParaRPr lang="en-US" sz="1200" dirty="0"/>
          </a:p>
        </p:txBody>
      </p:sp>
      <p:sp>
        <p:nvSpPr>
          <p:cNvPr id="22" name="Text 18"/>
          <p:cNvSpPr/>
          <p:nvPr/>
        </p:nvSpPr>
        <p:spPr>
          <a:xfrm>
            <a:off x="6757416" y="6748272"/>
            <a:ext cx="4773168" cy="1463040"/>
          </a:xfrm>
          <a:prstGeom prst="rect">
            <a:avLst/>
          </a:prstGeom>
          <a:noFill/>
          <a:ln/>
        </p:spPr>
        <p:txBody>
          <a:bodyPr wrap="square" lIns="0" tIns="0" rIns="0" bIns="0" rtlCol="0" anchor="t"/>
          <a:lstStyle/>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Habit Formation pages</a:t>
            </a:r>
            <a:endParaRPr lang="en-US" sz="1800" dirty="0"/>
          </a:p>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M365 Copilot: Usage Trends</a:t>
            </a:r>
            <a:endParaRPr lang="en-US" sz="1800" dirty="0"/>
          </a:p>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Copilot Chat (Unlicensed): Usage Trends</a:t>
            </a:r>
            <a:endParaRPr lang="en-US" sz="1800" dirty="0"/>
          </a:p>
        </p:txBody>
      </p:sp>
      <p:sp>
        <p:nvSpPr>
          <p:cNvPr id="23" name="Shape 19"/>
          <p:cNvSpPr/>
          <p:nvPr/>
        </p:nvSpPr>
        <p:spPr>
          <a:xfrm>
            <a:off x="12170664" y="2331720"/>
            <a:ext cx="5504688" cy="6446520"/>
          </a:xfrm>
          <a:prstGeom prst="roundRect">
            <a:avLst>
              <a:gd name="adj" fmla="val 1661"/>
            </a:avLst>
          </a:prstGeom>
          <a:solidFill>
            <a:srgbClr val="FFFFFF"/>
          </a:solidFill>
          <a:ln w="12700">
            <a:solidFill>
              <a:srgbClr val="E2DDEB"/>
            </a:solidFill>
            <a:prstDash val="solid"/>
          </a:ln>
        </p:spPr>
        <p:txBody>
          <a:bodyPr/>
          <a:lstStyle/>
          <a:p>
            <a:endParaRPr lang="en-US"/>
          </a:p>
        </p:txBody>
      </p:sp>
      <p:sp>
        <p:nvSpPr>
          <p:cNvPr id="24" name="Text 20"/>
          <p:cNvSpPr/>
          <p:nvPr/>
        </p:nvSpPr>
        <p:spPr>
          <a:xfrm>
            <a:off x="12536424" y="2606040"/>
            <a:ext cx="1828800" cy="914400"/>
          </a:xfrm>
          <a:prstGeom prst="rect">
            <a:avLst/>
          </a:prstGeom>
          <a:noFill/>
          <a:ln/>
        </p:spPr>
        <p:txBody>
          <a:bodyPr wrap="square" lIns="0" tIns="0" rIns="0" bIns="0" rtlCol="0" anchor="ctr"/>
          <a:lstStyle/>
          <a:p>
            <a:pPr marL="0" indent="0">
              <a:buNone/>
            </a:pPr>
            <a:r>
              <a:rPr lang="en-US" sz="4800" dirty="0">
                <a:solidFill>
                  <a:srgbClr val="BF5B25"/>
                </a:solidFill>
                <a:latin typeface="Segoe UI Semibold" pitchFamily="34" charset="0"/>
                <a:ea typeface="Segoe UI Semibold" pitchFamily="34" charset="-122"/>
                <a:cs typeface="Segoe UI Semibold" pitchFamily="34" charset="-120"/>
              </a:rPr>
              <a:t>03</a:t>
            </a:r>
            <a:endParaRPr lang="en-US" sz="4800" dirty="0"/>
          </a:p>
        </p:txBody>
      </p:sp>
      <p:sp>
        <p:nvSpPr>
          <p:cNvPr id="25" name="Text 21"/>
          <p:cNvSpPr/>
          <p:nvPr/>
        </p:nvSpPr>
        <p:spPr>
          <a:xfrm>
            <a:off x="12536424" y="3657600"/>
            <a:ext cx="4773168" cy="822960"/>
          </a:xfrm>
          <a:prstGeom prst="rect">
            <a:avLst/>
          </a:prstGeom>
          <a:noFill/>
          <a:ln/>
        </p:spPr>
        <p:txBody>
          <a:bodyPr wrap="square" lIns="0" tIns="0" rIns="0" bIns="0" rtlCol="0" anchor="t"/>
          <a:lstStyle/>
          <a:p>
            <a:pPr marL="0" indent="0">
              <a:buNone/>
            </a:pPr>
            <a:r>
              <a:rPr lang="en-US" sz="2600" dirty="0">
                <a:solidFill>
                  <a:srgbClr val="251833"/>
                </a:solidFill>
                <a:latin typeface="Segoe UI Semibold" pitchFamily="34" charset="0"/>
                <a:ea typeface="Segoe UI Semibold" pitchFamily="34" charset="-122"/>
                <a:cs typeface="Segoe UI Semibold" pitchFamily="34" charset="-120"/>
              </a:rPr>
              <a:t>Where should we invest next?</a:t>
            </a:r>
            <a:endParaRPr lang="en-US" sz="2600" dirty="0"/>
          </a:p>
        </p:txBody>
      </p:sp>
      <p:sp>
        <p:nvSpPr>
          <p:cNvPr id="26" name="Text 22"/>
          <p:cNvSpPr/>
          <p:nvPr/>
        </p:nvSpPr>
        <p:spPr>
          <a:xfrm>
            <a:off x="12536424" y="4526280"/>
            <a:ext cx="4773168" cy="1417320"/>
          </a:xfrm>
          <a:prstGeom prst="rect">
            <a:avLst/>
          </a:prstGeom>
          <a:noFill/>
          <a:ln/>
        </p:spPr>
        <p:txBody>
          <a:bodyPr wrap="square" lIns="0" tIns="0" rIns="0" bIns="0" rtlCol="0" anchor="t"/>
          <a:lstStyle/>
          <a:p>
            <a:pPr marL="0" indent="0">
              <a:buNone/>
            </a:pPr>
            <a:r>
              <a:rPr lang="en-US" sz="1900" dirty="0">
                <a:solidFill>
                  <a:srgbClr val="637087"/>
                </a:solidFill>
                <a:latin typeface="Segoe UI" pitchFamily="34" charset="0"/>
                <a:ea typeface="Segoe UI" pitchFamily="34" charset="-122"/>
                <a:cs typeface="Segoe UI" pitchFamily="34" charset="-120"/>
              </a:rPr>
              <a:t>Which agents to grow or review, and where a licensing conversation is worth having.</a:t>
            </a:r>
            <a:endParaRPr lang="en-US" sz="1900" dirty="0"/>
          </a:p>
        </p:txBody>
      </p:sp>
      <p:sp>
        <p:nvSpPr>
          <p:cNvPr id="27" name="Shape 23"/>
          <p:cNvSpPr/>
          <p:nvPr/>
        </p:nvSpPr>
        <p:spPr>
          <a:xfrm>
            <a:off x="12536424" y="6172200"/>
            <a:ext cx="4773168" cy="18288"/>
          </a:xfrm>
          <a:prstGeom prst="rect">
            <a:avLst/>
          </a:prstGeom>
          <a:solidFill>
            <a:srgbClr val="E2DDEB"/>
          </a:solidFill>
          <a:ln/>
        </p:spPr>
        <p:txBody>
          <a:bodyPr/>
          <a:lstStyle/>
          <a:p>
            <a:endParaRPr lang="en-US"/>
          </a:p>
        </p:txBody>
      </p:sp>
      <p:sp>
        <p:nvSpPr>
          <p:cNvPr id="28" name="Text 24"/>
          <p:cNvSpPr/>
          <p:nvPr/>
        </p:nvSpPr>
        <p:spPr>
          <a:xfrm>
            <a:off x="12536424" y="6355080"/>
            <a:ext cx="4773168" cy="320040"/>
          </a:xfrm>
          <a:prstGeom prst="rect">
            <a:avLst/>
          </a:prstGeom>
          <a:noFill/>
          <a:ln/>
        </p:spPr>
        <p:txBody>
          <a:bodyPr wrap="square" lIns="0" tIns="0" rIns="0" bIns="0" rtlCol="0" anchor="ctr"/>
          <a:lstStyle/>
          <a:p>
            <a:pPr marL="0" indent="0">
              <a:buNone/>
            </a:pPr>
            <a:r>
              <a:rPr lang="en-US" sz="1200" kern="0" spc="150" dirty="0">
                <a:solidFill>
                  <a:srgbClr val="BF5B25"/>
                </a:solidFill>
                <a:latin typeface="Segoe UI Semibold" pitchFamily="34" charset="0"/>
                <a:ea typeface="Segoe UI Semibold" pitchFamily="34" charset="-122"/>
                <a:cs typeface="Segoe UI Semibold" pitchFamily="34" charset="-120"/>
              </a:rPr>
              <a:t>WHERE TO LOOK</a:t>
            </a:r>
            <a:endParaRPr lang="en-US" sz="1200" dirty="0"/>
          </a:p>
        </p:txBody>
      </p:sp>
      <p:sp>
        <p:nvSpPr>
          <p:cNvPr id="29" name="Text 25"/>
          <p:cNvSpPr/>
          <p:nvPr/>
        </p:nvSpPr>
        <p:spPr>
          <a:xfrm>
            <a:off x="12536424" y="6748272"/>
            <a:ext cx="4773168" cy="1463040"/>
          </a:xfrm>
          <a:prstGeom prst="rect">
            <a:avLst/>
          </a:prstGeom>
          <a:noFill/>
          <a:ln/>
        </p:spPr>
        <p:txBody>
          <a:bodyPr wrap="square" lIns="0" tIns="0" rIns="0" bIns="0" rtlCol="0" anchor="t"/>
          <a:lstStyle/>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Agents pages</a:t>
            </a:r>
            <a:endParaRPr lang="en-US" sz="1800" dirty="0"/>
          </a:p>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Agent Details</a:t>
            </a:r>
            <a:endParaRPr lang="en-US" sz="1800" dirty="0"/>
          </a:p>
          <a:p>
            <a:pPr marL="0" indent="0">
              <a:spcAft>
                <a:spcPts val="400"/>
              </a:spcAft>
              <a:buNone/>
            </a:pPr>
            <a:r>
              <a:rPr lang="en-US" sz="1800" dirty="0">
                <a:solidFill>
                  <a:srgbClr val="26354A"/>
                </a:solidFill>
                <a:latin typeface="Segoe UI" pitchFamily="34" charset="0"/>
                <a:ea typeface="Segoe UI" pitchFamily="34" charset="-122"/>
                <a:cs typeface="Segoe UI" pitchFamily="34" charset="-120"/>
              </a:rPr>
              <a:t>License Prioritization</a:t>
            </a:r>
            <a:endParaRPr lang="en-US" sz="1800" dirty="0"/>
          </a:p>
        </p:txBody>
      </p:sp>
      <p:sp>
        <p:nvSpPr>
          <p:cNvPr id="30" name="Shape 26"/>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31" name="Text 27"/>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2" name="Text 28"/>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Today we'll see who is using Copilot, whether it's becoming part of how we work, and where to focus next.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03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HOW TO PRESENT 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Set the scene in five steps</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A simple path through the report that works for any team or audience.</a:t>
            </a:r>
            <a:endParaRPr lang="en-US" sz="2000" dirty="0"/>
          </a:p>
        </p:txBody>
      </p:sp>
      <p:sp>
        <p:nvSpPr>
          <p:cNvPr id="9" name="Shape 5"/>
          <p:cNvSpPr/>
          <p:nvPr/>
        </p:nvSpPr>
        <p:spPr>
          <a:xfrm>
            <a:off x="612648" y="2331720"/>
            <a:ext cx="3200400" cy="3886200"/>
          </a:xfrm>
          <a:prstGeom prst="roundRect">
            <a:avLst>
              <a:gd name="adj" fmla="val 2857"/>
            </a:avLst>
          </a:prstGeom>
          <a:solidFill>
            <a:srgbClr val="FFFFFF"/>
          </a:solidFill>
          <a:ln w="12700">
            <a:solidFill>
              <a:srgbClr val="E2DDEB"/>
            </a:solidFill>
            <a:prstDash val="solid"/>
          </a:ln>
        </p:spPr>
        <p:txBody>
          <a:bodyPr/>
          <a:lstStyle/>
          <a:p>
            <a:endParaRPr lang="en-US"/>
          </a:p>
        </p:txBody>
      </p:sp>
      <p:sp>
        <p:nvSpPr>
          <p:cNvPr id="10" name="Shape 6"/>
          <p:cNvSpPr/>
          <p:nvPr/>
        </p:nvSpPr>
        <p:spPr>
          <a:xfrm>
            <a:off x="886968" y="2606040"/>
            <a:ext cx="502920" cy="502920"/>
          </a:xfrm>
          <a:prstGeom prst="ellipse">
            <a:avLst/>
          </a:prstGeom>
          <a:solidFill>
            <a:srgbClr val="7953B8"/>
          </a:solidFill>
          <a:ln w="25400">
            <a:solidFill>
              <a:srgbClr val="FFFFFF"/>
            </a:solidFill>
            <a:prstDash val="solid"/>
          </a:ln>
        </p:spPr>
        <p:txBody>
          <a:bodyPr/>
          <a:lstStyle/>
          <a:p>
            <a:endParaRPr lang="en-US"/>
          </a:p>
        </p:txBody>
      </p:sp>
      <p:sp>
        <p:nvSpPr>
          <p:cNvPr id="11" name="Text 7"/>
          <p:cNvSpPr/>
          <p:nvPr/>
        </p:nvSpPr>
        <p:spPr>
          <a:xfrm>
            <a:off x="886968" y="261518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2" name="Text 8"/>
          <p:cNvSpPr/>
          <p:nvPr/>
        </p:nvSpPr>
        <p:spPr>
          <a:xfrm>
            <a:off x="886968" y="3291840"/>
            <a:ext cx="2651760" cy="777240"/>
          </a:xfrm>
          <a:prstGeom prst="rect">
            <a:avLst/>
          </a:prstGeom>
          <a:noFill/>
          <a:ln/>
        </p:spPr>
        <p:txBody>
          <a:bodyPr wrap="square" lIns="0" tIns="0" rIns="0" bIns="0" rtlCol="0" anchor="t"/>
          <a:lstStyle/>
          <a:p>
            <a:pPr marL="0" indent="0">
              <a:buNone/>
            </a:pPr>
            <a:r>
              <a:rPr lang="en-US" sz="2000" dirty="0">
                <a:solidFill>
                  <a:srgbClr val="251833"/>
                </a:solidFill>
                <a:latin typeface="Segoe UI Semibold" pitchFamily="34" charset="0"/>
                <a:ea typeface="Segoe UI Semibold" pitchFamily="34" charset="-122"/>
                <a:cs typeface="Segoe UI Semibold" pitchFamily="34" charset="-120"/>
              </a:rPr>
              <a:t>Choose the people</a:t>
            </a:r>
            <a:endParaRPr lang="en-US" sz="2000" dirty="0"/>
          </a:p>
        </p:txBody>
      </p:sp>
      <p:sp>
        <p:nvSpPr>
          <p:cNvPr id="13" name="Text 9"/>
          <p:cNvSpPr/>
          <p:nvPr/>
        </p:nvSpPr>
        <p:spPr>
          <a:xfrm>
            <a:off x="886968" y="4069080"/>
            <a:ext cx="2651760" cy="1554480"/>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Open Org filters. Choose your team; Include system agents defaults to No.</a:t>
            </a:r>
            <a:endParaRPr lang="en-US" sz="1450" dirty="0"/>
          </a:p>
        </p:txBody>
      </p:sp>
      <p:sp>
        <p:nvSpPr>
          <p:cNvPr id="14" name="Text 10"/>
          <p:cNvSpPr/>
          <p:nvPr/>
        </p:nvSpPr>
        <p:spPr>
          <a:xfrm>
            <a:off x="886968" y="5715000"/>
            <a:ext cx="2651760" cy="347472"/>
          </a:xfrm>
          <a:prstGeom prst="rect">
            <a:avLst/>
          </a:prstGeom>
          <a:noFill/>
          <a:ln/>
        </p:spPr>
        <p:txBody>
          <a:bodyPr wrap="square" lIns="0" tIns="0" rIns="0" bIns="0" rtlCol="0" anchor="ctr"/>
          <a:lstStyle/>
          <a:p>
            <a:pPr marL="0" indent="0">
              <a:buNone/>
            </a:pPr>
            <a:r>
              <a:rPr lang="en-US" sz="1300" dirty="0">
                <a:solidFill>
                  <a:srgbClr val="7953B8"/>
                </a:solidFill>
                <a:latin typeface="Segoe UI Semibold" pitchFamily="34" charset="0"/>
                <a:ea typeface="Segoe UI Semibold" pitchFamily="34" charset="-122"/>
                <a:cs typeface="Segoe UI Semibold" pitchFamily="34" charset="-120"/>
              </a:rPr>
              <a:t>Org filters</a:t>
            </a:r>
            <a:endParaRPr lang="en-US" sz="1300" dirty="0"/>
          </a:p>
        </p:txBody>
      </p:sp>
      <p:sp>
        <p:nvSpPr>
          <p:cNvPr id="15" name="Shape 11"/>
          <p:cNvSpPr/>
          <p:nvPr/>
        </p:nvSpPr>
        <p:spPr>
          <a:xfrm>
            <a:off x="4080053" y="2331720"/>
            <a:ext cx="3200400" cy="3886200"/>
          </a:xfrm>
          <a:prstGeom prst="roundRect">
            <a:avLst>
              <a:gd name="adj" fmla="val 2857"/>
            </a:avLst>
          </a:prstGeom>
          <a:solidFill>
            <a:srgbClr val="FFFFFF"/>
          </a:solidFill>
          <a:ln w="12700">
            <a:solidFill>
              <a:srgbClr val="E2DDEB"/>
            </a:solidFill>
            <a:prstDash val="solid"/>
          </a:ln>
        </p:spPr>
        <p:txBody>
          <a:bodyPr/>
          <a:lstStyle/>
          <a:p>
            <a:endParaRPr lang="en-US"/>
          </a:p>
        </p:txBody>
      </p:sp>
      <p:sp>
        <p:nvSpPr>
          <p:cNvPr id="16" name="Shape 12"/>
          <p:cNvSpPr/>
          <p:nvPr/>
        </p:nvSpPr>
        <p:spPr>
          <a:xfrm>
            <a:off x="4354373" y="2606040"/>
            <a:ext cx="502920" cy="502920"/>
          </a:xfrm>
          <a:prstGeom prst="ellipse">
            <a:avLst/>
          </a:prstGeom>
          <a:solidFill>
            <a:srgbClr val="008774"/>
          </a:solidFill>
          <a:ln w="25400">
            <a:solidFill>
              <a:srgbClr val="FFFFFF"/>
            </a:solidFill>
            <a:prstDash val="solid"/>
          </a:ln>
        </p:spPr>
        <p:txBody>
          <a:bodyPr/>
          <a:lstStyle/>
          <a:p>
            <a:endParaRPr lang="en-US"/>
          </a:p>
        </p:txBody>
      </p:sp>
      <p:sp>
        <p:nvSpPr>
          <p:cNvPr id="17" name="Text 13"/>
          <p:cNvSpPr/>
          <p:nvPr/>
        </p:nvSpPr>
        <p:spPr>
          <a:xfrm>
            <a:off x="4354373" y="261518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8" name="Text 14"/>
          <p:cNvSpPr/>
          <p:nvPr/>
        </p:nvSpPr>
        <p:spPr>
          <a:xfrm>
            <a:off x="4354373" y="3291840"/>
            <a:ext cx="2651760" cy="777240"/>
          </a:xfrm>
          <a:prstGeom prst="rect">
            <a:avLst/>
          </a:prstGeom>
          <a:noFill/>
          <a:ln/>
        </p:spPr>
        <p:txBody>
          <a:bodyPr wrap="square" lIns="0" tIns="0" rIns="0" bIns="0" rtlCol="0" anchor="t"/>
          <a:lstStyle/>
          <a:p>
            <a:pPr marL="0" indent="0">
              <a:buNone/>
            </a:pPr>
            <a:r>
              <a:rPr lang="en-US" sz="2000" dirty="0">
                <a:solidFill>
                  <a:srgbClr val="251833"/>
                </a:solidFill>
                <a:latin typeface="Segoe UI Semibold" pitchFamily="34" charset="0"/>
                <a:ea typeface="Segoe UI Semibold" pitchFamily="34" charset="-122"/>
                <a:cs typeface="Segoe UI Semibold" pitchFamily="34" charset="-120"/>
              </a:rPr>
              <a:t>Choose the dates</a:t>
            </a:r>
            <a:endParaRPr lang="en-US" sz="2000" dirty="0"/>
          </a:p>
        </p:txBody>
      </p:sp>
      <p:sp>
        <p:nvSpPr>
          <p:cNvPr id="19" name="Text 15"/>
          <p:cNvSpPr/>
          <p:nvPr/>
        </p:nvSpPr>
        <p:spPr>
          <a:xfrm>
            <a:off x="4354373" y="4069080"/>
            <a:ext cx="2651760" cy="1554480"/>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Use the date slider. End on a full month so the habit pages describe a complete month.</a:t>
            </a:r>
            <a:endParaRPr lang="en-US" sz="1450" dirty="0"/>
          </a:p>
        </p:txBody>
      </p:sp>
      <p:sp>
        <p:nvSpPr>
          <p:cNvPr id="20" name="Text 16"/>
          <p:cNvSpPr/>
          <p:nvPr/>
        </p:nvSpPr>
        <p:spPr>
          <a:xfrm>
            <a:off x="4354373" y="5715000"/>
            <a:ext cx="2651760" cy="347472"/>
          </a:xfrm>
          <a:prstGeom prst="rect">
            <a:avLst/>
          </a:prstGeom>
          <a:noFill/>
          <a:ln/>
        </p:spPr>
        <p:txBody>
          <a:bodyPr wrap="square" lIns="0" tIns="0" rIns="0" bIns="0" rtlCol="0" anchor="ctr"/>
          <a:lstStyle/>
          <a:p>
            <a:pPr marL="0" indent="0">
              <a:buNone/>
            </a:pPr>
            <a:r>
              <a:rPr lang="en-US" sz="1300" dirty="0">
                <a:solidFill>
                  <a:srgbClr val="008774"/>
                </a:solidFill>
                <a:latin typeface="Segoe UI Semibold" pitchFamily="34" charset="0"/>
                <a:ea typeface="Segoe UI Semibold" pitchFamily="34" charset="-122"/>
                <a:cs typeface="Segoe UI Semibold" pitchFamily="34" charset="-120"/>
              </a:rPr>
              <a:t>Date slider</a:t>
            </a:r>
            <a:endParaRPr lang="en-US" sz="1300" dirty="0"/>
          </a:p>
        </p:txBody>
      </p:sp>
      <p:sp>
        <p:nvSpPr>
          <p:cNvPr id="21" name="Shape 17"/>
          <p:cNvSpPr/>
          <p:nvPr/>
        </p:nvSpPr>
        <p:spPr>
          <a:xfrm>
            <a:off x="7547458" y="2331720"/>
            <a:ext cx="3200400" cy="3886200"/>
          </a:xfrm>
          <a:prstGeom prst="roundRect">
            <a:avLst>
              <a:gd name="adj" fmla="val 2857"/>
            </a:avLst>
          </a:prstGeom>
          <a:solidFill>
            <a:srgbClr val="FFFFFF"/>
          </a:solidFill>
          <a:ln w="12700">
            <a:solidFill>
              <a:srgbClr val="E2DDEB"/>
            </a:solidFill>
            <a:prstDash val="solid"/>
          </a:ln>
        </p:spPr>
        <p:txBody>
          <a:bodyPr/>
          <a:lstStyle/>
          <a:p>
            <a:endParaRPr lang="en-US"/>
          </a:p>
        </p:txBody>
      </p:sp>
      <p:sp>
        <p:nvSpPr>
          <p:cNvPr id="22" name="Shape 18"/>
          <p:cNvSpPr/>
          <p:nvPr/>
        </p:nvSpPr>
        <p:spPr>
          <a:xfrm>
            <a:off x="7821778" y="2606040"/>
            <a:ext cx="502920" cy="502920"/>
          </a:xfrm>
          <a:prstGeom prst="ellipse">
            <a:avLst/>
          </a:prstGeom>
          <a:solidFill>
            <a:srgbClr val="BF5B25"/>
          </a:solidFill>
          <a:ln w="25400">
            <a:solidFill>
              <a:srgbClr val="FFFFFF"/>
            </a:solidFill>
            <a:prstDash val="solid"/>
          </a:ln>
        </p:spPr>
        <p:txBody>
          <a:bodyPr/>
          <a:lstStyle/>
          <a:p>
            <a:endParaRPr lang="en-US"/>
          </a:p>
        </p:txBody>
      </p:sp>
      <p:sp>
        <p:nvSpPr>
          <p:cNvPr id="23" name="Text 19"/>
          <p:cNvSpPr/>
          <p:nvPr/>
        </p:nvSpPr>
        <p:spPr>
          <a:xfrm>
            <a:off x="7821778" y="261518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4" name="Text 20"/>
          <p:cNvSpPr/>
          <p:nvPr/>
        </p:nvSpPr>
        <p:spPr>
          <a:xfrm>
            <a:off x="7821778" y="3291840"/>
            <a:ext cx="2651760" cy="777240"/>
          </a:xfrm>
          <a:prstGeom prst="rect">
            <a:avLst/>
          </a:prstGeom>
          <a:noFill/>
          <a:ln/>
        </p:spPr>
        <p:txBody>
          <a:bodyPr wrap="square" lIns="0" tIns="0" rIns="0" bIns="0" rtlCol="0" anchor="t"/>
          <a:lstStyle/>
          <a:p>
            <a:pPr marL="0" indent="0">
              <a:buNone/>
            </a:pPr>
            <a:r>
              <a:rPr lang="en-US" sz="2000" dirty="0">
                <a:solidFill>
                  <a:srgbClr val="251833"/>
                </a:solidFill>
                <a:latin typeface="Segoe UI Semibold" pitchFamily="34" charset="0"/>
                <a:ea typeface="Segoe UI Semibold" pitchFamily="34" charset="-122"/>
                <a:cs typeface="Segoe UI Semibold" pitchFamily="34" charset="-120"/>
              </a:rPr>
              <a:t>See the whole picture</a:t>
            </a:r>
            <a:endParaRPr lang="en-US" sz="2000" dirty="0"/>
          </a:p>
        </p:txBody>
      </p:sp>
      <p:sp>
        <p:nvSpPr>
          <p:cNvPr id="25" name="Text 21"/>
          <p:cNvSpPr/>
          <p:nvPr/>
        </p:nvSpPr>
        <p:spPr>
          <a:xfrm>
            <a:off x="7821778" y="4069080"/>
            <a:ext cx="2651760" cy="1554480"/>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Read the six headline numbers, the daily trend and which experiences people use.</a:t>
            </a:r>
            <a:endParaRPr lang="en-US" sz="1450" dirty="0"/>
          </a:p>
        </p:txBody>
      </p:sp>
      <p:sp>
        <p:nvSpPr>
          <p:cNvPr id="26" name="Text 22"/>
          <p:cNvSpPr/>
          <p:nvPr/>
        </p:nvSpPr>
        <p:spPr>
          <a:xfrm>
            <a:off x="7821778" y="5715000"/>
            <a:ext cx="2651760" cy="347472"/>
          </a:xfrm>
          <a:prstGeom prst="rect">
            <a:avLst/>
          </a:prstGeom>
          <a:noFill/>
          <a:ln/>
        </p:spPr>
        <p:txBody>
          <a:bodyPr wrap="square" lIns="0" tIns="0" rIns="0" bIns="0" rtlCol="0" anchor="ctr"/>
          <a:lstStyle/>
          <a:p>
            <a:pPr marL="0" indent="0">
              <a:buNone/>
            </a:pPr>
            <a:r>
              <a:rPr lang="en-US" sz="1300" dirty="0">
                <a:solidFill>
                  <a:srgbClr val="BF5B25"/>
                </a:solidFill>
                <a:latin typeface="Segoe UI Semibold" pitchFamily="34" charset="0"/>
                <a:ea typeface="Segoe UI Semibold" pitchFamily="34" charset="-122"/>
                <a:cs typeface="Segoe UI Semibold" pitchFamily="34" charset="-120"/>
              </a:rPr>
              <a:t>Copilot Usage Explorer</a:t>
            </a:r>
            <a:endParaRPr lang="en-US" sz="1300" dirty="0"/>
          </a:p>
        </p:txBody>
      </p:sp>
      <p:sp>
        <p:nvSpPr>
          <p:cNvPr id="27" name="Shape 23"/>
          <p:cNvSpPr/>
          <p:nvPr/>
        </p:nvSpPr>
        <p:spPr>
          <a:xfrm>
            <a:off x="11014862" y="2331720"/>
            <a:ext cx="3200400" cy="3886200"/>
          </a:xfrm>
          <a:prstGeom prst="roundRect">
            <a:avLst>
              <a:gd name="adj" fmla="val 2857"/>
            </a:avLst>
          </a:prstGeom>
          <a:solidFill>
            <a:srgbClr val="FFFFFF"/>
          </a:solidFill>
          <a:ln w="12700">
            <a:solidFill>
              <a:srgbClr val="E2DDEB"/>
            </a:solidFill>
            <a:prstDash val="solid"/>
          </a:ln>
        </p:spPr>
        <p:txBody>
          <a:bodyPr/>
          <a:lstStyle/>
          <a:p>
            <a:endParaRPr lang="en-US"/>
          </a:p>
        </p:txBody>
      </p:sp>
      <p:sp>
        <p:nvSpPr>
          <p:cNvPr id="28" name="Shape 24"/>
          <p:cNvSpPr/>
          <p:nvPr/>
        </p:nvSpPr>
        <p:spPr>
          <a:xfrm>
            <a:off x="11289182" y="2606040"/>
            <a:ext cx="502920" cy="502920"/>
          </a:xfrm>
          <a:prstGeom prst="ellipse">
            <a:avLst/>
          </a:prstGeom>
          <a:solidFill>
            <a:srgbClr val="4268B2"/>
          </a:solidFill>
          <a:ln w="25400">
            <a:solidFill>
              <a:srgbClr val="FFFFFF"/>
            </a:solidFill>
            <a:prstDash val="solid"/>
          </a:ln>
        </p:spPr>
        <p:txBody>
          <a:bodyPr/>
          <a:lstStyle/>
          <a:p>
            <a:endParaRPr lang="en-US"/>
          </a:p>
        </p:txBody>
      </p:sp>
      <p:sp>
        <p:nvSpPr>
          <p:cNvPr id="29" name="Text 25"/>
          <p:cNvSpPr/>
          <p:nvPr/>
        </p:nvSpPr>
        <p:spPr>
          <a:xfrm>
            <a:off x="11289182" y="261518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30" name="Text 26"/>
          <p:cNvSpPr/>
          <p:nvPr/>
        </p:nvSpPr>
        <p:spPr>
          <a:xfrm>
            <a:off x="11289182" y="3291840"/>
            <a:ext cx="2651760" cy="777240"/>
          </a:xfrm>
          <a:prstGeom prst="rect">
            <a:avLst/>
          </a:prstGeom>
          <a:noFill/>
          <a:ln/>
        </p:spPr>
        <p:txBody>
          <a:bodyPr wrap="square" lIns="0" tIns="0" rIns="0" bIns="0" rtlCol="0" anchor="t"/>
          <a:lstStyle/>
          <a:p>
            <a:pPr marL="0" indent="0">
              <a:buNone/>
            </a:pPr>
            <a:r>
              <a:rPr lang="en-US" sz="2000" dirty="0">
                <a:solidFill>
                  <a:srgbClr val="251833"/>
                </a:solidFill>
                <a:latin typeface="Segoe UI Semibold" pitchFamily="34" charset="0"/>
                <a:ea typeface="Segoe UI Semibold" pitchFamily="34" charset="-122"/>
                <a:cs typeface="Segoe UI Semibold" pitchFamily="34" charset="-120"/>
              </a:rPr>
              <a:t>Look closer</a:t>
            </a:r>
            <a:endParaRPr lang="en-US" sz="2000" dirty="0"/>
          </a:p>
        </p:txBody>
      </p:sp>
      <p:sp>
        <p:nvSpPr>
          <p:cNvPr id="31" name="Text 27"/>
          <p:cNvSpPr/>
          <p:nvPr/>
        </p:nvSpPr>
        <p:spPr>
          <a:xfrm>
            <a:off x="11289182" y="4069080"/>
            <a:ext cx="2651760" cy="1554480"/>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Compare experiences, read habits, then look at agents and departments.</a:t>
            </a:r>
            <a:endParaRPr lang="en-US" sz="1450" dirty="0"/>
          </a:p>
        </p:txBody>
      </p:sp>
      <p:sp>
        <p:nvSpPr>
          <p:cNvPr id="32" name="Text 28"/>
          <p:cNvSpPr/>
          <p:nvPr/>
        </p:nvSpPr>
        <p:spPr>
          <a:xfrm>
            <a:off x="11289182" y="5715000"/>
            <a:ext cx="2651760" cy="347472"/>
          </a:xfrm>
          <a:prstGeom prst="rect">
            <a:avLst/>
          </a:prstGeom>
          <a:noFill/>
          <a:ln/>
        </p:spPr>
        <p:txBody>
          <a:bodyPr wrap="square" lIns="0" tIns="0" rIns="0" bIns="0" rtlCol="0" anchor="ctr"/>
          <a:lstStyle/>
          <a:p>
            <a:pPr marL="0" indent="0">
              <a:buNone/>
            </a:pPr>
            <a:r>
              <a:rPr lang="en-US" sz="1300" dirty="0">
                <a:solidFill>
                  <a:srgbClr val="4268B2"/>
                </a:solidFill>
                <a:latin typeface="Segoe UI Semibold" pitchFamily="34" charset="0"/>
                <a:ea typeface="Segoe UI Semibold" pitchFamily="34" charset="-122"/>
                <a:cs typeface="Segoe UI Semibold" pitchFamily="34" charset="-120"/>
              </a:rPr>
              <a:t>Overall, habit and agent pages</a:t>
            </a:r>
            <a:endParaRPr lang="en-US" sz="1300" dirty="0"/>
          </a:p>
        </p:txBody>
      </p:sp>
      <p:sp>
        <p:nvSpPr>
          <p:cNvPr id="33" name="Shape 29"/>
          <p:cNvSpPr/>
          <p:nvPr/>
        </p:nvSpPr>
        <p:spPr>
          <a:xfrm>
            <a:off x="14482267" y="2331720"/>
            <a:ext cx="3200400" cy="3886200"/>
          </a:xfrm>
          <a:prstGeom prst="roundRect">
            <a:avLst>
              <a:gd name="adj" fmla="val 2857"/>
            </a:avLst>
          </a:prstGeom>
          <a:solidFill>
            <a:srgbClr val="FFFFFF"/>
          </a:solidFill>
          <a:ln w="12700">
            <a:solidFill>
              <a:srgbClr val="E2DDEB"/>
            </a:solidFill>
            <a:prstDash val="solid"/>
          </a:ln>
        </p:spPr>
        <p:txBody>
          <a:bodyPr/>
          <a:lstStyle/>
          <a:p>
            <a:endParaRPr lang="en-US"/>
          </a:p>
        </p:txBody>
      </p:sp>
      <p:sp>
        <p:nvSpPr>
          <p:cNvPr id="34" name="Shape 30"/>
          <p:cNvSpPr/>
          <p:nvPr/>
        </p:nvSpPr>
        <p:spPr>
          <a:xfrm>
            <a:off x="14756587" y="2606040"/>
            <a:ext cx="502920" cy="502920"/>
          </a:xfrm>
          <a:prstGeom prst="ellipse">
            <a:avLst/>
          </a:prstGeom>
          <a:solidFill>
            <a:srgbClr val="7953B8"/>
          </a:solidFill>
          <a:ln w="25400">
            <a:solidFill>
              <a:srgbClr val="FFFFFF"/>
            </a:solidFill>
            <a:prstDash val="solid"/>
          </a:ln>
        </p:spPr>
        <p:txBody>
          <a:bodyPr/>
          <a:lstStyle/>
          <a:p>
            <a:endParaRPr lang="en-US"/>
          </a:p>
        </p:txBody>
      </p:sp>
      <p:sp>
        <p:nvSpPr>
          <p:cNvPr id="35" name="Text 31"/>
          <p:cNvSpPr/>
          <p:nvPr/>
        </p:nvSpPr>
        <p:spPr>
          <a:xfrm>
            <a:off x="14756587" y="2615184"/>
            <a:ext cx="50292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5</a:t>
            </a:r>
            <a:endParaRPr lang="en-US" sz="1800" dirty="0"/>
          </a:p>
        </p:txBody>
      </p:sp>
      <p:sp>
        <p:nvSpPr>
          <p:cNvPr id="36" name="Text 32"/>
          <p:cNvSpPr/>
          <p:nvPr/>
        </p:nvSpPr>
        <p:spPr>
          <a:xfrm>
            <a:off x="14756587" y="3291840"/>
            <a:ext cx="2651760" cy="777240"/>
          </a:xfrm>
          <a:prstGeom prst="rect">
            <a:avLst/>
          </a:prstGeom>
          <a:noFill/>
          <a:ln/>
        </p:spPr>
        <p:txBody>
          <a:bodyPr wrap="square" lIns="0" tIns="0" rIns="0" bIns="0" rtlCol="0" anchor="t"/>
          <a:lstStyle/>
          <a:p>
            <a:pPr marL="0" indent="0">
              <a:buNone/>
            </a:pPr>
            <a:r>
              <a:rPr lang="en-US" sz="2000" dirty="0">
                <a:solidFill>
                  <a:srgbClr val="251833"/>
                </a:solidFill>
                <a:latin typeface="Segoe UI Semibold" pitchFamily="34" charset="0"/>
                <a:ea typeface="Segoe UI Semibold" pitchFamily="34" charset="-122"/>
                <a:cs typeface="Segoe UI Semibold" pitchFamily="34" charset="-120"/>
              </a:rPr>
              <a:t>Agree a next step</a:t>
            </a:r>
            <a:endParaRPr lang="en-US" sz="2000" dirty="0"/>
          </a:p>
        </p:txBody>
      </p:sp>
      <p:sp>
        <p:nvSpPr>
          <p:cNvPr id="37" name="Text 33"/>
          <p:cNvSpPr/>
          <p:nvPr/>
        </p:nvSpPr>
        <p:spPr>
          <a:xfrm>
            <a:off x="14756587" y="4069080"/>
            <a:ext cx="2651760" cy="1554480"/>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Pick one change to try, such as training, sharing an agent or reviewing licenses.</a:t>
            </a:r>
            <a:endParaRPr lang="en-US" sz="1450" dirty="0"/>
          </a:p>
        </p:txBody>
      </p:sp>
      <p:sp>
        <p:nvSpPr>
          <p:cNvPr id="38" name="Text 34"/>
          <p:cNvSpPr/>
          <p:nvPr/>
        </p:nvSpPr>
        <p:spPr>
          <a:xfrm>
            <a:off x="14756587" y="5715000"/>
            <a:ext cx="2651760" cy="347472"/>
          </a:xfrm>
          <a:prstGeom prst="rect">
            <a:avLst/>
          </a:prstGeom>
          <a:noFill/>
          <a:ln/>
        </p:spPr>
        <p:txBody>
          <a:bodyPr wrap="square" lIns="0" tIns="0" rIns="0" bIns="0" rtlCol="0" anchor="ctr"/>
          <a:lstStyle/>
          <a:p>
            <a:pPr marL="0" indent="0">
              <a:buNone/>
            </a:pPr>
            <a:r>
              <a:rPr lang="en-US" sz="1300" dirty="0">
                <a:solidFill>
                  <a:srgbClr val="7953B8"/>
                </a:solidFill>
                <a:latin typeface="Segoe UI Semibold" pitchFamily="34" charset="0"/>
                <a:ea typeface="Segoe UI Semibold" pitchFamily="34" charset="-122"/>
                <a:cs typeface="Segoe UI Semibold" pitchFamily="34" charset="-120"/>
              </a:rPr>
              <a:t>License Prioritization</a:t>
            </a:r>
            <a:endParaRPr lang="en-US" sz="1300" dirty="0"/>
          </a:p>
        </p:txBody>
      </p:sp>
      <p:sp>
        <p:nvSpPr>
          <p:cNvPr id="39" name="Shape 35"/>
          <p:cNvSpPr/>
          <p:nvPr/>
        </p:nvSpPr>
        <p:spPr>
          <a:xfrm>
            <a:off x="612648" y="6492240"/>
            <a:ext cx="17062704" cy="2377440"/>
          </a:xfrm>
          <a:prstGeom prst="roundRect">
            <a:avLst>
              <a:gd name="adj" fmla="val 3846"/>
            </a:avLst>
          </a:prstGeom>
          <a:solidFill>
            <a:srgbClr val="FFFFFF"/>
          </a:solidFill>
          <a:ln w="12700">
            <a:solidFill>
              <a:srgbClr val="E2DDEB"/>
            </a:solidFill>
            <a:prstDash val="solid"/>
          </a:ln>
        </p:spPr>
        <p:txBody>
          <a:bodyPr/>
          <a:lstStyle/>
          <a:p>
            <a:endParaRPr lang="en-US"/>
          </a:p>
        </p:txBody>
      </p:sp>
      <p:sp>
        <p:nvSpPr>
          <p:cNvPr id="40" name="Text 36"/>
          <p:cNvSpPr/>
          <p:nvPr/>
        </p:nvSpPr>
        <p:spPr>
          <a:xfrm>
            <a:off x="978408" y="6720840"/>
            <a:ext cx="7315200"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BEFORE YOU PRESENT</a:t>
            </a:r>
            <a:endParaRPr lang="en-US" sz="1200" dirty="0"/>
          </a:p>
        </p:txBody>
      </p:sp>
      <p:sp>
        <p:nvSpPr>
          <p:cNvPr id="41" name="Text 37"/>
          <p:cNvSpPr/>
          <p:nvPr/>
        </p:nvSpPr>
        <p:spPr>
          <a:xfrm>
            <a:off x="978408" y="7132320"/>
            <a:ext cx="5212080" cy="365760"/>
          </a:xfrm>
          <a:prstGeom prst="rect">
            <a:avLst/>
          </a:prstGeom>
          <a:noFill/>
          <a:ln/>
        </p:spPr>
        <p:txBody>
          <a:bodyPr wrap="square" lIns="0" tIns="0" rIns="0" bIns="0" rtlCol="0" anchor="ctr"/>
          <a:lstStyle/>
          <a:p>
            <a:pPr marL="0" indent="0">
              <a:buNone/>
            </a:pPr>
            <a:r>
              <a:rPr lang="en-US" sz="1700" dirty="0">
                <a:solidFill>
                  <a:srgbClr val="251833"/>
                </a:solidFill>
                <a:latin typeface="Segoe UI Semibold" pitchFamily="34" charset="0"/>
                <a:ea typeface="Segoe UI Semibold" pitchFamily="34" charset="-122"/>
                <a:cs typeface="Segoe UI Semibold" pitchFamily="34" charset="-120"/>
              </a:rPr>
              <a:t>Confirm the team size setting</a:t>
            </a:r>
            <a:endParaRPr lang="en-US" sz="1700" dirty="0"/>
          </a:p>
        </p:txBody>
      </p:sp>
      <p:sp>
        <p:nvSpPr>
          <p:cNvPr id="42" name="Text 38"/>
          <p:cNvSpPr/>
          <p:nvPr/>
        </p:nvSpPr>
        <p:spPr>
          <a:xfrm>
            <a:off x="978408" y="7543800"/>
            <a:ext cx="5212080" cy="1097280"/>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Ask the report owner which Minimum Group Size is approved. The default, 3, shows team-level results only.</a:t>
            </a:r>
            <a:endParaRPr lang="en-US" sz="1500" dirty="0"/>
          </a:p>
        </p:txBody>
      </p:sp>
      <p:sp>
        <p:nvSpPr>
          <p:cNvPr id="43" name="Text 39"/>
          <p:cNvSpPr/>
          <p:nvPr/>
        </p:nvSpPr>
        <p:spPr>
          <a:xfrm>
            <a:off x="6574536" y="7132320"/>
            <a:ext cx="5212080" cy="365760"/>
          </a:xfrm>
          <a:prstGeom prst="rect">
            <a:avLst/>
          </a:prstGeom>
          <a:noFill/>
          <a:ln/>
        </p:spPr>
        <p:txBody>
          <a:bodyPr wrap="square" lIns="0" tIns="0" rIns="0" bIns="0" rtlCol="0" anchor="ctr"/>
          <a:lstStyle/>
          <a:p>
            <a:pPr marL="0" indent="0">
              <a:buNone/>
            </a:pPr>
            <a:r>
              <a:rPr lang="en-US" sz="1700" dirty="0">
                <a:solidFill>
                  <a:srgbClr val="251833"/>
                </a:solidFill>
                <a:latin typeface="Segoe UI Semibold" pitchFamily="34" charset="0"/>
                <a:ea typeface="Segoe UI Semibold" pitchFamily="34" charset="-122"/>
                <a:cs typeface="Segoe UI Semibold" pitchFamily="34" charset="-120"/>
              </a:rPr>
              <a:t>Check who can see what</a:t>
            </a:r>
            <a:endParaRPr lang="en-US" sz="1700" dirty="0"/>
          </a:p>
        </p:txBody>
      </p:sp>
      <p:sp>
        <p:nvSpPr>
          <p:cNvPr id="44" name="Text 40"/>
          <p:cNvSpPr/>
          <p:nvPr/>
        </p:nvSpPr>
        <p:spPr>
          <a:xfrm>
            <a:off x="6574536" y="7543800"/>
            <a:ext cx="5212080" cy="1097280"/>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The report uses row-level security. Make sure your audience has the right role before you share it.</a:t>
            </a:r>
            <a:endParaRPr lang="en-US" sz="1500" dirty="0"/>
          </a:p>
        </p:txBody>
      </p:sp>
      <p:sp>
        <p:nvSpPr>
          <p:cNvPr id="45" name="Text 41"/>
          <p:cNvSpPr/>
          <p:nvPr/>
        </p:nvSpPr>
        <p:spPr>
          <a:xfrm>
            <a:off x="12170664" y="7132320"/>
            <a:ext cx="5212080" cy="365760"/>
          </a:xfrm>
          <a:prstGeom prst="rect">
            <a:avLst/>
          </a:prstGeom>
          <a:noFill/>
          <a:ln/>
        </p:spPr>
        <p:txBody>
          <a:bodyPr wrap="square" lIns="0" tIns="0" rIns="0" bIns="0" rtlCol="0" anchor="ctr"/>
          <a:lstStyle/>
          <a:p>
            <a:pPr marL="0" indent="0">
              <a:buNone/>
            </a:pPr>
            <a:r>
              <a:rPr lang="en-US" sz="1700" dirty="0">
                <a:solidFill>
                  <a:srgbClr val="251833"/>
                </a:solidFill>
                <a:latin typeface="Segoe UI Semibold" pitchFamily="34" charset="0"/>
                <a:ea typeface="Segoe UI Semibold" pitchFamily="34" charset="-122"/>
                <a:cs typeface="Segoe UI Semibold" pitchFamily="34" charset="-120"/>
              </a:rPr>
              <a:t>Know how fresh the data is</a:t>
            </a:r>
            <a:endParaRPr lang="en-US" sz="1700" dirty="0"/>
          </a:p>
        </p:txBody>
      </p:sp>
      <p:sp>
        <p:nvSpPr>
          <p:cNvPr id="46" name="Text 42"/>
          <p:cNvSpPr/>
          <p:nvPr/>
        </p:nvSpPr>
        <p:spPr>
          <a:xfrm>
            <a:off x="12170664" y="7543800"/>
            <a:ext cx="5212080" cy="1097280"/>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Look at the last activity dates on the agent and usage tables, and keep the same dates on every page.</a:t>
            </a:r>
            <a:endParaRPr lang="en-US" sz="1500" dirty="0"/>
          </a:p>
        </p:txBody>
      </p:sp>
      <p:sp>
        <p:nvSpPr>
          <p:cNvPr id="47" name="Shape 43"/>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8" name="Text 44"/>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9" name="Text 45"/>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Everything we look at today uses the same people and dates, so the pages tell one consistent story.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04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1 · WHO IS USING COPILOT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Start with one view of your team</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Copilot Usage Explorer brings people, prompts, sessions and agents together.</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Copilot Usage Explorer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4" y="3857340"/>
            <a:ext cx="9687129" cy="462820"/>
          </a:xfrm>
          <a:prstGeom prst="roundRect">
            <a:avLst>
              <a:gd name="adj" fmla="val 9879"/>
            </a:avLst>
          </a:prstGeom>
          <a:ln w="22225">
            <a:solidFill>
              <a:srgbClr val="7953B8"/>
            </a:solidFill>
            <a:prstDash val="solid"/>
          </a:ln>
        </p:spPr>
        <p:txBody>
          <a:bodyPr/>
          <a:lstStyle/>
          <a:p>
            <a:endParaRPr lang="en-US"/>
          </a:p>
        </p:txBody>
      </p:sp>
      <p:sp>
        <p:nvSpPr>
          <p:cNvPr id="12" name="Shape 7"/>
          <p:cNvSpPr/>
          <p:nvPr/>
        </p:nvSpPr>
        <p:spPr>
          <a:xfrm>
            <a:off x="767547" y="3674460"/>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3683604"/>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381869"/>
            <a:ext cx="5902086" cy="1789570"/>
          </a:xfrm>
          <a:prstGeom prst="roundRect">
            <a:avLst>
              <a:gd name="adj" fmla="val 2555"/>
            </a:avLst>
          </a:prstGeom>
          <a:ln w="22225">
            <a:solidFill>
              <a:srgbClr val="008774"/>
            </a:solidFill>
            <a:prstDash val="solid"/>
          </a:ln>
        </p:spPr>
        <p:txBody>
          <a:bodyPr/>
          <a:lstStyle/>
          <a:p>
            <a:endParaRPr lang="en-US"/>
          </a:p>
        </p:txBody>
      </p:sp>
      <p:sp>
        <p:nvSpPr>
          <p:cNvPr id="15" name="Shape 10"/>
          <p:cNvSpPr/>
          <p:nvPr/>
        </p:nvSpPr>
        <p:spPr>
          <a:xfrm>
            <a:off x="767547" y="4198989"/>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767547" y="4208133"/>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6920819" y="4381869"/>
            <a:ext cx="3735024" cy="1789570"/>
          </a:xfrm>
          <a:prstGeom prst="roundRect">
            <a:avLst>
              <a:gd name="adj" fmla="val 2555"/>
            </a:avLst>
          </a:prstGeom>
          <a:ln w="22225">
            <a:solidFill>
              <a:srgbClr val="BF5B25"/>
            </a:solidFill>
            <a:prstDash val="solid"/>
          </a:ln>
        </p:spPr>
        <p:txBody>
          <a:bodyPr/>
          <a:lstStyle/>
          <a:p>
            <a:endParaRPr lang="en-US"/>
          </a:p>
        </p:txBody>
      </p:sp>
      <p:sp>
        <p:nvSpPr>
          <p:cNvPr id="18" name="Shape 13"/>
          <p:cNvSpPr/>
          <p:nvPr/>
        </p:nvSpPr>
        <p:spPr>
          <a:xfrm>
            <a:off x="6719651" y="4198989"/>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6719651" y="4208133"/>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968715" y="6233148"/>
            <a:ext cx="5902086" cy="2036407"/>
          </a:xfrm>
          <a:prstGeom prst="roundRect">
            <a:avLst>
              <a:gd name="adj" fmla="val 2245"/>
            </a:avLst>
          </a:prstGeom>
          <a:ln w="22225">
            <a:solidFill>
              <a:srgbClr val="4268B2"/>
            </a:solidFill>
            <a:prstDash val="solid"/>
          </a:ln>
        </p:spPr>
        <p:txBody>
          <a:bodyPr/>
          <a:lstStyle/>
          <a:p>
            <a:endParaRPr lang="en-US"/>
          </a:p>
        </p:txBody>
      </p:sp>
      <p:sp>
        <p:nvSpPr>
          <p:cNvPr id="21" name="Shape 16"/>
          <p:cNvSpPr/>
          <p:nvPr/>
        </p:nvSpPr>
        <p:spPr>
          <a:xfrm>
            <a:off x="767547" y="6050268"/>
            <a:ext cx="329184" cy="329184"/>
          </a:xfrm>
          <a:prstGeom prst="ellipse">
            <a:avLst/>
          </a:prstGeom>
          <a:solidFill>
            <a:srgbClr val="4268B2"/>
          </a:solidFill>
          <a:ln w="25400">
            <a:solidFill>
              <a:srgbClr val="FFFFFF"/>
            </a:solidFill>
            <a:prstDash val="solid"/>
          </a:ln>
        </p:spPr>
        <p:txBody>
          <a:bodyPr/>
          <a:lstStyle/>
          <a:p>
            <a:endParaRPr lang="en-US"/>
          </a:p>
        </p:txBody>
      </p:sp>
      <p:sp>
        <p:nvSpPr>
          <p:cNvPr id="22" name="Text 17"/>
          <p:cNvSpPr/>
          <p:nvPr/>
        </p:nvSpPr>
        <p:spPr>
          <a:xfrm>
            <a:off x="767547" y="6059412"/>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5" name="Text 20"/>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Six headline numbers</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Active users, prompts, sessions, prompts per session, active days per user and repeat users.</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txBody>
          <a:bodyPr/>
          <a:lstStyle/>
          <a:p>
            <a:endParaRPr lang="en-US"/>
          </a:p>
        </p:txBody>
      </p:sp>
      <p:sp>
        <p:nvSpPr>
          <p:cNvPr id="30" name="Text 25"/>
          <p:cNvSpPr/>
          <p:nvPr/>
        </p:nvSpPr>
        <p:spPr>
          <a:xfrm>
            <a:off x="11567160" y="411251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The weekly rhythm</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Thin daily lines show detail. Bold 7-day trends show the pattern; matching dots mark month starts on those trends.</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txBody>
          <a:bodyPr/>
          <a:lstStyle/>
          <a:p>
            <a:endParaRPr lang="en-US"/>
          </a:p>
        </p:txBody>
      </p:sp>
      <p:sp>
        <p:nvSpPr>
          <p:cNvPr id="35" name="Text 30"/>
          <p:cNvSpPr/>
          <p:nvPr/>
        </p:nvSpPr>
        <p:spPr>
          <a:xfrm>
            <a:off x="11567160" y="5820156"/>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Where people use Copilot</a:t>
            </a:r>
            <a:endParaRPr lang="en-US" sz="1900" dirty="0"/>
          </a:p>
        </p:txBody>
      </p:sp>
      <p:sp>
        <p:nvSpPr>
          <p:cNvPr id="37" name="Text 32"/>
          <p:cNvSpPr/>
          <p:nvPr/>
        </p:nvSpPr>
        <p:spPr>
          <a:xfrm>
            <a:off x="11612880" y="6220968"/>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Switch sessions or prompts for M365 Copilot, agents, Copilot Chat, other AI, unclassified activity and Cowork.</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txBody>
          <a:bodyPr/>
          <a:lstStyle/>
          <a:p>
            <a:endParaRPr lang="en-US"/>
          </a:p>
        </p:txBody>
      </p:sp>
      <p:sp>
        <p:nvSpPr>
          <p:cNvPr id="40" name="Text 35"/>
          <p:cNvSpPr/>
          <p:nvPr/>
        </p:nvSpPr>
        <p:spPr>
          <a:xfrm>
            <a:off x="11567160" y="752779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Every agent in use</a:t>
            </a:r>
            <a:endParaRPr lang="en-US" sz="1900" dirty="0"/>
          </a:p>
        </p:txBody>
      </p:sp>
      <p:sp>
        <p:nvSpPr>
          <p:cNvPr id="42" name="Text 37"/>
          <p:cNvSpPr/>
          <p:nvPr/>
        </p:nvSpPr>
        <p:spPr>
          <a:xfrm>
            <a:off x="11612880" y="7928610"/>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Users, prompts, sessions, type and last activity. Right-click a name to open its details.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4" name="Text 39"/>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This is our team at a glance: how many people use Copilot, how much, and where.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05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1 · WHO IS USING COPILOT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Compare experiences side by side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Combined Trends shows agents, Copilot Chat and licensed Copilot over time.</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Copilot Overall: Combined Trends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1126808" y="4058984"/>
            <a:ext cx="1500188" cy="2066925"/>
          </a:xfrm>
          <a:prstGeom prst="roundRect">
            <a:avLst>
              <a:gd name="adj" fmla="val 5713"/>
            </a:avLst>
          </a:prstGeom>
          <a:ln w="22225">
            <a:solidFill>
              <a:srgbClr val="7953B8"/>
            </a:solidFill>
            <a:prstDash val="solid"/>
          </a:ln>
        </p:spPr>
        <p:txBody>
          <a:bodyPr/>
          <a:lstStyle/>
          <a:p>
            <a:endParaRPr lang="en-US"/>
          </a:p>
        </p:txBody>
      </p:sp>
      <p:sp>
        <p:nvSpPr>
          <p:cNvPr id="12" name="Shape 7"/>
          <p:cNvSpPr/>
          <p:nvPr/>
        </p:nvSpPr>
        <p:spPr>
          <a:xfrm>
            <a:off x="772192" y="3894392"/>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72192" y="3894392"/>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2677001" y="4058984"/>
            <a:ext cx="6240780" cy="2066925"/>
          </a:xfrm>
          <a:prstGeom prst="roundRect">
            <a:avLst>
              <a:gd name="adj" fmla="val 2315"/>
            </a:avLst>
          </a:prstGeom>
          <a:ln w="22225">
            <a:solidFill>
              <a:srgbClr val="008774"/>
            </a:solidFill>
            <a:prstDash val="solid"/>
          </a:ln>
        </p:spPr>
        <p:txBody>
          <a:bodyPr/>
          <a:lstStyle/>
          <a:p>
            <a:endParaRPr lang="en-US"/>
          </a:p>
        </p:txBody>
      </p:sp>
      <p:sp>
        <p:nvSpPr>
          <p:cNvPr id="15" name="Shape 10"/>
          <p:cNvSpPr/>
          <p:nvPr/>
        </p:nvSpPr>
        <p:spPr>
          <a:xfrm>
            <a:off x="2512409" y="3799904"/>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2512409" y="3799904"/>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968715" y="6171439"/>
            <a:ext cx="4001414" cy="2344954"/>
          </a:xfrm>
          <a:prstGeom prst="roundRect">
            <a:avLst>
              <a:gd name="adj" fmla="val 1950"/>
            </a:avLst>
          </a:prstGeom>
          <a:ln w="22225">
            <a:solidFill>
              <a:srgbClr val="BF5B25"/>
            </a:solidFill>
            <a:prstDash val="solid"/>
          </a:ln>
        </p:spPr>
        <p:txBody>
          <a:bodyPr/>
          <a:lstStyle/>
          <a:p>
            <a:endParaRPr lang="en-US"/>
          </a:p>
        </p:txBody>
      </p:sp>
      <p:sp>
        <p:nvSpPr>
          <p:cNvPr id="18" name="Shape 13"/>
          <p:cNvSpPr/>
          <p:nvPr/>
        </p:nvSpPr>
        <p:spPr>
          <a:xfrm>
            <a:off x="767547" y="5988559"/>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767547" y="5997703"/>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5070165" y="6171439"/>
            <a:ext cx="4051432" cy="2344954"/>
          </a:xfrm>
          <a:prstGeom prst="roundRect">
            <a:avLst>
              <a:gd name="adj" fmla="val 1950"/>
            </a:avLst>
          </a:prstGeom>
          <a:ln w="22225">
            <a:solidFill>
              <a:srgbClr val="4268B2"/>
            </a:solidFill>
            <a:prstDash val="solid"/>
          </a:ln>
        </p:spPr>
        <p:txBody>
          <a:bodyPr/>
          <a:lstStyle/>
          <a:p>
            <a:endParaRPr lang="en-US"/>
          </a:p>
        </p:txBody>
      </p:sp>
      <p:sp>
        <p:nvSpPr>
          <p:cNvPr id="21" name="Shape 16"/>
          <p:cNvSpPr/>
          <p:nvPr/>
        </p:nvSpPr>
        <p:spPr>
          <a:xfrm>
            <a:off x="4868997" y="5988559"/>
            <a:ext cx="329184" cy="329184"/>
          </a:xfrm>
          <a:prstGeom prst="ellipse">
            <a:avLst/>
          </a:prstGeom>
          <a:solidFill>
            <a:srgbClr val="4268B2"/>
          </a:solidFill>
          <a:ln w="25400">
            <a:solidFill>
              <a:srgbClr val="FFFFFF"/>
            </a:solidFill>
            <a:prstDash val="solid"/>
          </a:ln>
        </p:spPr>
        <p:txBody>
          <a:bodyPr/>
          <a:lstStyle/>
          <a:p>
            <a:endParaRPr lang="en-US"/>
          </a:p>
        </p:txBody>
      </p:sp>
      <p:sp>
        <p:nvSpPr>
          <p:cNvPr id="22" name="Text 17"/>
          <p:cNvSpPr/>
          <p:nvPr/>
        </p:nvSpPr>
        <p:spPr>
          <a:xfrm>
            <a:off x="4868997" y="5997703"/>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5" name="Text 20"/>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Who uses what</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Agent users, Unlicensed Chat Users, active and inactive licensed users, plus licensed directory headcount.</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txBody>
          <a:bodyPr/>
          <a:lstStyle/>
          <a:p>
            <a:endParaRPr lang="en-US"/>
          </a:p>
        </p:txBody>
      </p:sp>
      <p:sp>
        <p:nvSpPr>
          <p:cNvPr id="30" name="Text 25"/>
          <p:cNvSpPr/>
          <p:nvPr/>
        </p:nvSpPr>
        <p:spPr>
          <a:xfrm>
            <a:off x="11567160" y="411251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Sessions per user over time</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One line each for agents, unlicensed Copilot Chat and M365 Copilot.</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txBody>
          <a:bodyPr/>
          <a:lstStyle/>
          <a:p>
            <a:endParaRPr lang="en-US"/>
          </a:p>
        </p:txBody>
      </p:sp>
      <p:sp>
        <p:nvSpPr>
          <p:cNvPr id="35" name="Text 30"/>
          <p:cNvSpPr/>
          <p:nvPr/>
        </p:nvSpPr>
        <p:spPr>
          <a:xfrm>
            <a:off x="11567160" y="5820156"/>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Departments, not totals</a:t>
            </a:r>
            <a:endParaRPr lang="en-US" sz="1900" dirty="0"/>
          </a:p>
        </p:txBody>
      </p:sp>
      <p:sp>
        <p:nvSpPr>
          <p:cNvPr id="37" name="Text 32"/>
          <p:cNvSpPr/>
          <p:nvPr/>
        </p:nvSpPr>
        <p:spPr>
          <a:xfrm>
            <a:off x="11612880" y="6220968"/>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Separate bars for each experience. They overlap, so read them side by side.</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txBody>
          <a:bodyPr/>
          <a:lstStyle/>
          <a:p>
            <a:endParaRPr lang="en-US"/>
          </a:p>
        </p:txBody>
      </p:sp>
      <p:sp>
        <p:nvSpPr>
          <p:cNvPr id="40" name="Text 35"/>
          <p:cNvSpPr/>
          <p:nvPr/>
        </p:nvSpPr>
        <p:spPr>
          <a:xfrm>
            <a:off x="11567160" y="752779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How often and how much</a:t>
            </a:r>
            <a:endParaRPr lang="en-US" sz="1900" dirty="0"/>
          </a:p>
        </p:txBody>
      </p:sp>
      <p:sp>
        <p:nvSpPr>
          <p:cNvPr id="42" name="Text 37"/>
          <p:cNvSpPr/>
          <p:nvPr/>
        </p:nvSpPr>
        <p:spPr>
          <a:xfrm>
            <a:off x="11612880" y="7928610"/>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Departments plotted by frequency and intensity. Tabs switch between experiences.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4" name="Text 39"/>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These experiences meet different needs, and many people use more than one of them.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06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1 · WHO IS USING COPILOT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See which departments lead</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Combined Leaderboard compares licensed and unlicensed use by department.</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Copilot Overall: Combined Leaderboard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5" y="4011613"/>
            <a:ext cx="8175285" cy="524529"/>
          </a:xfrm>
          <a:prstGeom prst="roundRect">
            <a:avLst>
              <a:gd name="adj" fmla="val 8716"/>
            </a:avLst>
          </a:prstGeom>
          <a:ln w="22225">
            <a:solidFill>
              <a:srgbClr val="7953B8"/>
            </a:solidFill>
            <a:prstDash val="solid"/>
          </a:ln>
        </p:spPr>
        <p:txBody>
          <a:bodyPr/>
          <a:lstStyle/>
          <a:p>
            <a:endParaRPr lang="en-US"/>
          </a:p>
        </p:txBody>
      </p:sp>
      <p:sp>
        <p:nvSpPr>
          <p:cNvPr id="12" name="Shape 7"/>
          <p:cNvSpPr/>
          <p:nvPr/>
        </p:nvSpPr>
        <p:spPr>
          <a:xfrm>
            <a:off x="767547" y="3828733"/>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3837877"/>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659561"/>
            <a:ext cx="4001414" cy="2560936"/>
          </a:xfrm>
          <a:prstGeom prst="roundRect">
            <a:avLst>
              <a:gd name="adj" fmla="val 1785"/>
            </a:avLst>
          </a:prstGeom>
          <a:ln w="22225">
            <a:solidFill>
              <a:srgbClr val="008774"/>
            </a:solidFill>
            <a:prstDash val="solid"/>
          </a:ln>
        </p:spPr>
        <p:txBody>
          <a:bodyPr/>
          <a:lstStyle/>
          <a:p>
            <a:endParaRPr lang="en-US"/>
          </a:p>
        </p:txBody>
      </p:sp>
      <p:sp>
        <p:nvSpPr>
          <p:cNvPr id="15" name="Shape 10"/>
          <p:cNvSpPr/>
          <p:nvPr/>
        </p:nvSpPr>
        <p:spPr>
          <a:xfrm>
            <a:off x="767547" y="4476681"/>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767547" y="4485825"/>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5070165" y="4659561"/>
            <a:ext cx="4001414" cy="2560936"/>
          </a:xfrm>
          <a:prstGeom prst="roundRect">
            <a:avLst>
              <a:gd name="adj" fmla="val 1785"/>
            </a:avLst>
          </a:prstGeom>
          <a:ln w="22225">
            <a:solidFill>
              <a:srgbClr val="BF5B25"/>
            </a:solidFill>
            <a:prstDash val="solid"/>
          </a:ln>
        </p:spPr>
        <p:txBody>
          <a:bodyPr/>
          <a:lstStyle/>
          <a:p>
            <a:endParaRPr lang="en-US"/>
          </a:p>
        </p:txBody>
      </p:sp>
      <p:sp>
        <p:nvSpPr>
          <p:cNvPr id="18" name="Shape 13"/>
          <p:cNvSpPr/>
          <p:nvPr/>
        </p:nvSpPr>
        <p:spPr>
          <a:xfrm>
            <a:off x="4868997" y="4476681"/>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4868997" y="4485825"/>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1" name="Shape 16"/>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2" name="Text 17"/>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3" name="Text 18"/>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The headline comparison</a:t>
            </a:r>
            <a:endParaRPr lang="en-US" sz="1900" dirty="0"/>
          </a:p>
        </p:txBody>
      </p:sp>
      <p:sp>
        <p:nvSpPr>
          <p:cNvPr id="24" name="Text 19"/>
          <p:cNvSpPr/>
          <p:nvPr/>
        </p:nvSpPr>
        <p:spPr>
          <a:xfrm>
            <a:off x="11612880" y="2805684"/>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Group dividers and per-user labels separate the populations. Prompts share Sessions-style table colors.</a:t>
            </a:r>
            <a:endParaRPr lang="en-US" sz="1500" dirty="0"/>
          </a:p>
        </p:txBody>
      </p:sp>
      <p:sp>
        <p:nvSpPr>
          <p:cNvPr id="25" name="Shape 20"/>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6" name="Shape 21"/>
          <p:cNvSpPr/>
          <p:nvPr/>
        </p:nvSpPr>
        <p:spPr>
          <a:xfrm>
            <a:off x="11567160" y="4103370"/>
            <a:ext cx="347472" cy="347472"/>
          </a:xfrm>
          <a:prstGeom prst="ellipse">
            <a:avLst/>
          </a:prstGeom>
          <a:solidFill>
            <a:srgbClr val="008774"/>
          </a:solidFill>
          <a:ln w="25400">
            <a:solidFill>
              <a:srgbClr val="FFFFFF"/>
            </a:solidFill>
            <a:prstDash val="solid"/>
          </a:ln>
        </p:spPr>
        <p:txBody>
          <a:bodyPr/>
          <a:lstStyle/>
          <a:p>
            <a:endParaRPr lang="en-US"/>
          </a:p>
        </p:txBody>
      </p:sp>
      <p:sp>
        <p:nvSpPr>
          <p:cNvPr id="27" name="Text 22"/>
          <p:cNvSpPr/>
          <p:nvPr/>
        </p:nvSpPr>
        <p:spPr>
          <a:xfrm>
            <a:off x="11567160" y="411251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28" name="Text 23"/>
          <p:cNvSpPr/>
          <p:nvPr/>
        </p:nvSpPr>
        <p:spPr>
          <a:xfrm>
            <a:off x="12042648" y="410337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Licensed usage</a:t>
            </a:r>
            <a:endParaRPr lang="en-US" sz="1900" dirty="0"/>
          </a:p>
        </p:txBody>
      </p:sp>
      <p:sp>
        <p:nvSpPr>
          <p:cNvPr id="29" name="Text 24"/>
          <p:cNvSpPr/>
          <p:nvPr/>
        </p:nvSpPr>
        <p:spPr>
          <a:xfrm>
            <a:off x="11612880" y="4513326"/>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Users, Copilot sessions per user and agent comparisons. Agent prompt cells also need this licensed row to meet the minimum.</a:t>
            </a:r>
            <a:endParaRPr lang="en-US" sz="1500" dirty="0"/>
          </a:p>
        </p:txBody>
      </p:sp>
      <p:sp>
        <p:nvSpPr>
          <p:cNvPr id="30" name="Shape 25"/>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1" name="Shape 26"/>
          <p:cNvSpPr/>
          <p:nvPr/>
        </p:nvSpPr>
        <p:spPr>
          <a:xfrm>
            <a:off x="11567160" y="5811012"/>
            <a:ext cx="347472" cy="347472"/>
          </a:xfrm>
          <a:prstGeom prst="ellipse">
            <a:avLst/>
          </a:prstGeom>
          <a:solidFill>
            <a:srgbClr val="BF5B25"/>
          </a:solidFill>
          <a:ln w="25400">
            <a:solidFill>
              <a:srgbClr val="FFFFFF"/>
            </a:solidFill>
            <a:prstDash val="solid"/>
          </a:ln>
        </p:spPr>
        <p:txBody>
          <a:bodyPr/>
          <a:lstStyle/>
          <a:p>
            <a:endParaRPr lang="en-US"/>
          </a:p>
        </p:txBody>
      </p:sp>
      <p:sp>
        <p:nvSpPr>
          <p:cNvPr id="32" name="Text 27"/>
          <p:cNvSpPr/>
          <p:nvPr/>
        </p:nvSpPr>
        <p:spPr>
          <a:xfrm>
            <a:off x="11567160" y="5820156"/>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3" name="Text 28"/>
          <p:cNvSpPr/>
          <p:nvPr/>
        </p:nvSpPr>
        <p:spPr>
          <a:xfrm>
            <a:off x="12042648" y="5811012"/>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Unlicensed usage</a:t>
            </a:r>
            <a:endParaRPr lang="en-US" sz="1900" dirty="0"/>
          </a:p>
        </p:txBody>
      </p:sp>
      <p:sp>
        <p:nvSpPr>
          <p:cNvPr id="34" name="Text 29"/>
          <p:cNvSpPr/>
          <p:nvPr/>
        </p:nvSpPr>
        <p:spPr>
          <a:xfrm>
            <a:off x="11612880" y="6220968"/>
            <a:ext cx="5833872" cy="30632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Chat and agent use; agent prompt cells need this row's minimum.</a:t>
            </a:r>
            <a:endParaRPr lang="en-US" sz="1500" dirty="0"/>
          </a:p>
        </p:txBody>
      </p:sp>
      <p:sp>
        <p:nvSpPr>
          <p:cNvPr id="35" name="Shape 30"/>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6" name="Shape 31"/>
          <p:cNvSpPr/>
          <p:nvPr/>
        </p:nvSpPr>
        <p:spPr>
          <a:xfrm>
            <a:off x="11567160" y="7518654"/>
            <a:ext cx="347472" cy="347472"/>
          </a:xfrm>
          <a:prstGeom prst="ellipse">
            <a:avLst/>
          </a:prstGeom>
          <a:solidFill>
            <a:srgbClr val="3B2750"/>
          </a:solidFill>
          <a:ln w="25400">
            <a:solidFill>
              <a:srgbClr val="FFFFFF"/>
            </a:solidFill>
            <a:prstDash val="solid"/>
          </a:ln>
        </p:spPr>
        <p:txBody>
          <a:bodyPr/>
          <a:lstStyle/>
          <a:p>
            <a:endParaRPr lang="en-US"/>
          </a:p>
        </p:txBody>
      </p:sp>
      <p:sp>
        <p:nvSpPr>
          <p:cNvPr id="37" name="Text 32"/>
          <p:cNvSpPr/>
          <p:nvPr/>
        </p:nvSpPr>
        <p:spPr>
          <a:xfrm>
            <a:off x="11567160" y="752779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i</a:t>
            </a:r>
            <a:endParaRPr lang="en-US" sz="1500" dirty="0"/>
          </a:p>
        </p:txBody>
      </p:sp>
      <p:sp>
        <p:nvSpPr>
          <p:cNvPr id="38" name="Text 33"/>
          <p:cNvSpPr/>
          <p:nvPr/>
        </p:nvSpPr>
        <p:spPr>
          <a:xfrm>
            <a:off x="12042648" y="751865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Read each percentage on its own</a:t>
            </a:r>
            <a:endParaRPr lang="en-US" sz="1900" dirty="0"/>
          </a:p>
        </p:txBody>
      </p:sp>
      <p:sp>
        <p:nvSpPr>
          <p:cNvPr id="39" name="Text 34"/>
          <p:cNvSpPr/>
          <p:nvPr/>
        </p:nvSpPr>
        <p:spPr>
          <a:xfrm>
            <a:off x="11612880" y="7928610"/>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Of this table's chat users, how many also used agents? People with unknown license status are not counted as unlicensed.</a:t>
            </a:r>
            <a:endParaRPr lang="en-US" sz="1500" dirty="0"/>
          </a:p>
        </p:txBody>
      </p:sp>
      <p:sp>
        <p:nvSpPr>
          <p:cNvPr id="40" name="Shape 35"/>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1" name="Text 36"/>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2" name="Text 37"/>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Here's where each experience is strongest, and how many chat users have also found agents.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07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2 · IS IT BECOMING A HABIT?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Read habits one month at a time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Every habit page uses the same four groups and names the month at the top.</a:t>
            </a:r>
            <a:endParaRPr lang="en-US" sz="2000" dirty="0"/>
          </a:p>
        </p:txBody>
      </p:sp>
      <p:sp>
        <p:nvSpPr>
          <p:cNvPr id="9" name="Shape 5"/>
          <p:cNvSpPr/>
          <p:nvPr/>
        </p:nvSpPr>
        <p:spPr>
          <a:xfrm>
            <a:off x="612648" y="2286000"/>
            <a:ext cx="4059936" cy="2240280"/>
          </a:xfrm>
          <a:prstGeom prst="roundRect">
            <a:avLst>
              <a:gd name="adj" fmla="val 4082"/>
            </a:avLst>
          </a:prstGeom>
          <a:solidFill>
            <a:srgbClr val="FFFFFF"/>
          </a:solidFill>
          <a:ln w="12700">
            <a:solidFill>
              <a:srgbClr val="E2DDEB"/>
            </a:solidFill>
            <a:prstDash val="solid"/>
          </a:ln>
        </p:spPr>
        <p:txBody>
          <a:bodyPr/>
          <a:lstStyle/>
          <a:p>
            <a:endParaRPr lang="en-US"/>
          </a:p>
        </p:txBody>
      </p:sp>
      <p:sp>
        <p:nvSpPr>
          <p:cNvPr id="10" name="Shape 6"/>
          <p:cNvSpPr/>
          <p:nvPr/>
        </p:nvSpPr>
        <p:spPr>
          <a:xfrm>
            <a:off x="886968" y="2542032"/>
            <a:ext cx="91440" cy="1737360"/>
          </a:xfrm>
          <a:prstGeom prst="rect">
            <a:avLst/>
          </a:prstGeom>
          <a:solidFill>
            <a:srgbClr val="7953B8"/>
          </a:solidFill>
          <a:ln/>
        </p:spPr>
        <p:txBody>
          <a:bodyPr/>
          <a:lstStyle/>
          <a:p>
            <a:endParaRPr lang="en-US"/>
          </a:p>
        </p:txBody>
      </p:sp>
      <p:sp>
        <p:nvSpPr>
          <p:cNvPr id="11" name="Text 7"/>
          <p:cNvSpPr/>
          <p:nvPr/>
        </p:nvSpPr>
        <p:spPr>
          <a:xfrm>
            <a:off x="1161288" y="2514600"/>
            <a:ext cx="3236976" cy="457200"/>
          </a:xfrm>
          <a:prstGeom prst="rect">
            <a:avLst/>
          </a:prstGeom>
          <a:noFill/>
          <a:ln/>
        </p:spPr>
        <p:txBody>
          <a:bodyPr wrap="square" lIns="0" tIns="0" rIns="0" bIns="0" rtlCol="0" anchor="ctr"/>
          <a:lstStyle/>
          <a:p>
            <a:pPr marL="0" indent="0">
              <a:buNone/>
            </a:pPr>
            <a:r>
              <a:rPr lang="en-US" sz="2200" dirty="0">
                <a:solidFill>
                  <a:srgbClr val="251833"/>
                </a:solidFill>
                <a:latin typeface="Segoe UI Semibold" pitchFamily="34" charset="0"/>
                <a:ea typeface="Segoe UI Semibold" pitchFamily="34" charset="-122"/>
                <a:cs typeface="Segoe UI Semibold" pitchFamily="34" charset="-120"/>
              </a:rPr>
              <a:t>Light</a:t>
            </a:r>
            <a:endParaRPr lang="en-US" sz="2200" dirty="0"/>
          </a:p>
        </p:txBody>
      </p:sp>
      <p:sp>
        <p:nvSpPr>
          <p:cNvPr id="12" name="Text 8"/>
          <p:cNvSpPr/>
          <p:nvPr/>
        </p:nvSpPr>
        <p:spPr>
          <a:xfrm>
            <a:off x="1161288" y="3017520"/>
            <a:ext cx="3236976" cy="822960"/>
          </a:xfrm>
          <a:prstGeom prst="rect">
            <a:avLst/>
          </a:prstGeom>
          <a:noFill/>
          <a:ln/>
        </p:spPr>
        <p:txBody>
          <a:bodyPr wrap="square" lIns="0" tIns="0" rIns="0" bIns="0" rtlCol="0" anchor="ctr"/>
          <a:lstStyle/>
          <a:p>
            <a:pPr marL="0" indent="0">
              <a:buNone/>
            </a:pPr>
            <a:r>
              <a:rPr lang="en-US" sz="4400" dirty="0">
                <a:solidFill>
                  <a:srgbClr val="7953B8"/>
                </a:solidFill>
                <a:latin typeface="Segoe UI Semibold" pitchFamily="34" charset="0"/>
                <a:ea typeface="Segoe UI Semibold" pitchFamily="34" charset="-122"/>
                <a:cs typeface="Segoe UI Semibold" pitchFamily="34" charset="-120"/>
              </a:rPr>
              <a:t>1–5</a:t>
            </a:r>
            <a:endParaRPr lang="en-US" sz="4400" dirty="0"/>
          </a:p>
        </p:txBody>
      </p:sp>
      <p:sp>
        <p:nvSpPr>
          <p:cNvPr id="13" name="Text 9"/>
          <p:cNvSpPr/>
          <p:nvPr/>
        </p:nvSpPr>
        <p:spPr>
          <a:xfrm>
            <a:off x="1161288" y="3840480"/>
            <a:ext cx="3236976" cy="365760"/>
          </a:xfrm>
          <a:prstGeom prst="rect">
            <a:avLst/>
          </a:prstGeom>
          <a:noFill/>
          <a:ln/>
        </p:spPr>
        <p:txBody>
          <a:bodyPr wrap="square" lIns="0" tIns="0" rIns="0" bIns="0" rtlCol="0" anchor="ctr"/>
          <a:lstStyle/>
          <a:p>
            <a:pPr marL="0" indent="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14" name="Shape 10"/>
          <p:cNvSpPr/>
          <p:nvPr/>
        </p:nvSpPr>
        <p:spPr>
          <a:xfrm>
            <a:off x="4946904" y="2286000"/>
            <a:ext cx="4059936" cy="2240280"/>
          </a:xfrm>
          <a:prstGeom prst="roundRect">
            <a:avLst>
              <a:gd name="adj" fmla="val 4082"/>
            </a:avLst>
          </a:prstGeom>
          <a:solidFill>
            <a:srgbClr val="FFFFFF"/>
          </a:solidFill>
          <a:ln w="12700">
            <a:solidFill>
              <a:srgbClr val="E2DDEB"/>
            </a:solidFill>
            <a:prstDash val="solid"/>
          </a:ln>
        </p:spPr>
        <p:txBody>
          <a:bodyPr/>
          <a:lstStyle/>
          <a:p>
            <a:endParaRPr lang="en-US"/>
          </a:p>
        </p:txBody>
      </p:sp>
      <p:sp>
        <p:nvSpPr>
          <p:cNvPr id="15" name="Shape 11"/>
          <p:cNvSpPr/>
          <p:nvPr/>
        </p:nvSpPr>
        <p:spPr>
          <a:xfrm>
            <a:off x="5221224" y="2542032"/>
            <a:ext cx="91440" cy="1737360"/>
          </a:xfrm>
          <a:prstGeom prst="rect">
            <a:avLst/>
          </a:prstGeom>
          <a:solidFill>
            <a:srgbClr val="008774"/>
          </a:solidFill>
          <a:ln/>
        </p:spPr>
        <p:txBody>
          <a:bodyPr/>
          <a:lstStyle/>
          <a:p>
            <a:endParaRPr lang="en-US"/>
          </a:p>
        </p:txBody>
      </p:sp>
      <p:sp>
        <p:nvSpPr>
          <p:cNvPr id="16" name="Text 12"/>
          <p:cNvSpPr/>
          <p:nvPr/>
        </p:nvSpPr>
        <p:spPr>
          <a:xfrm>
            <a:off x="5495544" y="2514600"/>
            <a:ext cx="3236976" cy="457200"/>
          </a:xfrm>
          <a:prstGeom prst="rect">
            <a:avLst/>
          </a:prstGeom>
          <a:noFill/>
          <a:ln/>
        </p:spPr>
        <p:txBody>
          <a:bodyPr wrap="square" lIns="0" tIns="0" rIns="0" bIns="0" rtlCol="0" anchor="ctr"/>
          <a:lstStyle/>
          <a:p>
            <a:pPr marL="0" indent="0">
              <a:buNone/>
            </a:pPr>
            <a:r>
              <a:rPr lang="en-US" sz="2200" dirty="0">
                <a:solidFill>
                  <a:srgbClr val="251833"/>
                </a:solidFill>
                <a:latin typeface="Segoe UI Semibold" pitchFamily="34" charset="0"/>
                <a:ea typeface="Segoe UI Semibold" pitchFamily="34" charset="-122"/>
                <a:cs typeface="Segoe UI Semibold" pitchFamily="34" charset="-120"/>
              </a:rPr>
              <a:t>Moderate</a:t>
            </a:r>
            <a:endParaRPr lang="en-US" sz="2200" dirty="0"/>
          </a:p>
        </p:txBody>
      </p:sp>
      <p:sp>
        <p:nvSpPr>
          <p:cNvPr id="17" name="Text 13"/>
          <p:cNvSpPr/>
          <p:nvPr/>
        </p:nvSpPr>
        <p:spPr>
          <a:xfrm>
            <a:off x="5495544" y="3017520"/>
            <a:ext cx="3236976" cy="822960"/>
          </a:xfrm>
          <a:prstGeom prst="rect">
            <a:avLst/>
          </a:prstGeom>
          <a:noFill/>
          <a:ln/>
        </p:spPr>
        <p:txBody>
          <a:bodyPr wrap="square" lIns="0" tIns="0" rIns="0" bIns="0" rtlCol="0" anchor="ctr"/>
          <a:lstStyle/>
          <a:p>
            <a:pPr marL="0" indent="0">
              <a:buNone/>
            </a:pPr>
            <a:r>
              <a:rPr lang="en-US" sz="4400" dirty="0">
                <a:solidFill>
                  <a:srgbClr val="008774"/>
                </a:solidFill>
                <a:latin typeface="Segoe UI Semibold" pitchFamily="34" charset="0"/>
                <a:ea typeface="Segoe UI Semibold" pitchFamily="34" charset="-122"/>
                <a:cs typeface="Segoe UI Semibold" pitchFamily="34" charset="-120"/>
              </a:rPr>
              <a:t>6–10</a:t>
            </a:r>
            <a:endParaRPr lang="en-US" sz="4400" dirty="0"/>
          </a:p>
        </p:txBody>
      </p:sp>
      <p:sp>
        <p:nvSpPr>
          <p:cNvPr id="18" name="Text 14"/>
          <p:cNvSpPr/>
          <p:nvPr/>
        </p:nvSpPr>
        <p:spPr>
          <a:xfrm>
            <a:off x="5495544" y="3840480"/>
            <a:ext cx="3236976" cy="365760"/>
          </a:xfrm>
          <a:prstGeom prst="rect">
            <a:avLst/>
          </a:prstGeom>
          <a:noFill/>
          <a:ln/>
        </p:spPr>
        <p:txBody>
          <a:bodyPr wrap="square" lIns="0" tIns="0" rIns="0" bIns="0" rtlCol="0" anchor="ctr"/>
          <a:lstStyle/>
          <a:p>
            <a:pPr marL="0" indent="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19" name="Shape 15"/>
          <p:cNvSpPr/>
          <p:nvPr/>
        </p:nvSpPr>
        <p:spPr>
          <a:xfrm>
            <a:off x="9281160" y="2286000"/>
            <a:ext cx="4059936" cy="2240280"/>
          </a:xfrm>
          <a:prstGeom prst="roundRect">
            <a:avLst>
              <a:gd name="adj" fmla="val 4082"/>
            </a:avLst>
          </a:prstGeom>
          <a:solidFill>
            <a:srgbClr val="FFFFFF"/>
          </a:solidFill>
          <a:ln w="12700">
            <a:solidFill>
              <a:srgbClr val="E2DDEB"/>
            </a:solidFill>
            <a:prstDash val="solid"/>
          </a:ln>
        </p:spPr>
        <p:txBody>
          <a:bodyPr/>
          <a:lstStyle/>
          <a:p>
            <a:endParaRPr lang="en-US"/>
          </a:p>
        </p:txBody>
      </p:sp>
      <p:sp>
        <p:nvSpPr>
          <p:cNvPr id="20" name="Shape 16"/>
          <p:cNvSpPr/>
          <p:nvPr/>
        </p:nvSpPr>
        <p:spPr>
          <a:xfrm>
            <a:off x="9555480" y="2542032"/>
            <a:ext cx="91440" cy="1737360"/>
          </a:xfrm>
          <a:prstGeom prst="rect">
            <a:avLst/>
          </a:prstGeom>
          <a:solidFill>
            <a:srgbClr val="BF5B25"/>
          </a:solidFill>
          <a:ln/>
        </p:spPr>
        <p:txBody>
          <a:bodyPr/>
          <a:lstStyle/>
          <a:p>
            <a:endParaRPr lang="en-US"/>
          </a:p>
        </p:txBody>
      </p:sp>
      <p:sp>
        <p:nvSpPr>
          <p:cNvPr id="21" name="Text 17"/>
          <p:cNvSpPr/>
          <p:nvPr/>
        </p:nvSpPr>
        <p:spPr>
          <a:xfrm>
            <a:off x="9829800" y="2514600"/>
            <a:ext cx="3236976" cy="457200"/>
          </a:xfrm>
          <a:prstGeom prst="rect">
            <a:avLst/>
          </a:prstGeom>
          <a:noFill/>
          <a:ln/>
        </p:spPr>
        <p:txBody>
          <a:bodyPr wrap="square" lIns="0" tIns="0" rIns="0" bIns="0" rtlCol="0" anchor="ctr"/>
          <a:lstStyle/>
          <a:p>
            <a:pPr marL="0" indent="0">
              <a:buNone/>
            </a:pPr>
            <a:r>
              <a:rPr lang="en-US" sz="2200" dirty="0">
                <a:solidFill>
                  <a:srgbClr val="251833"/>
                </a:solidFill>
                <a:latin typeface="Segoe UI Semibold" pitchFamily="34" charset="0"/>
                <a:ea typeface="Segoe UI Semibold" pitchFamily="34" charset="-122"/>
                <a:cs typeface="Segoe UI Semibold" pitchFamily="34" charset="-120"/>
              </a:rPr>
              <a:t>Frequent</a:t>
            </a:r>
            <a:endParaRPr lang="en-US" sz="2200" dirty="0"/>
          </a:p>
        </p:txBody>
      </p:sp>
      <p:sp>
        <p:nvSpPr>
          <p:cNvPr id="22" name="Text 18"/>
          <p:cNvSpPr/>
          <p:nvPr/>
        </p:nvSpPr>
        <p:spPr>
          <a:xfrm>
            <a:off x="9829800" y="3017520"/>
            <a:ext cx="3236976" cy="822960"/>
          </a:xfrm>
          <a:prstGeom prst="rect">
            <a:avLst/>
          </a:prstGeom>
          <a:noFill/>
          <a:ln/>
        </p:spPr>
        <p:txBody>
          <a:bodyPr wrap="square" lIns="0" tIns="0" rIns="0" bIns="0" rtlCol="0" anchor="ctr"/>
          <a:lstStyle/>
          <a:p>
            <a:pPr marL="0" indent="0">
              <a:buNone/>
            </a:pPr>
            <a:r>
              <a:rPr lang="en-US" sz="4400" dirty="0">
                <a:solidFill>
                  <a:srgbClr val="BF5B25"/>
                </a:solidFill>
                <a:latin typeface="Segoe UI Semibold" pitchFamily="34" charset="0"/>
                <a:ea typeface="Segoe UI Semibold" pitchFamily="34" charset="-122"/>
                <a:cs typeface="Segoe UI Semibold" pitchFamily="34" charset="-120"/>
              </a:rPr>
              <a:t>11–15</a:t>
            </a:r>
            <a:endParaRPr lang="en-US" sz="4400" dirty="0"/>
          </a:p>
        </p:txBody>
      </p:sp>
      <p:sp>
        <p:nvSpPr>
          <p:cNvPr id="23" name="Text 19"/>
          <p:cNvSpPr/>
          <p:nvPr/>
        </p:nvSpPr>
        <p:spPr>
          <a:xfrm>
            <a:off x="9829800" y="3840480"/>
            <a:ext cx="3236976" cy="365760"/>
          </a:xfrm>
          <a:prstGeom prst="rect">
            <a:avLst/>
          </a:prstGeom>
          <a:noFill/>
          <a:ln/>
        </p:spPr>
        <p:txBody>
          <a:bodyPr wrap="square" lIns="0" tIns="0" rIns="0" bIns="0" rtlCol="0" anchor="ctr"/>
          <a:lstStyle/>
          <a:p>
            <a:pPr marL="0" indent="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24" name="Shape 20"/>
          <p:cNvSpPr/>
          <p:nvPr/>
        </p:nvSpPr>
        <p:spPr>
          <a:xfrm>
            <a:off x="13615416" y="2286000"/>
            <a:ext cx="4059936" cy="2240280"/>
          </a:xfrm>
          <a:prstGeom prst="roundRect">
            <a:avLst>
              <a:gd name="adj" fmla="val 4082"/>
            </a:avLst>
          </a:prstGeom>
          <a:solidFill>
            <a:srgbClr val="FFFFFF"/>
          </a:solidFill>
          <a:ln w="12700">
            <a:solidFill>
              <a:srgbClr val="E2DDEB"/>
            </a:solidFill>
            <a:prstDash val="solid"/>
          </a:ln>
        </p:spPr>
        <p:txBody>
          <a:bodyPr/>
          <a:lstStyle/>
          <a:p>
            <a:endParaRPr lang="en-US"/>
          </a:p>
        </p:txBody>
      </p:sp>
      <p:sp>
        <p:nvSpPr>
          <p:cNvPr id="25" name="Shape 21"/>
          <p:cNvSpPr/>
          <p:nvPr/>
        </p:nvSpPr>
        <p:spPr>
          <a:xfrm>
            <a:off x="13889736" y="2542032"/>
            <a:ext cx="91440" cy="1737360"/>
          </a:xfrm>
          <a:prstGeom prst="rect">
            <a:avLst/>
          </a:prstGeom>
          <a:solidFill>
            <a:srgbClr val="4268B2"/>
          </a:solidFill>
          <a:ln/>
        </p:spPr>
        <p:txBody>
          <a:bodyPr/>
          <a:lstStyle/>
          <a:p>
            <a:endParaRPr lang="en-US"/>
          </a:p>
        </p:txBody>
      </p:sp>
      <p:sp>
        <p:nvSpPr>
          <p:cNvPr id="26" name="Text 22"/>
          <p:cNvSpPr/>
          <p:nvPr/>
        </p:nvSpPr>
        <p:spPr>
          <a:xfrm>
            <a:off x="14164056" y="2514600"/>
            <a:ext cx="3236976" cy="457200"/>
          </a:xfrm>
          <a:prstGeom prst="rect">
            <a:avLst/>
          </a:prstGeom>
          <a:noFill/>
          <a:ln/>
        </p:spPr>
        <p:txBody>
          <a:bodyPr wrap="square" lIns="0" tIns="0" rIns="0" bIns="0" rtlCol="0" anchor="ctr"/>
          <a:lstStyle/>
          <a:p>
            <a:pPr marL="0" indent="0">
              <a:buNone/>
            </a:pPr>
            <a:r>
              <a:rPr lang="en-US" sz="2200" dirty="0">
                <a:solidFill>
                  <a:srgbClr val="251833"/>
                </a:solidFill>
                <a:latin typeface="Segoe UI Semibold" pitchFamily="34" charset="0"/>
                <a:ea typeface="Segoe UI Semibold" pitchFamily="34" charset="-122"/>
                <a:cs typeface="Segoe UI Semibold" pitchFamily="34" charset="-120"/>
              </a:rPr>
              <a:t>Daily</a:t>
            </a:r>
            <a:endParaRPr lang="en-US" sz="2200" dirty="0"/>
          </a:p>
        </p:txBody>
      </p:sp>
      <p:sp>
        <p:nvSpPr>
          <p:cNvPr id="27" name="Text 23"/>
          <p:cNvSpPr/>
          <p:nvPr/>
        </p:nvSpPr>
        <p:spPr>
          <a:xfrm>
            <a:off x="14164056" y="3017520"/>
            <a:ext cx="3236976" cy="822960"/>
          </a:xfrm>
          <a:prstGeom prst="rect">
            <a:avLst/>
          </a:prstGeom>
          <a:noFill/>
          <a:ln/>
        </p:spPr>
        <p:txBody>
          <a:bodyPr wrap="square" lIns="0" tIns="0" rIns="0" bIns="0" rtlCol="0" anchor="ctr"/>
          <a:lstStyle/>
          <a:p>
            <a:pPr marL="0" indent="0">
              <a:buNone/>
            </a:pPr>
            <a:r>
              <a:rPr lang="en-US" sz="4400" dirty="0">
                <a:solidFill>
                  <a:srgbClr val="4268B2"/>
                </a:solidFill>
                <a:latin typeface="Segoe UI Semibold" pitchFamily="34" charset="0"/>
                <a:ea typeface="Segoe UI Semibold" pitchFamily="34" charset="-122"/>
                <a:cs typeface="Segoe UI Semibold" pitchFamily="34" charset="-120"/>
              </a:rPr>
              <a:t>16+</a:t>
            </a:r>
            <a:endParaRPr lang="en-US" sz="4400" dirty="0"/>
          </a:p>
        </p:txBody>
      </p:sp>
      <p:sp>
        <p:nvSpPr>
          <p:cNvPr id="28" name="Text 24"/>
          <p:cNvSpPr/>
          <p:nvPr/>
        </p:nvSpPr>
        <p:spPr>
          <a:xfrm>
            <a:off x="14164056" y="3840480"/>
            <a:ext cx="3236976" cy="365760"/>
          </a:xfrm>
          <a:prstGeom prst="rect">
            <a:avLst/>
          </a:prstGeom>
          <a:noFill/>
          <a:ln/>
        </p:spPr>
        <p:txBody>
          <a:bodyPr wrap="square" lIns="0" tIns="0" rIns="0" bIns="0" rtlCol="0" anchor="ctr"/>
          <a:lstStyle/>
          <a:p>
            <a:pPr marL="0" indent="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29" name="Shape 25"/>
          <p:cNvSpPr/>
          <p:nvPr/>
        </p:nvSpPr>
        <p:spPr>
          <a:xfrm>
            <a:off x="612648" y="4754880"/>
            <a:ext cx="10378440" cy="4114800"/>
          </a:xfrm>
          <a:prstGeom prst="roundRect">
            <a:avLst>
              <a:gd name="adj" fmla="val 2222"/>
            </a:avLst>
          </a:prstGeom>
          <a:solidFill>
            <a:srgbClr val="FFFFFF"/>
          </a:solidFill>
          <a:ln w="12700">
            <a:solidFill>
              <a:srgbClr val="E2DDEB"/>
            </a:solidFill>
            <a:prstDash val="solid"/>
          </a:ln>
        </p:spPr>
        <p:txBody>
          <a:bodyPr/>
          <a:lstStyle/>
          <a:p>
            <a:endParaRPr lang="en-US"/>
          </a:p>
        </p:txBody>
      </p:sp>
      <p:sp>
        <p:nvSpPr>
          <p:cNvPr id="30" name="Text 26"/>
          <p:cNvSpPr/>
          <p:nvPr/>
        </p:nvSpPr>
        <p:spPr>
          <a:xfrm>
            <a:off x="978408" y="4983480"/>
            <a:ext cx="5486400"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WHICH MONTH?</a:t>
            </a:r>
            <a:endParaRPr lang="en-US" sz="1200" dirty="0"/>
          </a:p>
        </p:txBody>
      </p:sp>
      <p:sp>
        <p:nvSpPr>
          <p:cNvPr id="31" name="Text 27"/>
          <p:cNvSpPr/>
          <p:nvPr/>
        </p:nvSpPr>
        <p:spPr>
          <a:xfrm>
            <a:off x="978408" y="5349240"/>
            <a:ext cx="9601200" cy="777240"/>
          </a:xfrm>
          <a:prstGeom prst="rect">
            <a:avLst/>
          </a:prstGeom>
          <a:noFill/>
          <a:ln/>
        </p:spPr>
        <p:txBody>
          <a:bodyPr wrap="square" lIns="0" tIns="0" rIns="0" bIns="0" rtlCol="0" anchor="t"/>
          <a:lstStyle/>
          <a:p>
            <a:pPr marL="0" indent="0">
              <a:buNone/>
            </a:pPr>
            <a:r>
              <a:rPr lang="en-US" sz="2000" dirty="0">
                <a:solidFill>
                  <a:srgbClr val="251833"/>
                </a:solidFill>
                <a:latin typeface="Segoe UI Semibold" pitchFamily="34" charset="0"/>
                <a:ea typeface="Segoe UI Semibold" pitchFamily="34" charset="-122"/>
                <a:cs typeface="Segoe UI Semibold" pitchFamily="34" charset="-120"/>
              </a:rPr>
              <a:t>The habit month is the calendar month before the end of your selected dates.</a:t>
            </a:r>
            <a:endParaRPr lang="en-US" sz="2000" dirty="0"/>
          </a:p>
        </p:txBody>
      </p:sp>
      <p:sp>
        <p:nvSpPr>
          <p:cNvPr id="32" name="Shape 28"/>
          <p:cNvSpPr/>
          <p:nvPr/>
        </p:nvSpPr>
        <p:spPr>
          <a:xfrm>
            <a:off x="978408" y="6263640"/>
            <a:ext cx="4480560" cy="1097280"/>
          </a:xfrm>
          <a:prstGeom prst="roundRect">
            <a:avLst>
              <a:gd name="adj" fmla="val 8333"/>
            </a:avLst>
          </a:prstGeom>
          <a:solidFill>
            <a:srgbClr val="ECE5F4"/>
          </a:solidFill>
          <a:ln/>
        </p:spPr>
        <p:txBody>
          <a:bodyPr/>
          <a:lstStyle/>
          <a:p>
            <a:endParaRPr lang="en-US"/>
          </a:p>
        </p:txBody>
      </p:sp>
      <p:sp>
        <p:nvSpPr>
          <p:cNvPr id="33" name="Text 29"/>
          <p:cNvSpPr/>
          <p:nvPr/>
        </p:nvSpPr>
        <p:spPr>
          <a:xfrm>
            <a:off x="1207008" y="6355080"/>
            <a:ext cx="4114800" cy="914400"/>
          </a:xfrm>
          <a:prstGeom prst="rect">
            <a:avLst/>
          </a:prstGeom>
          <a:noFill/>
          <a:ln/>
        </p:spPr>
        <p:txBody>
          <a:bodyPr wrap="square" lIns="0" tIns="0" rIns="0" bIns="0" rtlCol="0" anchor="ctr"/>
          <a:lstStyle/>
          <a:p>
            <a:pPr marL="0" indent="0">
              <a:buNone/>
            </a:pPr>
            <a:r>
              <a:rPr lang="en-US" sz="1300" dirty="0">
                <a:solidFill>
                  <a:srgbClr val="637087"/>
                </a:solidFill>
                <a:latin typeface="Segoe UI" pitchFamily="34" charset="0"/>
                <a:ea typeface="Segoe UI" pitchFamily="34" charset="-122"/>
                <a:cs typeface="Segoe UI" pitchFamily="34" charset="-120"/>
              </a:rPr>
              <a:t>Selected dates</a:t>
            </a:r>
            <a:endParaRPr lang="en-US" sz="1300" dirty="0"/>
          </a:p>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1 Jun – 30 Sep 2026</a:t>
            </a:r>
            <a:endParaRPr lang="en-US" sz="1300" dirty="0"/>
          </a:p>
        </p:txBody>
      </p:sp>
      <p:sp>
        <p:nvSpPr>
          <p:cNvPr id="34" name="Text 30"/>
          <p:cNvSpPr/>
          <p:nvPr/>
        </p:nvSpPr>
        <p:spPr>
          <a:xfrm>
            <a:off x="5504688" y="6263640"/>
            <a:ext cx="640080" cy="1097280"/>
          </a:xfrm>
          <a:prstGeom prst="rect">
            <a:avLst/>
          </a:prstGeom>
          <a:noFill/>
          <a:ln/>
        </p:spPr>
        <p:txBody>
          <a:bodyPr wrap="square" lIns="0" tIns="0" rIns="0" bIns="0" rtlCol="0" anchor="ctr"/>
          <a:lstStyle/>
          <a:p>
            <a:pPr marL="0" indent="0" algn="ctr">
              <a:buNone/>
            </a:pPr>
            <a:r>
              <a:rPr lang="en-US" sz="3000" dirty="0">
                <a:solidFill>
                  <a:srgbClr val="7953B8"/>
                </a:solidFill>
                <a:latin typeface="Segoe UI Semibold" pitchFamily="34" charset="0"/>
                <a:ea typeface="Segoe UI Semibold" pitchFamily="34" charset="-122"/>
                <a:cs typeface="Segoe UI Semibold" pitchFamily="34" charset="-120"/>
              </a:rPr>
              <a:t>→</a:t>
            </a:r>
            <a:endParaRPr lang="en-US" sz="3000" dirty="0"/>
          </a:p>
        </p:txBody>
      </p:sp>
      <p:sp>
        <p:nvSpPr>
          <p:cNvPr id="35" name="Shape 31"/>
          <p:cNvSpPr/>
          <p:nvPr/>
        </p:nvSpPr>
        <p:spPr>
          <a:xfrm>
            <a:off x="6190488" y="6263640"/>
            <a:ext cx="4434840" cy="1097280"/>
          </a:xfrm>
          <a:prstGeom prst="roundRect">
            <a:avLst>
              <a:gd name="adj" fmla="val 8333"/>
            </a:avLst>
          </a:prstGeom>
          <a:solidFill>
            <a:srgbClr val="ECE5F4"/>
          </a:solidFill>
          <a:ln/>
        </p:spPr>
        <p:txBody>
          <a:bodyPr/>
          <a:lstStyle/>
          <a:p>
            <a:endParaRPr lang="en-US"/>
          </a:p>
        </p:txBody>
      </p:sp>
      <p:sp>
        <p:nvSpPr>
          <p:cNvPr id="36" name="Text 32"/>
          <p:cNvSpPr/>
          <p:nvPr/>
        </p:nvSpPr>
        <p:spPr>
          <a:xfrm>
            <a:off x="6419088" y="6355080"/>
            <a:ext cx="4023360" cy="914400"/>
          </a:xfrm>
          <a:prstGeom prst="rect">
            <a:avLst/>
          </a:prstGeom>
          <a:noFill/>
          <a:ln/>
        </p:spPr>
        <p:txBody>
          <a:bodyPr wrap="square" lIns="0" tIns="0" rIns="0" bIns="0" rtlCol="0" anchor="ctr"/>
          <a:lstStyle/>
          <a:p>
            <a:pPr marL="0" indent="0">
              <a:buNone/>
            </a:pPr>
            <a:r>
              <a:rPr lang="en-US" sz="1300" dirty="0">
                <a:solidFill>
                  <a:srgbClr val="637087"/>
                </a:solidFill>
                <a:latin typeface="Segoe UI" pitchFamily="34" charset="0"/>
                <a:ea typeface="Segoe UI" pitchFamily="34" charset="-122"/>
                <a:cs typeface="Segoe UI" pitchFamily="34" charset="-120"/>
              </a:rPr>
              <a:t>Habit month</a:t>
            </a:r>
            <a:endParaRPr lang="en-US" sz="1300" dirty="0"/>
          </a:p>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August 2026</a:t>
            </a:r>
            <a:endParaRPr lang="en-US" sz="1300" dirty="0"/>
          </a:p>
        </p:txBody>
      </p:sp>
      <p:sp>
        <p:nvSpPr>
          <p:cNvPr id="37" name="Text 33"/>
          <p:cNvSpPr/>
          <p:nvPr/>
        </p:nvSpPr>
        <p:spPr>
          <a:xfrm>
            <a:off x="978408" y="7543800"/>
            <a:ext cx="9646920" cy="1188720"/>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The cards and bars describe that month. Tables cover your whole selected period, so their totals may differ. "Daily" names the 16+ group; it doesn’t mean every day.</a:t>
            </a:r>
            <a:endParaRPr lang="en-US" sz="1500" dirty="0"/>
          </a:p>
        </p:txBody>
      </p:sp>
      <p:sp>
        <p:nvSpPr>
          <p:cNvPr id="38" name="Shape 34"/>
          <p:cNvSpPr/>
          <p:nvPr/>
        </p:nvSpPr>
        <p:spPr>
          <a:xfrm>
            <a:off x="11311128" y="4754880"/>
            <a:ext cx="6364224" cy="4122115"/>
          </a:xfrm>
          <a:prstGeom prst="roundRect">
            <a:avLst>
              <a:gd name="adj" fmla="val 2218"/>
            </a:avLst>
          </a:prstGeom>
          <a:solidFill>
            <a:srgbClr val="FFFFFF"/>
          </a:solidFill>
          <a:ln w="12700">
            <a:solidFill>
              <a:srgbClr val="E2DDEB"/>
            </a:solidFill>
            <a:prstDash val="solid"/>
          </a:ln>
        </p:spPr>
        <p:txBody>
          <a:bodyPr/>
          <a:lstStyle/>
          <a:p>
            <a:endParaRPr lang="en-US"/>
          </a:p>
        </p:txBody>
      </p:sp>
      <p:pic>
        <p:nvPicPr>
          <p:cNvPr id="39" name="Image 2" descr="M365 Copilot Habit Formation page"/>
          <p:cNvPicPr>
            <a:picLocks noChangeAspect="1"/>
          </p:cNvPicPr>
          <p:nvPr/>
        </p:nvPicPr>
        <p:blipFill>
          <a:blip r:embed="rId5"/>
          <a:stretch>
            <a:fillRect/>
          </a:stretch>
        </p:blipFill>
        <p:spPr>
          <a:xfrm>
            <a:off x="11567160" y="5010912"/>
            <a:ext cx="5852160" cy="3610051"/>
          </a:xfrm>
          <a:prstGeom prst="rect">
            <a:avLst/>
          </a:prstGeom>
        </p:spPr>
      </p:pic>
      <p:sp>
        <p:nvSpPr>
          <p:cNvPr id="40" name="Shape 35"/>
          <p:cNvSpPr/>
          <p:nvPr/>
        </p:nvSpPr>
        <p:spPr>
          <a:xfrm>
            <a:off x="14698066" y="5028962"/>
            <a:ext cx="1111910" cy="342955"/>
          </a:xfrm>
          <a:prstGeom prst="roundRect">
            <a:avLst>
              <a:gd name="adj" fmla="val 13331"/>
            </a:avLst>
          </a:prstGeom>
          <a:ln w="22225">
            <a:solidFill>
              <a:srgbClr val="7953B8"/>
            </a:solidFill>
            <a:prstDash val="solid"/>
          </a:ln>
        </p:spPr>
        <p:txBody>
          <a:bodyPr/>
          <a:lstStyle/>
          <a:p>
            <a:endParaRPr lang="en-US"/>
          </a:p>
        </p:txBody>
      </p:sp>
      <p:sp>
        <p:nvSpPr>
          <p:cNvPr id="41" name="Shape 36"/>
          <p:cNvSpPr/>
          <p:nvPr/>
        </p:nvSpPr>
        <p:spPr>
          <a:xfrm>
            <a:off x="14496898" y="4846082"/>
            <a:ext cx="329184" cy="329184"/>
          </a:xfrm>
          <a:prstGeom prst="ellipse">
            <a:avLst/>
          </a:prstGeom>
          <a:solidFill>
            <a:srgbClr val="7953B8"/>
          </a:solidFill>
          <a:ln w="25400">
            <a:solidFill>
              <a:srgbClr val="FFFFFF"/>
            </a:solidFill>
            <a:prstDash val="solid"/>
          </a:ln>
        </p:spPr>
        <p:txBody>
          <a:bodyPr/>
          <a:lstStyle/>
          <a:p>
            <a:endParaRPr lang="en-US"/>
          </a:p>
        </p:txBody>
      </p:sp>
      <p:sp>
        <p:nvSpPr>
          <p:cNvPr id="42" name="Text 37"/>
          <p:cNvSpPr/>
          <p:nvPr/>
        </p:nvSpPr>
        <p:spPr>
          <a:xfrm>
            <a:off x="14496898" y="4855226"/>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43" name="Shape 38"/>
          <p:cNvSpPr/>
          <p:nvPr/>
        </p:nvSpPr>
        <p:spPr>
          <a:xfrm>
            <a:off x="13235026" y="5805123"/>
            <a:ext cx="2165299" cy="1329603"/>
          </a:xfrm>
          <a:prstGeom prst="roundRect">
            <a:avLst>
              <a:gd name="adj" fmla="val 3780"/>
            </a:avLst>
          </a:prstGeom>
          <a:ln w="22225">
            <a:solidFill>
              <a:srgbClr val="008774"/>
            </a:solidFill>
            <a:prstDash val="solid"/>
          </a:ln>
        </p:spPr>
        <p:txBody>
          <a:bodyPr/>
          <a:lstStyle/>
          <a:p>
            <a:endParaRPr lang="en-US"/>
          </a:p>
        </p:txBody>
      </p:sp>
      <p:sp>
        <p:nvSpPr>
          <p:cNvPr id="44" name="Shape 39"/>
          <p:cNvSpPr/>
          <p:nvPr/>
        </p:nvSpPr>
        <p:spPr>
          <a:xfrm>
            <a:off x="13033858" y="5622243"/>
            <a:ext cx="329184" cy="329184"/>
          </a:xfrm>
          <a:prstGeom prst="ellipse">
            <a:avLst/>
          </a:prstGeom>
          <a:solidFill>
            <a:srgbClr val="008774"/>
          </a:solidFill>
          <a:ln w="25400">
            <a:solidFill>
              <a:srgbClr val="FFFFFF"/>
            </a:solidFill>
            <a:prstDash val="solid"/>
          </a:ln>
        </p:spPr>
        <p:txBody>
          <a:bodyPr/>
          <a:lstStyle/>
          <a:p>
            <a:endParaRPr lang="en-US"/>
          </a:p>
        </p:txBody>
      </p:sp>
      <p:sp>
        <p:nvSpPr>
          <p:cNvPr id="45" name="Text 40"/>
          <p:cNvSpPr/>
          <p:nvPr/>
        </p:nvSpPr>
        <p:spPr>
          <a:xfrm>
            <a:off x="13033858" y="5631387"/>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46" name="Shape 41"/>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7" name="Text 42"/>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8" name="Text 43"/>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Habits tell us whether Copilot is becoming part of the routine, one month at a time.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08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2 · IS IT BECOMING A HABIT?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Licensed Copilot: how often, and where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M365 Copilot: Usage Trends follows people with a Microsoft 365 Copilot license.</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M365 Copilot: Usage Trends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5" y="4005072"/>
            <a:ext cx="8152882" cy="500215"/>
          </a:xfrm>
          <a:prstGeom prst="roundRect">
            <a:avLst>
              <a:gd name="adj" fmla="val 7409"/>
            </a:avLst>
          </a:prstGeom>
          <a:ln w="22225">
            <a:solidFill>
              <a:srgbClr val="7953B8"/>
            </a:solidFill>
            <a:prstDash val="solid"/>
          </a:ln>
        </p:spPr>
        <p:txBody>
          <a:bodyPr/>
          <a:lstStyle/>
          <a:p>
            <a:endParaRPr lang="en-US"/>
          </a:p>
        </p:txBody>
      </p:sp>
      <p:sp>
        <p:nvSpPr>
          <p:cNvPr id="12" name="Shape 7"/>
          <p:cNvSpPr/>
          <p:nvPr/>
        </p:nvSpPr>
        <p:spPr>
          <a:xfrm>
            <a:off x="767547" y="3789538"/>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3798682"/>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628706"/>
            <a:ext cx="4051432" cy="1820425"/>
          </a:xfrm>
          <a:prstGeom prst="roundRect">
            <a:avLst>
              <a:gd name="adj" fmla="val 2512"/>
            </a:avLst>
          </a:prstGeom>
          <a:ln w="22225">
            <a:solidFill>
              <a:srgbClr val="008774"/>
            </a:solidFill>
            <a:prstDash val="solid"/>
          </a:ln>
        </p:spPr>
        <p:txBody>
          <a:bodyPr/>
          <a:lstStyle/>
          <a:p>
            <a:endParaRPr lang="en-US"/>
          </a:p>
        </p:txBody>
      </p:sp>
      <p:sp>
        <p:nvSpPr>
          <p:cNvPr id="15" name="Shape 10"/>
          <p:cNvSpPr/>
          <p:nvPr/>
        </p:nvSpPr>
        <p:spPr>
          <a:xfrm>
            <a:off x="767547" y="4445826"/>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767547" y="4454970"/>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968715" y="6572549"/>
            <a:ext cx="4051432" cy="1974698"/>
          </a:xfrm>
          <a:prstGeom prst="roundRect">
            <a:avLst>
              <a:gd name="adj" fmla="val 2315"/>
            </a:avLst>
          </a:prstGeom>
          <a:ln w="22225">
            <a:solidFill>
              <a:srgbClr val="BF5B25"/>
            </a:solidFill>
            <a:prstDash val="solid"/>
          </a:ln>
        </p:spPr>
        <p:txBody>
          <a:bodyPr/>
          <a:lstStyle/>
          <a:p>
            <a:endParaRPr lang="en-US"/>
          </a:p>
        </p:txBody>
      </p:sp>
      <p:sp>
        <p:nvSpPr>
          <p:cNvPr id="18" name="Shape 13"/>
          <p:cNvSpPr/>
          <p:nvPr/>
        </p:nvSpPr>
        <p:spPr>
          <a:xfrm>
            <a:off x="767547" y="6389669"/>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767547" y="6398813"/>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5070165" y="6572549"/>
            <a:ext cx="4051432" cy="1974698"/>
          </a:xfrm>
          <a:prstGeom prst="roundRect">
            <a:avLst>
              <a:gd name="adj" fmla="val 2315"/>
            </a:avLst>
          </a:prstGeom>
          <a:ln w="22225">
            <a:solidFill>
              <a:srgbClr val="4268B2"/>
            </a:solidFill>
            <a:prstDash val="solid"/>
          </a:ln>
        </p:spPr>
        <p:txBody>
          <a:bodyPr/>
          <a:lstStyle/>
          <a:p>
            <a:endParaRPr lang="en-US"/>
          </a:p>
        </p:txBody>
      </p:sp>
      <p:sp>
        <p:nvSpPr>
          <p:cNvPr id="21" name="Shape 16"/>
          <p:cNvSpPr/>
          <p:nvPr/>
        </p:nvSpPr>
        <p:spPr>
          <a:xfrm>
            <a:off x="4868997" y="6389669"/>
            <a:ext cx="329184" cy="329184"/>
          </a:xfrm>
          <a:prstGeom prst="ellipse">
            <a:avLst/>
          </a:prstGeom>
          <a:solidFill>
            <a:srgbClr val="4268B2"/>
          </a:solidFill>
          <a:ln w="25400">
            <a:solidFill>
              <a:srgbClr val="FFFFFF"/>
            </a:solidFill>
            <a:prstDash val="solid"/>
          </a:ln>
        </p:spPr>
        <p:txBody>
          <a:bodyPr/>
          <a:lstStyle/>
          <a:p>
            <a:endParaRPr lang="en-US"/>
          </a:p>
        </p:txBody>
      </p:sp>
      <p:sp>
        <p:nvSpPr>
          <p:cNvPr id="22" name="Text 17"/>
          <p:cNvSpPr/>
          <p:nvPr/>
        </p:nvSpPr>
        <p:spPr>
          <a:xfrm>
            <a:off x="4868997" y="6398813"/>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6672"/>
          </a:xfrm>
          <a:prstGeom prst="roundRect">
            <a:avLst>
              <a:gd name="adj" fmla="val 5837"/>
            </a:avLst>
          </a:prstGeom>
          <a:solidFill>
            <a:srgbClr val="FFFFFF"/>
          </a:solidFill>
          <a:ln w="12700">
            <a:solidFill>
              <a:srgbClr val="E2DDEB"/>
            </a:solidFill>
            <a:prstDash val="solid"/>
          </a:ln>
        </p:spPr>
        <p:txBody>
          <a:bodyPr/>
          <a:lstStyle/>
          <a:p>
            <a:endParaRPr lang="en-US"/>
          </a:p>
        </p:txBody>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5" name="Text 20"/>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The licensed picture</a:t>
            </a:r>
            <a:endParaRPr lang="en-US" sz="1900" dirty="0"/>
          </a:p>
        </p:txBody>
      </p:sp>
      <p:sp>
        <p:nvSpPr>
          <p:cNvPr id="27" name="Text 22"/>
          <p:cNvSpPr/>
          <p:nvPr/>
        </p:nvSpPr>
        <p:spPr>
          <a:xfrm>
            <a:off x="11612880" y="2805684"/>
            <a:ext cx="5833872" cy="80924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Active and inactive licensed users, sessions, weekly prompts/sessions, prompt/session month-over-month change and weekly active days.</a:t>
            </a:r>
            <a:endParaRPr lang="en-US" sz="1500" dirty="0"/>
          </a:p>
        </p:txBody>
      </p:sp>
      <p:sp>
        <p:nvSpPr>
          <p:cNvPr id="28" name="Shape 23"/>
          <p:cNvSpPr/>
          <p:nvPr/>
        </p:nvSpPr>
        <p:spPr>
          <a:xfrm>
            <a:off x="11384280" y="3925824"/>
            <a:ext cx="6291072" cy="1315212"/>
          </a:xfrm>
          <a:prstGeom prst="roundRect">
            <a:avLst>
              <a:gd name="adj" fmla="val 6952"/>
            </a:avLst>
          </a:prstGeom>
          <a:solidFill>
            <a:srgbClr val="FFFFFF"/>
          </a:solidFill>
          <a:ln w="12700">
            <a:solidFill>
              <a:srgbClr val="E2DDEB"/>
            </a:solidFill>
            <a:prstDash val="solid"/>
          </a:ln>
        </p:spPr>
        <p:txBody>
          <a:bodyPr/>
          <a:lstStyle/>
          <a:p>
            <a:endParaRPr lang="en-US"/>
          </a:p>
        </p:txBody>
      </p:sp>
      <p:sp>
        <p:nvSpPr>
          <p:cNvPr id="29" name="Shape 24"/>
          <p:cNvSpPr/>
          <p:nvPr/>
        </p:nvSpPr>
        <p:spPr>
          <a:xfrm>
            <a:off x="11567160" y="4108704"/>
            <a:ext cx="347472" cy="347472"/>
          </a:xfrm>
          <a:prstGeom prst="ellipse">
            <a:avLst/>
          </a:prstGeom>
          <a:solidFill>
            <a:srgbClr val="008774"/>
          </a:solidFill>
          <a:ln w="25400">
            <a:solidFill>
              <a:srgbClr val="FFFFFF"/>
            </a:solidFill>
            <a:prstDash val="solid"/>
          </a:ln>
        </p:spPr>
        <p:txBody>
          <a:bodyPr/>
          <a:lstStyle/>
          <a:p>
            <a:endParaRPr lang="en-US"/>
          </a:p>
        </p:txBody>
      </p:sp>
      <p:sp>
        <p:nvSpPr>
          <p:cNvPr id="30" name="Text 25"/>
          <p:cNvSpPr/>
          <p:nvPr/>
        </p:nvSpPr>
        <p:spPr>
          <a:xfrm>
            <a:off x="11567160" y="411784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870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Week by week</a:t>
            </a:r>
            <a:endParaRPr lang="en-US" sz="1900" dirty="0"/>
          </a:p>
        </p:txBody>
      </p:sp>
      <p:sp>
        <p:nvSpPr>
          <p:cNvPr id="32" name="Text 27"/>
          <p:cNvSpPr/>
          <p:nvPr/>
        </p:nvSpPr>
        <p:spPr>
          <a:xfrm>
            <a:off x="11612880" y="4518660"/>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Active users and sessions per user, so you can see growth and depth together.</a:t>
            </a:r>
            <a:endParaRPr lang="en-US" sz="1500" dirty="0"/>
          </a:p>
        </p:txBody>
      </p:sp>
      <p:sp>
        <p:nvSpPr>
          <p:cNvPr id="33" name="Shape 28"/>
          <p:cNvSpPr/>
          <p:nvPr/>
        </p:nvSpPr>
        <p:spPr>
          <a:xfrm>
            <a:off x="11384280" y="5387340"/>
            <a:ext cx="6291072" cy="1315212"/>
          </a:xfrm>
          <a:prstGeom prst="roundRect">
            <a:avLst>
              <a:gd name="adj" fmla="val 6952"/>
            </a:avLst>
          </a:prstGeom>
          <a:solidFill>
            <a:srgbClr val="FFFFFF"/>
          </a:solidFill>
          <a:ln w="12700">
            <a:solidFill>
              <a:srgbClr val="E2DDEB"/>
            </a:solidFill>
            <a:prstDash val="solid"/>
          </a:ln>
        </p:spPr>
        <p:txBody>
          <a:bodyPr/>
          <a:lstStyle/>
          <a:p>
            <a:endParaRPr lang="en-US"/>
          </a:p>
        </p:txBody>
      </p:sp>
      <p:sp>
        <p:nvSpPr>
          <p:cNvPr id="34" name="Shape 29"/>
          <p:cNvSpPr/>
          <p:nvPr/>
        </p:nvSpPr>
        <p:spPr>
          <a:xfrm>
            <a:off x="11567160" y="5570220"/>
            <a:ext cx="347472" cy="347472"/>
          </a:xfrm>
          <a:prstGeom prst="ellipse">
            <a:avLst/>
          </a:prstGeom>
          <a:solidFill>
            <a:srgbClr val="BF5B25"/>
          </a:solidFill>
          <a:ln w="25400">
            <a:solidFill>
              <a:srgbClr val="FFFFFF"/>
            </a:solidFill>
            <a:prstDash val="solid"/>
          </a:ln>
        </p:spPr>
        <p:txBody>
          <a:bodyPr/>
          <a:lstStyle/>
          <a:p>
            <a:endParaRPr lang="en-US"/>
          </a:p>
        </p:txBody>
      </p:sp>
      <p:sp>
        <p:nvSpPr>
          <p:cNvPr id="35" name="Text 30"/>
          <p:cNvSpPr/>
          <p:nvPr/>
        </p:nvSpPr>
        <p:spPr>
          <a:xfrm>
            <a:off x="11567160" y="557936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57022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From top users to light users</a:t>
            </a:r>
            <a:endParaRPr lang="en-US" sz="1900" dirty="0"/>
          </a:p>
        </p:txBody>
      </p:sp>
      <p:sp>
        <p:nvSpPr>
          <p:cNvPr id="37" name="Text 32"/>
          <p:cNvSpPr/>
          <p:nvPr/>
        </p:nvSpPr>
        <p:spPr>
          <a:xfrm>
            <a:off x="11612880" y="5980176"/>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Weekly prompts and sessions by dynamic band. Distinct prompts per active week set the bands for the selected dates and population.</a:t>
            </a:r>
            <a:endParaRPr lang="en-US" sz="1500" dirty="0"/>
          </a:p>
        </p:txBody>
      </p:sp>
      <p:sp>
        <p:nvSpPr>
          <p:cNvPr id="38" name="Shape 33"/>
          <p:cNvSpPr/>
          <p:nvPr/>
        </p:nvSpPr>
        <p:spPr>
          <a:xfrm>
            <a:off x="11384280" y="6848856"/>
            <a:ext cx="6291072" cy="1315212"/>
          </a:xfrm>
          <a:prstGeom prst="roundRect">
            <a:avLst>
              <a:gd name="adj" fmla="val 6952"/>
            </a:avLst>
          </a:prstGeom>
          <a:solidFill>
            <a:srgbClr val="FFFFFF"/>
          </a:solidFill>
          <a:ln w="12700">
            <a:solidFill>
              <a:srgbClr val="E2DDEB"/>
            </a:solidFill>
            <a:prstDash val="solid"/>
          </a:ln>
        </p:spPr>
        <p:txBody>
          <a:bodyPr/>
          <a:lstStyle/>
          <a:p>
            <a:endParaRPr lang="en-US"/>
          </a:p>
        </p:txBody>
      </p:sp>
      <p:sp>
        <p:nvSpPr>
          <p:cNvPr id="39" name="Shape 34"/>
          <p:cNvSpPr/>
          <p:nvPr/>
        </p:nvSpPr>
        <p:spPr>
          <a:xfrm>
            <a:off x="11567160" y="7031736"/>
            <a:ext cx="347472" cy="347472"/>
          </a:xfrm>
          <a:prstGeom prst="ellipse">
            <a:avLst/>
          </a:prstGeom>
          <a:solidFill>
            <a:srgbClr val="4268B2"/>
          </a:solidFill>
          <a:ln w="25400">
            <a:solidFill>
              <a:srgbClr val="FFFFFF"/>
            </a:solidFill>
            <a:prstDash val="solid"/>
          </a:ln>
        </p:spPr>
        <p:txBody>
          <a:bodyPr/>
          <a:lstStyle/>
          <a:p>
            <a:endParaRPr lang="en-US"/>
          </a:p>
        </p:txBody>
      </p:sp>
      <p:sp>
        <p:nvSpPr>
          <p:cNvPr id="40" name="Text 35"/>
          <p:cNvSpPr/>
          <p:nvPr/>
        </p:nvSpPr>
        <p:spPr>
          <a:xfrm>
            <a:off x="11567160" y="7040880"/>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031736"/>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Which apps</a:t>
            </a:r>
            <a:endParaRPr lang="en-US" sz="1900" dirty="0"/>
          </a:p>
        </p:txBody>
      </p:sp>
      <p:sp>
        <p:nvSpPr>
          <p:cNvPr id="42" name="Text 37"/>
          <p:cNvSpPr/>
          <p:nvPr/>
        </p:nvSpPr>
        <p:spPr>
          <a:xfrm>
            <a:off x="11612880" y="7441692"/>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Friendly product names, including M365 Copilot Chat. Hover for raw app values.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4" name="Text 39"/>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Licensed people are using Copilot week after week, and here's where it shows up in their day.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09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2 · IS IT BECOMING A HABIT?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Copilot Chat: regular use without a license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The three report tabs are explicitly named Copilot Chat (Unlicensed).</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Copilot Chat: Usage Trends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5" y="3980758"/>
            <a:ext cx="8152882" cy="555384"/>
          </a:xfrm>
          <a:prstGeom prst="roundRect">
            <a:avLst>
              <a:gd name="adj" fmla="val 8232"/>
            </a:avLst>
          </a:prstGeom>
          <a:ln w="22225">
            <a:solidFill>
              <a:srgbClr val="7953B8"/>
            </a:solidFill>
            <a:prstDash val="solid"/>
          </a:ln>
        </p:spPr>
        <p:txBody>
          <a:bodyPr/>
          <a:lstStyle/>
          <a:p>
            <a:endParaRPr lang="en-US"/>
          </a:p>
        </p:txBody>
      </p:sp>
      <p:sp>
        <p:nvSpPr>
          <p:cNvPr id="12" name="Shape 7"/>
          <p:cNvSpPr/>
          <p:nvPr/>
        </p:nvSpPr>
        <p:spPr>
          <a:xfrm>
            <a:off x="767547" y="3797878"/>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3807022"/>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690415"/>
            <a:ext cx="4051432" cy="1758715"/>
          </a:xfrm>
          <a:prstGeom prst="roundRect">
            <a:avLst>
              <a:gd name="adj" fmla="val 2600"/>
            </a:avLst>
          </a:prstGeom>
          <a:ln w="22225">
            <a:solidFill>
              <a:srgbClr val="008774"/>
            </a:solidFill>
            <a:prstDash val="solid"/>
          </a:ln>
        </p:spPr>
        <p:txBody>
          <a:bodyPr/>
          <a:lstStyle/>
          <a:p>
            <a:endParaRPr lang="en-US"/>
          </a:p>
        </p:txBody>
      </p:sp>
      <p:sp>
        <p:nvSpPr>
          <p:cNvPr id="15" name="Shape 10"/>
          <p:cNvSpPr/>
          <p:nvPr/>
        </p:nvSpPr>
        <p:spPr>
          <a:xfrm>
            <a:off x="767547" y="4507535"/>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767547" y="4516679"/>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5070165" y="6603404"/>
            <a:ext cx="4051432" cy="1912989"/>
          </a:xfrm>
          <a:prstGeom prst="roundRect">
            <a:avLst>
              <a:gd name="adj" fmla="val 2390"/>
            </a:avLst>
          </a:prstGeom>
          <a:ln w="22225">
            <a:solidFill>
              <a:srgbClr val="BF5B25"/>
            </a:solidFill>
            <a:prstDash val="solid"/>
          </a:ln>
        </p:spPr>
        <p:txBody>
          <a:bodyPr/>
          <a:lstStyle/>
          <a:p>
            <a:endParaRPr lang="en-US"/>
          </a:p>
        </p:txBody>
      </p:sp>
      <p:sp>
        <p:nvSpPr>
          <p:cNvPr id="18" name="Shape 13"/>
          <p:cNvSpPr/>
          <p:nvPr/>
        </p:nvSpPr>
        <p:spPr>
          <a:xfrm>
            <a:off x="4868997" y="6420524"/>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4868997" y="6429668"/>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5070165" y="4690415"/>
            <a:ext cx="4051432" cy="1758715"/>
          </a:xfrm>
          <a:prstGeom prst="roundRect">
            <a:avLst>
              <a:gd name="adj" fmla="val 2600"/>
            </a:avLst>
          </a:prstGeom>
          <a:ln w="22225">
            <a:solidFill>
              <a:srgbClr val="4268B2"/>
            </a:solidFill>
            <a:prstDash val="solid"/>
          </a:ln>
        </p:spPr>
        <p:txBody>
          <a:bodyPr/>
          <a:lstStyle/>
          <a:p>
            <a:endParaRPr lang="en-US"/>
          </a:p>
        </p:txBody>
      </p:sp>
      <p:sp>
        <p:nvSpPr>
          <p:cNvPr id="21" name="Shape 16"/>
          <p:cNvSpPr/>
          <p:nvPr/>
        </p:nvSpPr>
        <p:spPr>
          <a:xfrm>
            <a:off x="4868997" y="4507535"/>
            <a:ext cx="329184" cy="329184"/>
          </a:xfrm>
          <a:prstGeom prst="ellipse">
            <a:avLst/>
          </a:prstGeom>
          <a:solidFill>
            <a:srgbClr val="4268B2"/>
          </a:solidFill>
          <a:ln w="25400">
            <a:solidFill>
              <a:srgbClr val="FFFFFF"/>
            </a:solidFill>
            <a:prstDash val="solid"/>
          </a:ln>
        </p:spPr>
        <p:txBody>
          <a:bodyPr/>
          <a:lstStyle/>
          <a:p>
            <a:endParaRPr lang="en-US"/>
          </a:p>
        </p:txBody>
      </p:sp>
      <p:sp>
        <p:nvSpPr>
          <p:cNvPr id="22" name="Text 17"/>
          <p:cNvSpPr/>
          <p:nvPr/>
        </p:nvSpPr>
        <p:spPr>
          <a:xfrm>
            <a:off x="4868997" y="4516679"/>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5" name="Text 20"/>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Who uses chat</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Chat users, weekly prompts and sessions per user, prompt/session month-over-month change and weekly active days.</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txBody>
          <a:bodyPr/>
          <a:lstStyle/>
          <a:p>
            <a:endParaRPr lang="en-US"/>
          </a:p>
        </p:txBody>
      </p:sp>
      <p:sp>
        <p:nvSpPr>
          <p:cNvPr id="30" name="Text 25"/>
          <p:cNvSpPr/>
          <p:nvPr/>
        </p:nvSpPr>
        <p:spPr>
          <a:xfrm>
            <a:off x="11567160" y="411251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Usage trend</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Active users and weekly sessions per user for people without a Copilot license.</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txBody>
          <a:bodyPr/>
          <a:lstStyle/>
          <a:p>
            <a:endParaRPr lang="en-US"/>
          </a:p>
        </p:txBody>
      </p:sp>
      <p:sp>
        <p:nvSpPr>
          <p:cNvPr id="35" name="Text 30"/>
          <p:cNvSpPr/>
          <p:nvPr/>
        </p:nvSpPr>
        <p:spPr>
          <a:xfrm>
            <a:off x="11567160" y="5820156"/>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Same-day repeat use</a:t>
            </a:r>
            <a:endParaRPr lang="en-US" sz="1900" dirty="0"/>
          </a:p>
        </p:txBody>
      </p:sp>
      <p:sp>
        <p:nvSpPr>
          <p:cNvPr id="37" name="Text 32"/>
          <p:cNvSpPr/>
          <p:nvPr/>
        </p:nvSpPr>
        <p:spPr>
          <a:xfrm>
            <a:off x="11612880" y="6220968"/>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The daily share of active people who had more than one chat session that day.</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txBody>
          <a:bodyPr/>
          <a:lstStyle/>
          <a:p>
            <a:endParaRPr lang="en-US"/>
          </a:p>
        </p:txBody>
      </p:sp>
      <p:sp>
        <p:nvSpPr>
          <p:cNvPr id="40" name="Text 35"/>
          <p:cNvSpPr/>
          <p:nvPr/>
        </p:nvSpPr>
        <p:spPr>
          <a:xfrm>
            <a:off x="11567160" y="752779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By department</a:t>
            </a:r>
            <a:endParaRPr lang="en-US" sz="1900" dirty="0"/>
          </a:p>
        </p:txBody>
      </p:sp>
      <p:sp>
        <p:nvSpPr>
          <p:cNvPr id="42" name="Text 37"/>
          <p:cNvSpPr/>
          <p:nvPr/>
        </p:nvSpPr>
        <p:spPr>
          <a:xfrm>
            <a:off x="11612880" y="7928610"/>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Weekly chat sessions per user, so you can compare teams of different sizes.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4" name="Text 39"/>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Many people already use Copilot Chat regularly, and some come back several times a day.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10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3 · WHAT AGENTS ARE DOING</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Agents: who tries them, and who comes back</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Agents: Usage Trends shows reach and repeat use across every agent.</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Agents: Usage Trends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5" y="3857340"/>
            <a:ext cx="2851008" cy="863981"/>
          </a:xfrm>
          <a:prstGeom prst="roundRect">
            <a:avLst>
              <a:gd name="adj" fmla="val 6443"/>
            </a:avLst>
          </a:prstGeom>
          <a:ln w="22225">
            <a:solidFill>
              <a:srgbClr val="7953B8"/>
            </a:solidFill>
            <a:prstDash val="solid"/>
          </a:ln>
        </p:spPr>
        <p:txBody>
          <a:bodyPr/>
          <a:lstStyle/>
          <a:p>
            <a:endParaRPr lang="en-US"/>
          </a:p>
        </p:txBody>
      </p:sp>
      <p:sp>
        <p:nvSpPr>
          <p:cNvPr id="12" name="Shape 7"/>
          <p:cNvSpPr/>
          <p:nvPr/>
        </p:nvSpPr>
        <p:spPr>
          <a:xfrm>
            <a:off x="767547" y="3674460"/>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3683604"/>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3869741" y="3857340"/>
            <a:ext cx="5274259" cy="863981"/>
          </a:xfrm>
          <a:prstGeom prst="roundRect">
            <a:avLst>
              <a:gd name="adj" fmla="val 7409"/>
            </a:avLst>
          </a:prstGeom>
          <a:ln w="22225">
            <a:solidFill>
              <a:srgbClr val="008774"/>
            </a:solidFill>
            <a:prstDash val="solid"/>
          </a:ln>
        </p:spPr>
        <p:txBody>
          <a:bodyPr/>
          <a:lstStyle/>
          <a:p>
            <a:endParaRPr lang="en-US"/>
          </a:p>
        </p:txBody>
      </p:sp>
      <p:sp>
        <p:nvSpPr>
          <p:cNvPr id="15" name="Shape 10"/>
          <p:cNvSpPr/>
          <p:nvPr/>
        </p:nvSpPr>
        <p:spPr>
          <a:xfrm>
            <a:off x="3668573" y="3674460"/>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3668573" y="3683604"/>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968715" y="4813885"/>
            <a:ext cx="4001414" cy="1604391"/>
          </a:xfrm>
          <a:prstGeom prst="roundRect">
            <a:avLst>
              <a:gd name="adj" fmla="val 2470"/>
            </a:avLst>
          </a:prstGeom>
          <a:ln w="22225">
            <a:solidFill>
              <a:srgbClr val="BF5B25"/>
            </a:solidFill>
            <a:prstDash val="solid"/>
          </a:ln>
        </p:spPr>
        <p:txBody>
          <a:bodyPr/>
          <a:lstStyle/>
          <a:p>
            <a:endParaRPr lang="en-US"/>
          </a:p>
        </p:txBody>
      </p:sp>
      <p:sp>
        <p:nvSpPr>
          <p:cNvPr id="18" name="Shape 13"/>
          <p:cNvSpPr/>
          <p:nvPr/>
        </p:nvSpPr>
        <p:spPr>
          <a:xfrm>
            <a:off x="779579" y="4600693"/>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779579" y="4609837"/>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26808" y="6527482"/>
            <a:ext cx="7780972" cy="1848422"/>
          </a:xfrm>
          <a:prstGeom prst="roundRect">
            <a:avLst>
              <a:gd name="adj" fmla="val 2315"/>
            </a:avLst>
          </a:prstGeom>
          <a:ln w="22225">
            <a:solidFill>
              <a:srgbClr val="4268B2"/>
            </a:solidFill>
            <a:prstDash val="solid"/>
          </a:ln>
        </p:spPr>
        <p:txBody>
          <a:bodyPr/>
          <a:lstStyle/>
          <a:p>
            <a:endParaRPr lang="en-US"/>
          </a:p>
        </p:txBody>
      </p:sp>
      <p:sp>
        <p:nvSpPr>
          <p:cNvPr id="21" name="Shape 16"/>
          <p:cNvSpPr/>
          <p:nvPr/>
        </p:nvSpPr>
        <p:spPr>
          <a:xfrm>
            <a:off x="772192" y="6362890"/>
            <a:ext cx="329184" cy="329184"/>
          </a:xfrm>
          <a:prstGeom prst="ellipse">
            <a:avLst/>
          </a:prstGeom>
          <a:solidFill>
            <a:srgbClr val="4268B2"/>
          </a:solidFill>
          <a:ln w="25400">
            <a:solidFill>
              <a:srgbClr val="FFFFFF"/>
            </a:solidFill>
            <a:prstDash val="solid"/>
          </a:ln>
        </p:spPr>
        <p:txBody>
          <a:bodyPr/>
          <a:lstStyle/>
          <a:p>
            <a:endParaRPr lang="en-US"/>
          </a:p>
        </p:txBody>
      </p:sp>
      <p:sp>
        <p:nvSpPr>
          <p:cNvPr id="22" name="Text 17"/>
          <p:cNvSpPr/>
          <p:nvPr/>
        </p:nvSpPr>
        <p:spPr>
          <a:xfrm>
            <a:off x="772192" y="6362890"/>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5" name="Text 20"/>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The leaders</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Most users and organizations show ties. Top builder remains stable when one agent is selected.</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txBody>
          <a:bodyPr/>
          <a:lstStyle/>
          <a:p>
            <a:endParaRPr lang="en-US"/>
          </a:p>
        </p:txBody>
      </p:sp>
      <p:sp>
        <p:nvSpPr>
          <p:cNvPr id="30" name="Text 25"/>
          <p:cNvSpPr/>
          <p:nvPr/>
        </p:nvSpPr>
        <p:spPr>
          <a:xfrm>
            <a:off x="11567160" y="411251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The headline numbers</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Active agents = matched + activity-only + ambiguous. All counts share your scope.</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txBody>
          <a:bodyPr/>
          <a:lstStyle/>
          <a:p>
            <a:endParaRPr lang="en-US"/>
          </a:p>
        </p:txBody>
      </p:sp>
      <p:sp>
        <p:nvSpPr>
          <p:cNvPr id="35" name="Text 30"/>
          <p:cNvSpPr/>
          <p:nvPr/>
        </p:nvSpPr>
        <p:spPr>
          <a:xfrm>
            <a:off x="11567160" y="5820156"/>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Growth over time</a:t>
            </a:r>
            <a:endParaRPr lang="en-US" sz="1900" dirty="0"/>
          </a:p>
        </p:txBody>
      </p:sp>
      <p:sp>
        <p:nvSpPr>
          <p:cNvPr id="37" name="Text 32"/>
          <p:cNvSpPr/>
          <p:nvPr/>
        </p:nvSpPr>
        <p:spPr>
          <a:xfrm>
            <a:off x="11612880" y="6220968"/>
            <a:ext cx="5833872" cy="30632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Agent users and sessions over the selected dates.</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txBody>
          <a:bodyPr/>
          <a:lstStyle/>
          <a:p>
            <a:endParaRPr lang="en-US"/>
          </a:p>
        </p:txBody>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txBody>
          <a:bodyPr/>
          <a:lstStyle/>
          <a:p>
            <a:endParaRPr lang="en-US"/>
          </a:p>
        </p:txBody>
      </p:sp>
      <p:sp>
        <p:nvSpPr>
          <p:cNvPr id="40" name="Text 35"/>
          <p:cNvSpPr/>
          <p:nvPr/>
        </p:nvSpPr>
        <p:spPr>
          <a:xfrm>
            <a:off x="11567160" y="752779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Weekly usage rank and Top 5</a:t>
            </a:r>
            <a:endParaRPr lang="en-US" sz="1900" dirty="0"/>
          </a:p>
        </p:txBody>
      </p:sp>
      <p:sp>
        <p:nvSpPr>
          <p:cNvPr id="42" name="Text 37"/>
          <p:cNvSpPr/>
          <p:nvPr/>
        </p:nvSpPr>
        <p:spPr>
          <a:xfrm>
            <a:off x="11612880" y="7928610"/>
            <a:ext cx="5833872" cy="30632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Weekly prompts/sessions; hover Top 5 for type and description.</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4" name="Text 39"/>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Use Cases now ranks eligible agents by repeat use and conversation depth, not session volume alone. Read the score as a conversation starter.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11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3 · WHAT AGENTS ARE DOING</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Decide which agents need a conversation</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Platform and catalog status are separate; system agents are excluded by default.</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Agents Health Check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5" y="4968107"/>
            <a:ext cx="5852069" cy="2715210"/>
          </a:xfrm>
          <a:prstGeom prst="roundRect">
            <a:avLst>
              <a:gd name="adj" fmla="val 1684"/>
            </a:avLst>
          </a:prstGeom>
          <a:ln w="22225">
            <a:solidFill>
              <a:srgbClr val="7953B8"/>
            </a:solidFill>
            <a:prstDash val="solid"/>
          </a:ln>
        </p:spPr>
        <p:txBody>
          <a:bodyPr/>
          <a:lstStyle/>
          <a:p>
            <a:endParaRPr lang="en-US"/>
          </a:p>
        </p:txBody>
      </p:sp>
      <p:sp>
        <p:nvSpPr>
          <p:cNvPr id="12" name="Shape 7"/>
          <p:cNvSpPr/>
          <p:nvPr/>
        </p:nvSpPr>
        <p:spPr>
          <a:xfrm>
            <a:off x="767547" y="4785227"/>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4794371"/>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6870802" y="6078875"/>
            <a:ext cx="2273198" cy="1172317"/>
          </a:xfrm>
          <a:prstGeom prst="roundRect">
            <a:avLst>
              <a:gd name="adj" fmla="val 4234"/>
            </a:avLst>
          </a:prstGeom>
          <a:ln w="22225">
            <a:solidFill>
              <a:srgbClr val="008774"/>
            </a:solidFill>
            <a:prstDash val="solid"/>
          </a:ln>
        </p:spPr>
        <p:txBody>
          <a:bodyPr/>
          <a:lstStyle/>
          <a:p>
            <a:endParaRPr lang="en-US"/>
          </a:p>
        </p:txBody>
      </p:sp>
      <p:sp>
        <p:nvSpPr>
          <p:cNvPr id="15" name="Shape 10"/>
          <p:cNvSpPr/>
          <p:nvPr/>
        </p:nvSpPr>
        <p:spPr>
          <a:xfrm>
            <a:off x="6669634" y="5895995"/>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6669634" y="5905139"/>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11384280" y="2212848"/>
            <a:ext cx="6291072" cy="1243584"/>
          </a:xfrm>
          <a:prstGeom prst="roundRect">
            <a:avLst>
              <a:gd name="adj" fmla="val 7353"/>
            </a:avLst>
          </a:prstGeom>
          <a:solidFill>
            <a:srgbClr val="FFFFFF"/>
          </a:solidFill>
          <a:ln w="12700">
            <a:solidFill>
              <a:srgbClr val="E2DDEB"/>
            </a:solidFill>
            <a:prstDash val="solid"/>
          </a:ln>
        </p:spPr>
        <p:txBody>
          <a:bodyPr/>
          <a:lstStyle/>
          <a:p>
            <a:endParaRPr lang="en-US"/>
          </a:p>
        </p:txBody>
      </p:sp>
      <p:sp>
        <p:nvSpPr>
          <p:cNvPr id="18" name="Shape 13"/>
          <p:cNvSpPr/>
          <p:nvPr/>
        </p:nvSpPr>
        <p:spPr>
          <a:xfrm>
            <a:off x="11384280" y="2377440"/>
            <a:ext cx="82296" cy="914400"/>
          </a:xfrm>
          <a:prstGeom prst="rect">
            <a:avLst/>
          </a:prstGeom>
          <a:solidFill>
            <a:srgbClr val="008774"/>
          </a:solidFill>
          <a:ln/>
        </p:spPr>
        <p:txBody>
          <a:bodyPr/>
          <a:lstStyle/>
          <a:p>
            <a:endParaRPr lang="en-US"/>
          </a:p>
        </p:txBody>
      </p:sp>
      <p:sp>
        <p:nvSpPr>
          <p:cNvPr id="19" name="Text 14"/>
          <p:cNvSpPr/>
          <p:nvPr/>
        </p:nvSpPr>
        <p:spPr>
          <a:xfrm>
            <a:off x="11704320" y="2359152"/>
            <a:ext cx="5760720" cy="384048"/>
          </a:xfrm>
          <a:prstGeom prst="rect">
            <a:avLst/>
          </a:prstGeom>
          <a:noFill/>
          <a:ln/>
        </p:spPr>
        <p:txBody>
          <a:bodyPr wrap="square" lIns="0" tIns="0" rIns="0" bIns="0" rtlCol="0" anchor="ctr"/>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High impact</a:t>
            </a:r>
            <a:endParaRPr lang="en-US" sz="1900" dirty="0"/>
          </a:p>
        </p:txBody>
      </p:sp>
      <p:sp>
        <p:nvSpPr>
          <p:cNvPr id="20" name="Text 15"/>
          <p:cNvSpPr/>
          <p:nvPr/>
        </p:nvSpPr>
        <p:spPr>
          <a:xfrm>
            <a:off x="11704320" y="2761488"/>
            <a:ext cx="5760720" cy="566928"/>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Reaches many users and organizations for its type.</a:t>
            </a:r>
            <a:endParaRPr lang="en-US" sz="1450" dirty="0"/>
          </a:p>
        </p:txBody>
      </p:sp>
      <p:sp>
        <p:nvSpPr>
          <p:cNvPr id="21" name="Shape 16"/>
          <p:cNvSpPr/>
          <p:nvPr/>
        </p:nvSpPr>
        <p:spPr>
          <a:xfrm>
            <a:off x="11384280" y="3584448"/>
            <a:ext cx="6291072" cy="1243584"/>
          </a:xfrm>
          <a:prstGeom prst="roundRect">
            <a:avLst>
              <a:gd name="adj" fmla="val 7353"/>
            </a:avLst>
          </a:prstGeom>
          <a:solidFill>
            <a:srgbClr val="FFFFFF"/>
          </a:solidFill>
          <a:ln w="12700">
            <a:solidFill>
              <a:srgbClr val="E2DDEB"/>
            </a:solidFill>
            <a:prstDash val="solid"/>
          </a:ln>
        </p:spPr>
        <p:txBody>
          <a:bodyPr/>
          <a:lstStyle/>
          <a:p>
            <a:endParaRPr lang="en-US"/>
          </a:p>
        </p:txBody>
      </p:sp>
      <p:sp>
        <p:nvSpPr>
          <p:cNvPr id="22" name="Shape 17"/>
          <p:cNvSpPr/>
          <p:nvPr/>
        </p:nvSpPr>
        <p:spPr>
          <a:xfrm>
            <a:off x="11384280" y="3749040"/>
            <a:ext cx="82296" cy="914400"/>
          </a:xfrm>
          <a:prstGeom prst="rect">
            <a:avLst/>
          </a:prstGeom>
          <a:solidFill>
            <a:srgbClr val="4268B2"/>
          </a:solidFill>
          <a:ln/>
        </p:spPr>
        <p:txBody>
          <a:bodyPr/>
          <a:lstStyle/>
          <a:p>
            <a:endParaRPr lang="en-US"/>
          </a:p>
        </p:txBody>
      </p:sp>
      <p:sp>
        <p:nvSpPr>
          <p:cNvPr id="23" name="Text 18"/>
          <p:cNvSpPr/>
          <p:nvPr/>
        </p:nvSpPr>
        <p:spPr>
          <a:xfrm>
            <a:off x="11704320" y="3730752"/>
            <a:ext cx="5760720" cy="384048"/>
          </a:xfrm>
          <a:prstGeom prst="rect">
            <a:avLst/>
          </a:prstGeom>
          <a:noFill/>
          <a:ln/>
        </p:spPr>
        <p:txBody>
          <a:bodyPr wrap="square" lIns="0" tIns="0" rIns="0" bIns="0" rtlCol="0" anchor="ctr"/>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Keep</a:t>
            </a:r>
            <a:endParaRPr lang="en-US" sz="1900" dirty="0"/>
          </a:p>
        </p:txBody>
      </p:sp>
      <p:sp>
        <p:nvSpPr>
          <p:cNvPr id="24" name="Text 19"/>
          <p:cNvSpPr/>
          <p:nvPr/>
        </p:nvSpPr>
        <p:spPr>
          <a:xfrm>
            <a:off x="11704320" y="4133088"/>
            <a:ext cx="5760720" cy="566928"/>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Used recently, without reaching the high-impact thresholds.</a:t>
            </a:r>
            <a:endParaRPr lang="en-US" sz="1450" dirty="0"/>
          </a:p>
        </p:txBody>
      </p:sp>
      <p:sp>
        <p:nvSpPr>
          <p:cNvPr id="25" name="Shape 20"/>
          <p:cNvSpPr/>
          <p:nvPr/>
        </p:nvSpPr>
        <p:spPr>
          <a:xfrm>
            <a:off x="11384280" y="4956048"/>
            <a:ext cx="6291072" cy="1243584"/>
          </a:xfrm>
          <a:prstGeom prst="roundRect">
            <a:avLst>
              <a:gd name="adj" fmla="val 7353"/>
            </a:avLst>
          </a:prstGeom>
          <a:solidFill>
            <a:srgbClr val="FFFFFF"/>
          </a:solidFill>
          <a:ln w="12700">
            <a:solidFill>
              <a:srgbClr val="E2DDEB"/>
            </a:solidFill>
            <a:prstDash val="solid"/>
          </a:ln>
        </p:spPr>
        <p:txBody>
          <a:bodyPr/>
          <a:lstStyle/>
          <a:p>
            <a:endParaRPr lang="en-US"/>
          </a:p>
        </p:txBody>
      </p:sp>
      <p:sp>
        <p:nvSpPr>
          <p:cNvPr id="26" name="Shape 21"/>
          <p:cNvSpPr/>
          <p:nvPr/>
        </p:nvSpPr>
        <p:spPr>
          <a:xfrm>
            <a:off x="11384280" y="5120640"/>
            <a:ext cx="82296" cy="914400"/>
          </a:xfrm>
          <a:prstGeom prst="rect">
            <a:avLst/>
          </a:prstGeom>
          <a:solidFill>
            <a:srgbClr val="BF5B25"/>
          </a:solidFill>
          <a:ln/>
        </p:spPr>
        <p:txBody>
          <a:bodyPr/>
          <a:lstStyle/>
          <a:p>
            <a:endParaRPr lang="en-US"/>
          </a:p>
        </p:txBody>
      </p:sp>
      <p:sp>
        <p:nvSpPr>
          <p:cNvPr id="27" name="Text 22"/>
          <p:cNvSpPr/>
          <p:nvPr/>
        </p:nvSpPr>
        <p:spPr>
          <a:xfrm>
            <a:off x="11704320" y="5102352"/>
            <a:ext cx="5760720" cy="384048"/>
          </a:xfrm>
          <a:prstGeom prst="rect">
            <a:avLst/>
          </a:prstGeom>
          <a:noFill/>
          <a:ln/>
        </p:spPr>
        <p:txBody>
          <a:bodyPr wrap="square" lIns="0" tIns="0" rIns="0" bIns="0" rtlCol="0" anchor="ctr"/>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Review</a:t>
            </a:r>
            <a:endParaRPr lang="en-US" sz="1900" dirty="0"/>
          </a:p>
        </p:txBody>
      </p:sp>
      <p:sp>
        <p:nvSpPr>
          <p:cNvPr id="28" name="Text 23"/>
          <p:cNvSpPr/>
          <p:nvPr/>
        </p:nvSpPr>
        <p:spPr>
          <a:xfrm>
            <a:off x="11704320" y="5504688"/>
            <a:ext cx="5760720" cy="566928"/>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Last used more than 60 days before the end of your dates.</a:t>
            </a:r>
            <a:endParaRPr lang="en-US" sz="1450" dirty="0"/>
          </a:p>
        </p:txBody>
      </p:sp>
      <p:sp>
        <p:nvSpPr>
          <p:cNvPr id="29" name="Shape 24"/>
          <p:cNvSpPr/>
          <p:nvPr/>
        </p:nvSpPr>
        <p:spPr>
          <a:xfrm>
            <a:off x="11384280" y="6327648"/>
            <a:ext cx="6291072" cy="1243584"/>
          </a:xfrm>
          <a:prstGeom prst="roundRect">
            <a:avLst>
              <a:gd name="adj" fmla="val 7353"/>
            </a:avLst>
          </a:prstGeom>
          <a:solidFill>
            <a:srgbClr val="FFFFFF"/>
          </a:solidFill>
          <a:ln w="12700">
            <a:solidFill>
              <a:srgbClr val="E2DDEB"/>
            </a:solidFill>
            <a:prstDash val="solid"/>
          </a:ln>
        </p:spPr>
        <p:txBody>
          <a:bodyPr/>
          <a:lstStyle/>
          <a:p>
            <a:endParaRPr lang="en-US"/>
          </a:p>
        </p:txBody>
      </p:sp>
      <p:sp>
        <p:nvSpPr>
          <p:cNvPr id="30" name="Shape 25"/>
          <p:cNvSpPr/>
          <p:nvPr/>
        </p:nvSpPr>
        <p:spPr>
          <a:xfrm>
            <a:off x="11384280" y="6492240"/>
            <a:ext cx="82296" cy="914400"/>
          </a:xfrm>
          <a:prstGeom prst="rect">
            <a:avLst/>
          </a:prstGeom>
          <a:solidFill>
            <a:srgbClr val="52617A"/>
          </a:solidFill>
          <a:ln/>
        </p:spPr>
        <p:txBody>
          <a:bodyPr/>
          <a:lstStyle/>
          <a:p>
            <a:endParaRPr lang="en-US"/>
          </a:p>
        </p:txBody>
      </p:sp>
      <p:sp>
        <p:nvSpPr>
          <p:cNvPr id="31" name="Text 26"/>
          <p:cNvSpPr/>
          <p:nvPr/>
        </p:nvSpPr>
        <p:spPr>
          <a:xfrm>
            <a:off x="11704320" y="6473952"/>
            <a:ext cx="5760720" cy="384048"/>
          </a:xfrm>
          <a:prstGeom prst="rect">
            <a:avLst/>
          </a:prstGeom>
          <a:noFill/>
          <a:ln/>
        </p:spPr>
        <p:txBody>
          <a:bodyPr wrap="square" lIns="0" tIns="0" rIns="0" bIns="0" rtlCol="0" anchor="ctr"/>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No usage</a:t>
            </a:r>
            <a:endParaRPr lang="en-US" sz="1900" dirty="0"/>
          </a:p>
        </p:txBody>
      </p:sp>
      <p:sp>
        <p:nvSpPr>
          <p:cNvPr id="32" name="Text 27"/>
          <p:cNvSpPr/>
          <p:nvPr/>
        </p:nvSpPr>
        <p:spPr>
          <a:xfrm>
            <a:off x="11704320" y="6876288"/>
            <a:ext cx="5760720" cy="566928"/>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No usage is not Dormant. Dormant requires previous use more than 60 days before the selected end date.</a:t>
            </a:r>
            <a:endParaRPr lang="en-US" sz="1450" dirty="0"/>
          </a:p>
        </p:txBody>
      </p:sp>
      <p:sp>
        <p:nvSpPr>
          <p:cNvPr id="33" name="Shape 28"/>
          <p:cNvSpPr/>
          <p:nvPr/>
        </p:nvSpPr>
        <p:spPr>
          <a:xfrm>
            <a:off x="11384280" y="7699248"/>
            <a:ext cx="6291072" cy="1197864"/>
          </a:xfrm>
          <a:prstGeom prst="roundRect">
            <a:avLst>
              <a:gd name="adj" fmla="val 7634"/>
            </a:avLst>
          </a:prstGeom>
          <a:solidFill>
            <a:srgbClr val="ECE5F4"/>
          </a:solidFill>
          <a:ln/>
        </p:spPr>
        <p:txBody>
          <a:bodyPr/>
          <a:lstStyle/>
          <a:p>
            <a:endParaRPr lang="en-US"/>
          </a:p>
        </p:txBody>
      </p:sp>
      <p:sp>
        <p:nvSpPr>
          <p:cNvPr id="34" name="Text 29"/>
          <p:cNvSpPr/>
          <p:nvPr/>
        </p:nvSpPr>
        <p:spPr>
          <a:xfrm>
            <a:off x="11612880" y="7836408"/>
            <a:ext cx="5852160" cy="923544"/>
          </a:xfrm>
          <a:prstGeom prst="rect">
            <a:avLst/>
          </a:prstGeom>
          <a:noFill/>
          <a:ln/>
        </p:spPr>
        <p:txBody>
          <a:bodyPr wrap="square" lIns="0" tIns="0" rIns="0" bIns="0" rtlCol="0" anchor="ctr"/>
          <a:lstStyle/>
          <a:p>
            <a:pPr marL="0" indent="0">
              <a:buNone/>
            </a:pPr>
            <a:r>
              <a:rPr lang="en-US" sz="1350" dirty="0">
                <a:solidFill>
                  <a:srgbClr val="26354A"/>
                </a:solidFill>
                <a:latin typeface="Segoe UI" pitchFamily="34" charset="0"/>
                <a:ea typeface="Segoe UI" pitchFamily="34" charset="-122"/>
                <a:cs typeface="Segoe UI" pitchFamily="34" charset="-120"/>
              </a:rPr>
              <a:t>Security Copilot shows "Usage not tracked here". Include system agents defaults to No; neither group is a review target. Other review labels follow your people and dates.</a:t>
            </a:r>
            <a:endParaRPr lang="en-US" sz="1350" dirty="0"/>
          </a:p>
        </p:txBody>
      </p:sp>
      <p:sp>
        <p:nvSpPr>
          <p:cNvPr id="35" name="Shape 30"/>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36" name="Text 31"/>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7" name="Text 32"/>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The Creator filter includes matching catalog agents with no usage, while numeric activity keeps its disclosure rules.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12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3 · WHAT AGENTS ARE DOING</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Zoom in on one agent</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Agent Details adds type and catalog status. Duplicate names use short ID suffixes.</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Agent Details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1006792" y="4340904"/>
            <a:ext cx="9501188" cy="535324"/>
          </a:xfrm>
          <a:prstGeom prst="roundRect">
            <a:avLst>
              <a:gd name="adj" fmla="val 7056"/>
            </a:avLst>
          </a:prstGeom>
          <a:ln w="22225">
            <a:solidFill>
              <a:srgbClr val="7953B8"/>
            </a:solidFill>
            <a:prstDash val="solid"/>
          </a:ln>
        </p:spPr>
        <p:txBody>
          <a:bodyPr/>
          <a:lstStyle/>
          <a:p>
            <a:endParaRPr lang="en-US"/>
          </a:p>
        </p:txBody>
      </p:sp>
      <p:sp>
        <p:nvSpPr>
          <p:cNvPr id="12" name="Shape 7"/>
          <p:cNvSpPr/>
          <p:nvPr/>
        </p:nvSpPr>
        <p:spPr>
          <a:xfrm>
            <a:off x="772192" y="4176312"/>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72192" y="4176312"/>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1006792" y="4913147"/>
            <a:ext cx="5700712" cy="1439837"/>
          </a:xfrm>
          <a:prstGeom prst="roundRect">
            <a:avLst>
              <a:gd name="adj" fmla="val 3087"/>
            </a:avLst>
          </a:prstGeom>
          <a:ln w="22225">
            <a:solidFill>
              <a:srgbClr val="008774"/>
            </a:solidFill>
            <a:prstDash val="solid"/>
          </a:ln>
        </p:spPr>
        <p:txBody>
          <a:bodyPr/>
          <a:lstStyle/>
          <a:p>
            <a:endParaRPr lang="en-US"/>
          </a:p>
        </p:txBody>
      </p:sp>
      <p:sp>
        <p:nvSpPr>
          <p:cNvPr id="15" name="Shape 10"/>
          <p:cNvSpPr/>
          <p:nvPr/>
        </p:nvSpPr>
        <p:spPr>
          <a:xfrm>
            <a:off x="772192" y="4748555"/>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772192" y="4748555"/>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6767512" y="4913147"/>
            <a:ext cx="3740468" cy="3285782"/>
          </a:xfrm>
          <a:prstGeom prst="roundRect">
            <a:avLst>
              <a:gd name="adj" fmla="val 1425"/>
            </a:avLst>
          </a:prstGeom>
          <a:ln w="22225">
            <a:solidFill>
              <a:srgbClr val="BF5B25"/>
            </a:solidFill>
            <a:prstDash val="solid"/>
          </a:ln>
        </p:spPr>
        <p:txBody>
          <a:bodyPr/>
          <a:lstStyle/>
          <a:p>
            <a:endParaRPr lang="en-US"/>
          </a:p>
        </p:txBody>
      </p:sp>
      <p:sp>
        <p:nvSpPr>
          <p:cNvPr id="18" name="Shape 13"/>
          <p:cNvSpPr/>
          <p:nvPr/>
        </p:nvSpPr>
        <p:spPr>
          <a:xfrm>
            <a:off x="6602920" y="4637799"/>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6602920" y="4637799"/>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384280" y="2212848"/>
            <a:ext cx="6291072" cy="1315212"/>
          </a:xfrm>
          <a:prstGeom prst="roundRect">
            <a:avLst>
              <a:gd name="adj" fmla="val 6952"/>
            </a:avLst>
          </a:prstGeom>
          <a:solidFill>
            <a:srgbClr val="FFFFFF"/>
          </a:solidFill>
          <a:ln w="12700">
            <a:solidFill>
              <a:srgbClr val="E2DDEB"/>
            </a:solidFill>
            <a:prstDash val="solid"/>
          </a:ln>
        </p:spPr>
        <p:txBody>
          <a:bodyPr/>
          <a:lstStyle/>
          <a:p>
            <a:endParaRPr lang="en-US"/>
          </a:p>
        </p:txBody>
      </p:sp>
      <p:sp>
        <p:nvSpPr>
          <p:cNvPr id="21" name="Shape 16"/>
          <p:cNvSpPr/>
          <p:nvPr/>
        </p:nvSpPr>
        <p:spPr>
          <a:xfrm>
            <a:off x="11567160" y="2395728"/>
            <a:ext cx="347472" cy="347472"/>
          </a:xfrm>
          <a:prstGeom prst="ellipse">
            <a:avLst/>
          </a:prstGeom>
          <a:solidFill>
            <a:srgbClr val="7953B8"/>
          </a:solidFill>
          <a:ln w="25400">
            <a:solidFill>
              <a:srgbClr val="FFFFFF"/>
            </a:solidFill>
            <a:prstDash val="solid"/>
          </a:ln>
        </p:spPr>
        <p:txBody>
          <a:bodyPr/>
          <a:lstStyle/>
          <a:p>
            <a:endParaRPr lang="en-US"/>
          </a:p>
        </p:txBody>
      </p:sp>
      <p:sp>
        <p:nvSpPr>
          <p:cNvPr id="22" name="Text 17"/>
          <p:cNvSpPr/>
          <p:nvPr/>
        </p:nvSpPr>
        <p:spPr>
          <a:xfrm>
            <a:off x="11567160" y="2404872"/>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3" name="Text 18"/>
          <p:cNvSpPr/>
          <p:nvPr/>
        </p:nvSpPr>
        <p:spPr>
          <a:xfrm>
            <a:off x="12042648" y="2395728"/>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Six headline numbers</a:t>
            </a:r>
            <a:endParaRPr lang="en-US" sz="1900" dirty="0"/>
          </a:p>
        </p:txBody>
      </p:sp>
      <p:sp>
        <p:nvSpPr>
          <p:cNvPr id="24" name="Text 19"/>
          <p:cNvSpPr/>
          <p:nvPr/>
        </p:nvSpPr>
        <p:spPr>
          <a:xfrm>
            <a:off x="11612880" y="2805684"/>
            <a:ext cx="5833872" cy="55778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Users, prompts, agent sessions, prompts per session, organizations and repeat users.</a:t>
            </a:r>
            <a:endParaRPr lang="en-US" sz="1500" dirty="0"/>
          </a:p>
        </p:txBody>
      </p:sp>
      <p:sp>
        <p:nvSpPr>
          <p:cNvPr id="25" name="Shape 20"/>
          <p:cNvSpPr/>
          <p:nvPr/>
        </p:nvSpPr>
        <p:spPr>
          <a:xfrm>
            <a:off x="11384280" y="3674364"/>
            <a:ext cx="6291072" cy="1063752"/>
          </a:xfrm>
          <a:prstGeom prst="roundRect">
            <a:avLst>
              <a:gd name="adj" fmla="val 8596"/>
            </a:avLst>
          </a:prstGeom>
          <a:solidFill>
            <a:srgbClr val="FFFFFF"/>
          </a:solidFill>
          <a:ln w="12700">
            <a:solidFill>
              <a:srgbClr val="E2DDEB"/>
            </a:solidFill>
            <a:prstDash val="solid"/>
          </a:ln>
        </p:spPr>
        <p:txBody>
          <a:bodyPr/>
          <a:lstStyle/>
          <a:p>
            <a:endParaRPr lang="en-US"/>
          </a:p>
        </p:txBody>
      </p:sp>
      <p:sp>
        <p:nvSpPr>
          <p:cNvPr id="26" name="Shape 21"/>
          <p:cNvSpPr/>
          <p:nvPr/>
        </p:nvSpPr>
        <p:spPr>
          <a:xfrm>
            <a:off x="11567160" y="3857244"/>
            <a:ext cx="347472" cy="347472"/>
          </a:xfrm>
          <a:prstGeom prst="ellipse">
            <a:avLst/>
          </a:prstGeom>
          <a:solidFill>
            <a:srgbClr val="008774"/>
          </a:solidFill>
          <a:ln w="25400">
            <a:solidFill>
              <a:srgbClr val="FFFFFF"/>
            </a:solidFill>
            <a:prstDash val="solid"/>
          </a:ln>
        </p:spPr>
        <p:txBody>
          <a:bodyPr/>
          <a:lstStyle/>
          <a:p>
            <a:endParaRPr lang="en-US"/>
          </a:p>
        </p:txBody>
      </p:sp>
      <p:sp>
        <p:nvSpPr>
          <p:cNvPr id="27" name="Text 22"/>
          <p:cNvSpPr/>
          <p:nvPr/>
        </p:nvSpPr>
        <p:spPr>
          <a:xfrm>
            <a:off x="11567160" y="3866388"/>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28" name="Text 23"/>
          <p:cNvSpPr/>
          <p:nvPr/>
        </p:nvSpPr>
        <p:spPr>
          <a:xfrm>
            <a:off x="12042648" y="3857244"/>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Day by day</a:t>
            </a:r>
            <a:endParaRPr lang="en-US" sz="1900" dirty="0"/>
          </a:p>
        </p:txBody>
      </p:sp>
      <p:sp>
        <p:nvSpPr>
          <p:cNvPr id="29" name="Text 24"/>
          <p:cNvSpPr/>
          <p:nvPr/>
        </p:nvSpPr>
        <p:spPr>
          <a:xfrm>
            <a:off x="11612880" y="4267200"/>
            <a:ext cx="5833872" cy="30632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Daily prompts and sessions, with bold 7-day averages.</a:t>
            </a:r>
            <a:endParaRPr lang="en-US" sz="1500" dirty="0"/>
          </a:p>
        </p:txBody>
      </p:sp>
      <p:sp>
        <p:nvSpPr>
          <p:cNvPr id="30" name="Shape 25"/>
          <p:cNvSpPr/>
          <p:nvPr/>
        </p:nvSpPr>
        <p:spPr>
          <a:xfrm>
            <a:off x="11384280" y="4884420"/>
            <a:ext cx="6291072" cy="1063752"/>
          </a:xfrm>
          <a:prstGeom prst="roundRect">
            <a:avLst>
              <a:gd name="adj" fmla="val 8596"/>
            </a:avLst>
          </a:prstGeom>
          <a:solidFill>
            <a:srgbClr val="FFFFFF"/>
          </a:solidFill>
          <a:ln w="12700">
            <a:solidFill>
              <a:srgbClr val="E2DDEB"/>
            </a:solidFill>
            <a:prstDash val="solid"/>
          </a:ln>
        </p:spPr>
        <p:txBody>
          <a:bodyPr/>
          <a:lstStyle/>
          <a:p>
            <a:endParaRPr lang="en-US"/>
          </a:p>
        </p:txBody>
      </p:sp>
      <p:sp>
        <p:nvSpPr>
          <p:cNvPr id="31" name="Shape 26"/>
          <p:cNvSpPr/>
          <p:nvPr/>
        </p:nvSpPr>
        <p:spPr>
          <a:xfrm>
            <a:off x="11567160" y="5067300"/>
            <a:ext cx="347472" cy="347472"/>
          </a:xfrm>
          <a:prstGeom prst="ellipse">
            <a:avLst/>
          </a:prstGeom>
          <a:solidFill>
            <a:srgbClr val="BF5B25"/>
          </a:solidFill>
          <a:ln w="25400">
            <a:solidFill>
              <a:srgbClr val="FFFFFF"/>
            </a:solidFill>
            <a:prstDash val="solid"/>
          </a:ln>
        </p:spPr>
        <p:txBody>
          <a:bodyPr/>
          <a:lstStyle/>
          <a:p>
            <a:endParaRPr lang="en-US"/>
          </a:p>
        </p:txBody>
      </p:sp>
      <p:sp>
        <p:nvSpPr>
          <p:cNvPr id="32" name="Text 27"/>
          <p:cNvSpPr/>
          <p:nvPr/>
        </p:nvSpPr>
        <p:spPr>
          <a:xfrm>
            <a:off x="11567160" y="507644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3" name="Text 28"/>
          <p:cNvSpPr/>
          <p:nvPr/>
        </p:nvSpPr>
        <p:spPr>
          <a:xfrm>
            <a:off x="12042648" y="5067300"/>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Who uses it most</a:t>
            </a:r>
            <a:endParaRPr lang="en-US" sz="1900" dirty="0"/>
          </a:p>
        </p:txBody>
      </p:sp>
      <p:sp>
        <p:nvSpPr>
          <p:cNvPr id="34" name="Text 29"/>
          <p:cNvSpPr/>
          <p:nvPr/>
        </p:nvSpPr>
        <p:spPr>
          <a:xfrm>
            <a:off x="11612880" y="5477256"/>
            <a:ext cx="5833872" cy="30632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Usage by organization shows which departments rely on the agent.</a:t>
            </a:r>
            <a:endParaRPr lang="en-US" sz="1500" dirty="0"/>
          </a:p>
        </p:txBody>
      </p:sp>
      <p:sp>
        <p:nvSpPr>
          <p:cNvPr id="35" name="Shape 30"/>
          <p:cNvSpPr/>
          <p:nvPr/>
        </p:nvSpPr>
        <p:spPr>
          <a:xfrm>
            <a:off x="11384280" y="6094476"/>
            <a:ext cx="6291072" cy="1566672"/>
          </a:xfrm>
          <a:prstGeom prst="roundRect">
            <a:avLst>
              <a:gd name="adj" fmla="val 5837"/>
            </a:avLst>
          </a:prstGeom>
          <a:solidFill>
            <a:srgbClr val="FFFFFF"/>
          </a:solidFill>
          <a:ln w="12700">
            <a:solidFill>
              <a:srgbClr val="E2DDEB"/>
            </a:solidFill>
            <a:prstDash val="solid"/>
          </a:ln>
        </p:spPr>
        <p:txBody>
          <a:bodyPr/>
          <a:lstStyle/>
          <a:p>
            <a:endParaRPr lang="en-US"/>
          </a:p>
        </p:txBody>
      </p:sp>
      <p:sp>
        <p:nvSpPr>
          <p:cNvPr id="36" name="Shape 31"/>
          <p:cNvSpPr/>
          <p:nvPr/>
        </p:nvSpPr>
        <p:spPr>
          <a:xfrm>
            <a:off x="11567160" y="6277356"/>
            <a:ext cx="347472" cy="347472"/>
          </a:xfrm>
          <a:prstGeom prst="ellipse">
            <a:avLst/>
          </a:prstGeom>
          <a:solidFill>
            <a:srgbClr val="3B2750"/>
          </a:solidFill>
          <a:ln w="25400">
            <a:solidFill>
              <a:srgbClr val="FFFFFF"/>
            </a:solidFill>
            <a:prstDash val="solid"/>
          </a:ln>
        </p:spPr>
        <p:txBody>
          <a:bodyPr/>
          <a:lstStyle/>
          <a:p>
            <a:endParaRPr lang="en-US"/>
          </a:p>
        </p:txBody>
      </p:sp>
      <p:sp>
        <p:nvSpPr>
          <p:cNvPr id="37" name="Text 32"/>
          <p:cNvSpPr/>
          <p:nvPr/>
        </p:nvSpPr>
        <p:spPr>
          <a:xfrm>
            <a:off x="11567160" y="6286500"/>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i</a:t>
            </a:r>
            <a:endParaRPr lang="en-US" sz="1500" dirty="0"/>
          </a:p>
        </p:txBody>
      </p:sp>
      <p:sp>
        <p:nvSpPr>
          <p:cNvPr id="38" name="Text 33"/>
          <p:cNvSpPr/>
          <p:nvPr/>
        </p:nvSpPr>
        <p:spPr>
          <a:xfrm>
            <a:off x="12042648" y="6277356"/>
            <a:ext cx="5605272" cy="355092"/>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Two ways in</a:t>
            </a:r>
            <a:endParaRPr lang="en-US" sz="1900" dirty="0"/>
          </a:p>
        </p:txBody>
      </p:sp>
      <p:sp>
        <p:nvSpPr>
          <p:cNvPr id="39" name="Text 34"/>
          <p:cNvSpPr/>
          <p:nvPr/>
        </p:nvSpPr>
        <p:spPr>
          <a:xfrm>
            <a:off x="11612880" y="6687312"/>
            <a:ext cx="5833872" cy="809244"/>
          </a:xfrm>
          <a:prstGeom prst="rect">
            <a:avLst/>
          </a:prstGeom>
          <a:noFill/>
          <a:ln/>
        </p:spPr>
        <p:txBody>
          <a:bodyPr wrap="square" lIns="0" tIns="0" rIns="0" bIns="0" rtlCol="0" anchor="t"/>
          <a:lstStyle/>
          <a:p>
            <a:pPr marL="0" indent="0">
              <a:buNone/>
            </a:pPr>
            <a:r>
              <a:rPr lang="en-US" sz="1500" dirty="0">
                <a:solidFill>
                  <a:srgbClr val="637087"/>
                </a:solidFill>
                <a:latin typeface="Segoe UI" pitchFamily="34" charset="0"/>
                <a:ea typeface="Segoe UI" pitchFamily="34" charset="-122"/>
                <a:cs typeface="Segoe UI" pitchFamily="34" charset="-120"/>
              </a:rPr>
              <a:t>The tab browses all agents. Leaderboard or right-click drillthrough keeps the clicked agent; its note and Open Agent Details button lead to the full list.</a:t>
            </a:r>
            <a:endParaRPr lang="en-US" sz="1500" dirty="0"/>
          </a:p>
        </p:txBody>
      </p:sp>
      <p:sp>
        <p:nvSpPr>
          <p:cNvPr id="40" name="Shape 35"/>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1" name="Text 36"/>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2" name="Text 37"/>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The Leaderboard also shows Most used agent and Agents used for each row's scope. Follow an agent into Details to explore who uses it.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13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ACT 4 · WHERE TO INVEST NEXT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Start a licensing conversation</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Rank compares unlicensed peers under one manager. Blank ranks have no pink shading.</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txBody>
          <a:bodyPr/>
          <a:lstStyle/>
          <a:p>
            <a:endParaRPr lang="en-US"/>
          </a:p>
        </p:txBody>
      </p:sp>
      <p:pic>
        <p:nvPicPr>
          <p:cNvPr id="10" name="Image 2" descr="License Prioritization page"/>
          <p:cNvPicPr>
            <a:picLocks noChangeAspect="1"/>
          </p:cNvPicPr>
          <p:nvPr/>
        </p:nvPicPr>
        <p:blipFill>
          <a:blip r:embed="rId5"/>
          <a:stretch>
            <a:fillRect/>
          </a:stretch>
        </p:blipFill>
        <p:spPr>
          <a:xfrm>
            <a:off x="868680" y="2468880"/>
            <a:ext cx="10003536" cy="6170931"/>
          </a:xfrm>
          <a:prstGeom prst="rect">
            <a:avLst/>
          </a:prstGeom>
        </p:spPr>
      </p:pic>
      <p:sp>
        <p:nvSpPr>
          <p:cNvPr id="11" name="Shape 6"/>
          <p:cNvSpPr/>
          <p:nvPr/>
        </p:nvSpPr>
        <p:spPr>
          <a:xfrm>
            <a:off x="968715" y="4042467"/>
            <a:ext cx="3751326" cy="631908"/>
          </a:xfrm>
          <a:prstGeom prst="roundRect">
            <a:avLst>
              <a:gd name="adj" fmla="val 8716"/>
            </a:avLst>
          </a:prstGeom>
          <a:ln w="22225">
            <a:solidFill>
              <a:srgbClr val="7953B8"/>
            </a:solidFill>
            <a:prstDash val="solid"/>
          </a:ln>
        </p:spPr>
        <p:txBody>
          <a:bodyPr/>
          <a:lstStyle/>
          <a:p>
            <a:endParaRPr lang="en-US"/>
          </a:p>
        </p:txBody>
      </p:sp>
      <p:sp>
        <p:nvSpPr>
          <p:cNvPr id="12" name="Shape 7"/>
          <p:cNvSpPr/>
          <p:nvPr/>
        </p:nvSpPr>
        <p:spPr>
          <a:xfrm>
            <a:off x="767547" y="3859587"/>
            <a:ext cx="329184" cy="329184"/>
          </a:xfrm>
          <a:prstGeom prst="ellipse">
            <a:avLst/>
          </a:prstGeom>
          <a:solidFill>
            <a:srgbClr val="7953B8"/>
          </a:solidFill>
          <a:ln w="25400">
            <a:solidFill>
              <a:srgbClr val="FFFFFF"/>
            </a:solidFill>
            <a:prstDash val="solid"/>
          </a:ln>
        </p:spPr>
        <p:txBody>
          <a:bodyPr/>
          <a:lstStyle/>
          <a:p>
            <a:endParaRPr lang="en-US"/>
          </a:p>
        </p:txBody>
      </p:sp>
      <p:sp>
        <p:nvSpPr>
          <p:cNvPr id="13" name="Text 8"/>
          <p:cNvSpPr/>
          <p:nvPr/>
        </p:nvSpPr>
        <p:spPr>
          <a:xfrm>
            <a:off x="767547" y="3868731"/>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875543"/>
            <a:ext cx="3751326" cy="2591791"/>
          </a:xfrm>
          <a:prstGeom prst="roundRect">
            <a:avLst>
              <a:gd name="adj" fmla="val 1764"/>
            </a:avLst>
          </a:prstGeom>
          <a:ln w="22225">
            <a:solidFill>
              <a:srgbClr val="008774"/>
            </a:solidFill>
            <a:prstDash val="solid"/>
          </a:ln>
        </p:spPr>
        <p:txBody>
          <a:bodyPr/>
          <a:lstStyle/>
          <a:p>
            <a:endParaRPr lang="en-US"/>
          </a:p>
        </p:txBody>
      </p:sp>
      <p:sp>
        <p:nvSpPr>
          <p:cNvPr id="15" name="Shape 10"/>
          <p:cNvSpPr/>
          <p:nvPr/>
        </p:nvSpPr>
        <p:spPr>
          <a:xfrm>
            <a:off x="767547" y="4692663"/>
            <a:ext cx="329184" cy="329184"/>
          </a:xfrm>
          <a:prstGeom prst="ellipse">
            <a:avLst/>
          </a:prstGeom>
          <a:solidFill>
            <a:srgbClr val="008774"/>
          </a:solidFill>
          <a:ln w="25400">
            <a:solidFill>
              <a:srgbClr val="FFFFFF"/>
            </a:solidFill>
            <a:prstDash val="solid"/>
          </a:ln>
        </p:spPr>
        <p:txBody>
          <a:bodyPr/>
          <a:lstStyle/>
          <a:p>
            <a:endParaRPr lang="en-US"/>
          </a:p>
        </p:txBody>
      </p:sp>
      <p:sp>
        <p:nvSpPr>
          <p:cNvPr id="16" name="Text 11"/>
          <p:cNvSpPr/>
          <p:nvPr/>
        </p:nvSpPr>
        <p:spPr>
          <a:xfrm>
            <a:off x="767547" y="4701807"/>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4820077" y="4073322"/>
            <a:ext cx="4323923" cy="4443071"/>
          </a:xfrm>
          <a:prstGeom prst="roundRect">
            <a:avLst>
              <a:gd name="adj" fmla="val 1172"/>
            </a:avLst>
          </a:prstGeom>
          <a:ln w="22225">
            <a:solidFill>
              <a:srgbClr val="BF5B25"/>
            </a:solidFill>
            <a:prstDash val="solid"/>
          </a:ln>
        </p:spPr>
        <p:txBody>
          <a:bodyPr/>
          <a:lstStyle/>
          <a:p>
            <a:endParaRPr lang="en-US"/>
          </a:p>
        </p:txBody>
      </p:sp>
      <p:sp>
        <p:nvSpPr>
          <p:cNvPr id="18" name="Shape 13"/>
          <p:cNvSpPr/>
          <p:nvPr/>
        </p:nvSpPr>
        <p:spPr>
          <a:xfrm>
            <a:off x="4618909" y="3890442"/>
            <a:ext cx="329184" cy="329184"/>
          </a:xfrm>
          <a:prstGeom prst="ellipse">
            <a:avLst/>
          </a:prstGeom>
          <a:solidFill>
            <a:srgbClr val="BF5B25"/>
          </a:solidFill>
          <a:ln w="25400">
            <a:solidFill>
              <a:srgbClr val="FFFFFF"/>
            </a:solidFill>
            <a:prstDash val="solid"/>
          </a:ln>
        </p:spPr>
        <p:txBody>
          <a:bodyPr/>
          <a:lstStyle/>
          <a:p>
            <a:endParaRPr lang="en-US"/>
          </a:p>
        </p:txBody>
      </p:sp>
      <p:sp>
        <p:nvSpPr>
          <p:cNvPr id="19" name="Text 14"/>
          <p:cNvSpPr/>
          <p:nvPr/>
        </p:nvSpPr>
        <p:spPr>
          <a:xfrm>
            <a:off x="4618909" y="3899586"/>
            <a:ext cx="329184" cy="329184"/>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384280" y="2212848"/>
            <a:ext cx="6291072" cy="4206240"/>
          </a:xfrm>
          <a:prstGeom prst="roundRect">
            <a:avLst>
              <a:gd name="adj" fmla="val 2174"/>
            </a:avLst>
          </a:prstGeom>
          <a:solidFill>
            <a:srgbClr val="FFFFFF"/>
          </a:solidFill>
          <a:ln w="12700">
            <a:solidFill>
              <a:srgbClr val="E2DDEB"/>
            </a:solidFill>
            <a:prstDash val="solid"/>
          </a:ln>
        </p:spPr>
        <p:txBody>
          <a:bodyPr/>
          <a:lstStyle/>
          <a:p>
            <a:endParaRPr lang="en-US"/>
          </a:p>
        </p:txBody>
      </p:sp>
      <p:sp>
        <p:nvSpPr>
          <p:cNvPr id="21" name="Text 16"/>
          <p:cNvSpPr/>
          <p:nvPr/>
        </p:nvSpPr>
        <p:spPr>
          <a:xfrm>
            <a:off x="11658600" y="2423160"/>
            <a:ext cx="5760720"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HOW THE SCORE WORKS</a:t>
            </a:r>
            <a:endParaRPr lang="en-US" sz="1200" dirty="0"/>
          </a:p>
        </p:txBody>
      </p:sp>
      <p:sp>
        <p:nvSpPr>
          <p:cNvPr id="22" name="Text 17"/>
          <p:cNvSpPr/>
          <p:nvPr/>
        </p:nvSpPr>
        <p:spPr>
          <a:xfrm>
            <a:off x="11658600" y="2880360"/>
            <a:ext cx="2011680" cy="914400"/>
          </a:xfrm>
          <a:prstGeom prst="rect">
            <a:avLst/>
          </a:prstGeom>
          <a:noFill/>
          <a:ln/>
        </p:spPr>
        <p:txBody>
          <a:bodyPr wrap="square" lIns="0" tIns="0" rIns="0" bIns="0" rtlCol="0" anchor="ctr"/>
          <a:lstStyle/>
          <a:p>
            <a:pPr marL="0" indent="0">
              <a:buNone/>
            </a:pPr>
            <a:r>
              <a:rPr lang="en-US" sz="4400" dirty="0">
                <a:solidFill>
                  <a:srgbClr val="7953B8"/>
                </a:solidFill>
                <a:latin typeface="Segoe UI Semibold" pitchFamily="34" charset="0"/>
                <a:ea typeface="Segoe UI Semibold" pitchFamily="34" charset="-122"/>
                <a:cs typeface="Segoe UI Semibold" pitchFamily="34" charset="-120"/>
              </a:rPr>
              <a:t>60%</a:t>
            </a:r>
            <a:endParaRPr lang="en-US" sz="4400" dirty="0"/>
          </a:p>
        </p:txBody>
      </p:sp>
      <p:sp>
        <p:nvSpPr>
          <p:cNvPr id="23" name="Text 18"/>
          <p:cNvSpPr/>
          <p:nvPr/>
        </p:nvSpPr>
        <p:spPr>
          <a:xfrm>
            <a:off x="13716000" y="2880360"/>
            <a:ext cx="3749040" cy="914400"/>
          </a:xfrm>
          <a:prstGeom prst="rect">
            <a:avLst/>
          </a:prstGeom>
          <a:noFill/>
          <a:ln/>
        </p:spPr>
        <p:txBody>
          <a:bodyPr wrap="square" lIns="0" tIns="0" rIns="0" bIns="0" rtlCol="0" anchor="ctr"/>
          <a:lstStyle/>
          <a:p>
            <a:pPr marL="0" indent="0">
              <a:buNone/>
            </a:pPr>
            <a:r>
              <a:rPr lang="en-US" sz="1800" dirty="0">
                <a:solidFill>
                  <a:srgbClr val="251833"/>
                </a:solidFill>
                <a:latin typeface="Segoe UI Semibold" pitchFamily="34" charset="0"/>
                <a:ea typeface="Segoe UI Semibold" pitchFamily="34" charset="-122"/>
                <a:cs typeface="Segoe UI Semibold" pitchFamily="34" charset="-120"/>
              </a:rPr>
              <a:t>Weekly sessions / 10</a:t>
            </a:r>
            <a:endParaRPr lang="en-US" sz="1800" dirty="0"/>
          </a:p>
        </p:txBody>
      </p:sp>
      <p:sp>
        <p:nvSpPr>
          <p:cNvPr id="24" name="Text 19"/>
          <p:cNvSpPr/>
          <p:nvPr/>
        </p:nvSpPr>
        <p:spPr>
          <a:xfrm>
            <a:off x="11658600" y="3995928"/>
            <a:ext cx="2011680" cy="914400"/>
          </a:xfrm>
          <a:prstGeom prst="rect">
            <a:avLst/>
          </a:prstGeom>
          <a:noFill/>
          <a:ln/>
        </p:spPr>
        <p:txBody>
          <a:bodyPr wrap="square" lIns="0" tIns="0" rIns="0" bIns="0" rtlCol="0" anchor="ctr"/>
          <a:lstStyle/>
          <a:p>
            <a:pPr marL="0" indent="0">
              <a:buNone/>
            </a:pPr>
            <a:r>
              <a:rPr lang="en-US" sz="4400" dirty="0">
                <a:solidFill>
                  <a:srgbClr val="008774"/>
                </a:solidFill>
                <a:latin typeface="Segoe UI Semibold" pitchFamily="34" charset="0"/>
                <a:ea typeface="Segoe UI Semibold" pitchFamily="34" charset="-122"/>
                <a:cs typeface="Segoe UI Semibold" pitchFamily="34" charset="-120"/>
              </a:rPr>
              <a:t>30%</a:t>
            </a:r>
            <a:endParaRPr lang="en-US" sz="4400" dirty="0"/>
          </a:p>
        </p:txBody>
      </p:sp>
      <p:sp>
        <p:nvSpPr>
          <p:cNvPr id="25" name="Text 20"/>
          <p:cNvSpPr/>
          <p:nvPr/>
        </p:nvSpPr>
        <p:spPr>
          <a:xfrm>
            <a:off x="13716000" y="3995928"/>
            <a:ext cx="3749040" cy="914400"/>
          </a:xfrm>
          <a:prstGeom prst="rect">
            <a:avLst/>
          </a:prstGeom>
          <a:noFill/>
          <a:ln/>
        </p:spPr>
        <p:txBody>
          <a:bodyPr wrap="square" lIns="0" tIns="0" rIns="0" bIns="0" rtlCol="0" anchor="ctr"/>
          <a:lstStyle/>
          <a:p>
            <a:pPr marL="0" indent="0">
              <a:buNone/>
            </a:pPr>
            <a:r>
              <a:rPr lang="en-US" sz="1800" dirty="0">
                <a:solidFill>
                  <a:srgbClr val="251833"/>
                </a:solidFill>
                <a:latin typeface="Segoe UI Semibold" pitchFamily="34" charset="0"/>
                <a:ea typeface="Segoe UI Semibold" pitchFamily="34" charset="-122"/>
                <a:cs typeface="Segoe UI Semibold" pitchFamily="34" charset="-120"/>
              </a:rPr>
              <a:t>Weekly active days / 5</a:t>
            </a:r>
            <a:endParaRPr lang="en-US" sz="1800" dirty="0"/>
          </a:p>
        </p:txBody>
      </p:sp>
      <p:sp>
        <p:nvSpPr>
          <p:cNvPr id="26" name="Text 21"/>
          <p:cNvSpPr/>
          <p:nvPr/>
        </p:nvSpPr>
        <p:spPr>
          <a:xfrm>
            <a:off x="11658600" y="5111496"/>
            <a:ext cx="2011680" cy="914400"/>
          </a:xfrm>
          <a:prstGeom prst="rect">
            <a:avLst/>
          </a:prstGeom>
          <a:noFill/>
          <a:ln/>
        </p:spPr>
        <p:txBody>
          <a:bodyPr wrap="square" lIns="0" tIns="0" rIns="0" bIns="0" rtlCol="0" anchor="ctr"/>
          <a:lstStyle/>
          <a:p>
            <a:pPr marL="0" indent="0">
              <a:buNone/>
            </a:pPr>
            <a:r>
              <a:rPr lang="en-US" sz="4400" dirty="0">
                <a:solidFill>
                  <a:srgbClr val="BF5B25"/>
                </a:solidFill>
                <a:latin typeface="Segoe UI Semibold" pitchFamily="34" charset="0"/>
                <a:ea typeface="Segoe UI Semibold" pitchFamily="34" charset="-122"/>
                <a:cs typeface="Segoe UI Semibold" pitchFamily="34" charset="-120"/>
              </a:rPr>
              <a:t>10%</a:t>
            </a:r>
            <a:endParaRPr lang="en-US" sz="4400" dirty="0"/>
          </a:p>
        </p:txBody>
      </p:sp>
      <p:sp>
        <p:nvSpPr>
          <p:cNvPr id="27" name="Text 22"/>
          <p:cNvSpPr/>
          <p:nvPr/>
        </p:nvSpPr>
        <p:spPr>
          <a:xfrm>
            <a:off x="13716000" y="5111496"/>
            <a:ext cx="3749040" cy="914400"/>
          </a:xfrm>
          <a:prstGeom prst="rect">
            <a:avLst/>
          </a:prstGeom>
          <a:noFill/>
          <a:ln/>
        </p:spPr>
        <p:txBody>
          <a:bodyPr wrap="square" lIns="0" tIns="0" rIns="0" bIns="0" rtlCol="0" anchor="ctr"/>
          <a:lstStyle/>
          <a:p>
            <a:pPr marL="0" indent="0">
              <a:buNone/>
            </a:pPr>
            <a:r>
              <a:rPr lang="en-US" sz="1800" dirty="0">
                <a:solidFill>
                  <a:srgbClr val="251833"/>
                </a:solidFill>
                <a:latin typeface="Segoe UI Semibold" pitchFamily="34" charset="0"/>
                <a:ea typeface="Segoe UI Semibold" pitchFamily="34" charset="-122"/>
                <a:cs typeface="Segoe UI Semibold" pitchFamily="34" charset="-120"/>
              </a:rPr>
              <a:t>Sessions per active day / 5</a:t>
            </a:r>
            <a:endParaRPr lang="en-US" sz="1800" dirty="0"/>
          </a:p>
        </p:txBody>
      </p:sp>
      <p:sp>
        <p:nvSpPr>
          <p:cNvPr id="28" name="Shape 23"/>
          <p:cNvSpPr/>
          <p:nvPr/>
        </p:nvSpPr>
        <p:spPr>
          <a:xfrm>
            <a:off x="11384280" y="6583680"/>
            <a:ext cx="6291072" cy="1290066"/>
          </a:xfrm>
          <a:prstGeom prst="roundRect">
            <a:avLst>
              <a:gd name="adj" fmla="val 7088"/>
            </a:avLst>
          </a:prstGeom>
          <a:solidFill>
            <a:srgbClr val="FFFFFF"/>
          </a:solidFill>
          <a:ln w="12700">
            <a:solidFill>
              <a:srgbClr val="E2DDEB"/>
            </a:solidFill>
            <a:prstDash val="solid"/>
          </a:ln>
        </p:spPr>
        <p:txBody>
          <a:bodyPr/>
          <a:lstStyle/>
          <a:p>
            <a:endParaRPr lang="en-US"/>
          </a:p>
        </p:txBody>
      </p:sp>
      <p:sp>
        <p:nvSpPr>
          <p:cNvPr id="29" name="Shape 24"/>
          <p:cNvSpPr/>
          <p:nvPr/>
        </p:nvSpPr>
        <p:spPr>
          <a:xfrm>
            <a:off x="11567160" y="6766560"/>
            <a:ext cx="347472" cy="347472"/>
          </a:xfrm>
          <a:prstGeom prst="ellipse">
            <a:avLst/>
          </a:prstGeom>
          <a:solidFill>
            <a:srgbClr val="3B2750"/>
          </a:solidFill>
          <a:ln w="25400">
            <a:solidFill>
              <a:srgbClr val="FFFFFF"/>
            </a:solidFill>
            <a:prstDash val="solid"/>
          </a:ln>
        </p:spPr>
        <p:txBody>
          <a:bodyPr/>
          <a:lstStyle/>
          <a:p>
            <a:endParaRPr lang="en-US"/>
          </a:p>
        </p:txBody>
      </p:sp>
      <p:sp>
        <p:nvSpPr>
          <p:cNvPr id="30" name="Text 25"/>
          <p:cNvSpPr/>
          <p:nvPr/>
        </p:nvSpPr>
        <p:spPr>
          <a:xfrm>
            <a:off x="11567160" y="6775704"/>
            <a:ext cx="347472" cy="347472"/>
          </a:xfrm>
          <a:prstGeom prst="rect">
            <a:avLst/>
          </a:prstGeom>
          <a:noFill/>
          <a:ln/>
        </p:spPr>
        <p:txBody>
          <a:bodyPr wrap="square" lIns="0" tIns="0" rIns="0" bIns="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i</a:t>
            </a:r>
            <a:endParaRPr lang="en-US" sz="1500" dirty="0"/>
          </a:p>
        </p:txBody>
      </p:sp>
      <p:sp>
        <p:nvSpPr>
          <p:cNvPr id="31" name="Text 26"/>
          <p:cNvSpPr/>
          <p:nvPr/>
        </p:nvSpPr>
        <p:spPr>
          <a:xfrm>
            <a:off x="12042648" y="6766560"/>
            <a:ext cx="5605272" cy="346710"/>
          </a:xfrm>
          <a:prstGeom prst="rect">
            <a:avLst/>
          </a:prstGeom>
          <a:noFill/>
          <a:ln/>
        </p:spPr>
        <p:txBody>
          <a:bodyPr wrap="square" lIns="0" tIns="0" rIns="0" bIns="0" rtlCol="0" anchor="t"/>
          <a:lstStyle/>
          <a:p>
            <a:pPr marL="0" indent="0">
              <a:buNone/>
            </a:pPr>
            <a:r>
              <a:rPr lang="en-US" sz="1850" dirty="0">
                <a:solidFill>
                  <a:srgbClr val="251833"/>
                </a:solidFill>
                <a:latin typeface="Segoe UI Semibold" pitchFamily="34" charset="0"/>
                <a:ea typeface="Segoe UI Semibold" pitchFamily="34" charset="-122"/>
                <a:cs typeface="Segoe UI Semibold" pitchFamily="34" charset="-120"/>
              </a:rPr>
              <a:t>A conversation, not a decision</a:t>
            </a:r>
            <a:endParaRPr lang="en-US" sz="1850" dirty="0"/>
          </a:p>
        </p:txBody>
      </p:sp>
      <p:sp>
        <p:nvSpPr>
          <p:cNvPr id="32" name="Text 27"/>
          <p:cNvSpPr/>
          <p:nvPr/>
        </p:nvSpPr>
        <p:spPr>
          <a:xfrm>
            <a:off x="11612880" y="7168134"/>
            <a:ext cx="5833872" cy="541020"/>
          </a:xfrm>
          <a:prstGeom prst="rect">
            <a:avLst/>
          </a:prstGeom>
          <a:noFill/>
          <a:ln/>
        </p:spPr>
        <p:txBody>
          <a:bodyPr wrap="square" lIns="0" tIns="0" rIns="0" bIns="0" rtlCol="0" anchor="t"/>
          <a:lstStyle/>
          <a:p>
            <a:pPr marL="0" indent="0">
              <a:buNone/>
            </a:pPr>
            <a:r>
              <a:rPr lang="en-US" sz="1450" dirty="0">
                <a:solidFill>
                  <a:srgbClr val="637087"/>
                </a:solidFill>
                <a:latin typeface="Segoe UI" pitchFamily="34" charset="0"/>
                <a:ea typeface="Segoe UI" pitchFamily="34" charset="-122"/>
                <a:cs typeface="Segoe UI" pitchFamily="34" charset="-120"/>
              </a:rPr>
              <a:t>1 = most active; ties share ranks. Totals aren't ranked. Minimum Group Size 1 is required.</a:t>
            </a:r>
            <a:endParaRPr lang="en-US" sz="1450" dirty="0"/>
          </a:p>
        </p:txBody>
      </p:sp>
      <p:sp>
        <p:nvSpPr>
          <p:cNvPr id="33" name="Shape 28"/>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34" name="Text 29"/>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5" name="Text 30"/>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Switch median weekly sessions or prompts; the median and scale follow the metric. The score is a heuristic, not a licensing decision.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14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BEFORE YOU DRAW CONCLUSIONS</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Read the numbers responsibly</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Six things to keep in mind on every page.</a:t>
            </a:r>
            <a:endParaRPr lang="en-US" sz="2000" dirty="0"/>
          </a:p>
        </p:txBody>
      </p:sp>
      <p:sp>
        <p:nvSpPr>
          <p:cNvPr id="9" name="Shape 5"/>
          <p:cNvSpPr/>
          <p:nvPr/>
        </p:nvSpPr>
        <p:spPr>
          <a:xfrm>
            <a:off x="612648" y="2286000"/>
            <a:ext cx="5504688" cy="3127248"/>
          </a:xfrm>
          <a:prstGeom prst="roundRect">
            <a:avLst>
              <a:gd name="adj" fmla="val 2924"/>
            </a:avLst>
          </a:prstGeom>
          <a:solidFill>
            <a:srgbClr val="FFFFFF"/>
          </a:solidFill>
          <a:ln w="12700">
            <a:solidFill>
              <a:srgbClr val="E2DDEB"/>
            </a:solidFill>
            <a:prstDash val="solid"/>
          </a:ln>
        </p:spPr>
        <p:txBody>
          <a:bodyPr/>
          <a:lstStyle/>
          <a:p>
            <a:endParaRPr lang="en-US"/>
          </a:p>
        </p:txBody>
      </p:sp>
      <p:sp>
        <p:nvSpPr>
          <p:cNvPr id="10" name="Shape 6"/>
          <p:cNvSpPr/>
          <p:nvPr/>
        </p:nvSpPr>
        <p:spPr>
          <a:xfrm>
            <a:off x="932688" y="2606040"/>
            <a:ext cx="457200" cy="457200"/>
          </a:xfrm>
          <a:prstGeom prst="ellipse">
            <a:avLst/>
          </a:prstGeom>
          <a:solidFill>
            <a:srgbClr val="7953B8"/>
          </a:solidFill>
          <a:ln w="25400">
            <a:solidFill>
              <a:srgbClr val="FFFFFF"/>
            </a:solidFill>
            <a:prstDash val="solid"/>
          </a:ln>
        </p:spPr>
        <p:txBody>
          <a:bodyPr/>
          <a:lstStyle/>
          <a:p>
            <a:endParaRPr lang="en-US"/>
          </a:p>
        </p:txBody>
      </p:sp>
      <p:sp>
        <p:nvSpPr>
          <p:cNvPr id="11" name="Text 7"/>
          <p:cNvSpPr/>
          <p:nvPr/>
        </p:nvSpPr>
        <p:spPr>
          <a:xfrm>
            <a:off x="932688" y="2615184"/>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2" name="Text 8"/>
          <p:cNvSpPr/>
          <p:nvPr/>
        </p:nvSpPr>
        <p:spPr>
          <a:xfrm>
            <a:off x="932688" y="3246120"/>
            <a:ext cx="4864608"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People in scope aren't all active</a:t>
            </a:r>
            <a:endParaRPr lang="en-US" sz="2100" dirty="0"/>
          </a:p>
        </p:txBody>
      </p:sp>
      <p:sp>
        <p:nvSpPr>
          <p:cNvPr id="13" name="Text 9"/>
          <p:cNvSpPr/>
          <p:nvPr/>
        </p:nvSpPr>
        <p:spPr>
          <a:xfrm>
            <a:off x="932688" y="3767328"/>
            <a:ext cx="4864608" cy="150876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People in scope are everyone in the selected group. Active users are those with recorded use. A large team can have few active users.</a:t>
            </a:r>
            <a:endParaRPr lang="en-US" sz="1700" dirty="0"/>
          </a:p>
        </p:txBody>
      </p:sp>
      <p:sp>
        <p:nvSpPr>
          <p:cNvPr id="14" name="Shape 10"/>
          <p:cNvSpPr/>
          <p:nvPr/>
        </p:nvSpPr>
        <p:spPr>
          <a:xfrm>
            <a:off x="6391656" y="2286000"/>
            <a:ext cx="5504688" cy="3127248"/>
          </a:xfrm>
          <a:prstGeom prst="roundRect">
            <a:avLst>
              <a:gd name="adj" fmla="val 2924"/>
            </a:avLst>
          </a:prstGeom>
          <a:solidFill>
            <a:srgbClr val="FFFFFF"/>
          </a:solidFill>
          <a:ln w="12700">
            <a:solidFill>
              <a:srgbClr val="E2DDEB"/>
            </a:solidFill>
            <a:prstDash val="solid"/>
          </a:ln>
        </p:spPr>
        <p:txBody>
          <a:bodyPr/>
          <a:lstStyle/>
          <a:p>
            <a:endParaRPr lang="en-US"/>
          </a:p>
        </p:txBody>
      </p:sp>
      <p:sp>
        <p:nvSpPr>
          <p:cNvPr id="15" name="Shape 11"/>
          <p:cNvSpPr/>
          <p:nvPr/>
        </p:nvSpPr>
        <p:spPr>
          <a:xfrm>
            <a:off x="6711696" y="2606040"/>
            <a:ext cx="457200" cy="457200"/>
          </a:xfrm>
          <a:prstGeom prst="ellipse">
            <a:avLst/>
          </a:prstGeom>
          <a:solidFill>
            <a:srgbClr val="008774"/>
          </a:solidFill>
          <a:ln w="25400">
            <a:solidFill>
              <a:srgbClr val="FFFFFF"/>
            </a:solidFill>
            <a:prstDash val="solid"/>
          </a:ln>
        </p:spPr>
        <p:txBody>
          <a:bodyPr/>
          <a:lstStyle/>
          <a:p>
            <a:endParaRPr lang="en-US"/>
          </a:p>
        </p:txBody>
      </p:sp>
      <p:sp>
        <p:nvSpPr>
          <p:cNvPr id="16" name="Text 12"/>
          <p:cNvSpPr/>
          <p:nvPr/>
        </p:nvSpPr>
        <p:spPr>
          <a:xfrm>
            <a:off x="6711696" y="2615184"/>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7" name="Text 13"/>
          <p:cNvSpPr/>
          <p:nvPr/>
        </p:nvSpPr>
        <p:spPr>
          <a:xfrm>
            <a:off x="6711696" y="3246120"/>
            <a:ext cx="4864608"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Groups overlap</a:t>
            </a:r>
            <a:endParaRPr lang="en-US" sz="2100" dirty="0"/>
          </a:p>
        </p:txBody>
      </p:sp>
      <p:sp>
        <p:nvSpPr>
          <p:cNvPr id="18" name="Text 14"/>
          <p:cNvSpPr/>
          <p:nvPr/>
        </p:nvSpPr>
        <p:spPr>
          <a:xfrm>
            <a:off x="6711696" y="3767328"/>
            <a:ext cx="4864608" cy="150876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One person can use M365 Copilot, Copilot Chat and agents. Compare these groups side by side; don't add them up.</a:t>
            </a:r>
            <a:endParaRPr lang="en-US" sz="1700" dirty="0"/>
          </a:p>
        </p:txBody>
      </p:sp>
      <p:sp>
        <p:nvSpPr>
          <p:cNvPr id="19" name="Shape 15"/>
          <p:cNvSpPr/>
          <p:nvPr/>
        </p:nvSpPr>
        <p:spPr>
          <a:xfrm>
            <a:off x="12170664" y="2286000"/>
            <a:ext cx="5504688" cy="3127248"/>
          </a:xfrm>
          <a:prstGeom prst="roundRect">
            <a:avLst>
              <a:gd name="adj" fmla="val 2924"/>
            </a:avLst>
          </a:prstGeom>
          <a:solidFill>
            <a:srgbClr val="FFFFFF"/>
          </a:solidFill>
          <a:ln w="12700">
            <a:solidFill>
              <a:srgbClr val="E2DDEB"/>
            </a:solidFill>
            <a:prstDash val="solid"/>
          </a:ln>
        </p:spPr>
        <p:txBody>
          <a:bodyPr/>
          <a:lstStyle/>
          <a:p>
            <a:endParaRPr lang="en-US"/>
          </a:p>
        </p:txBody>
      </p:sp>
      <p:sp>
        <p:nvSpPr>
          <p:cNvPr id="20" name="Shape 16"/>
          <p:cNvSpPr/>
          <p:nvPr/>
        </p:nvSpPr>
        <p:spPr>
          <a:xfrm>
            <a:off x="12490704" y="2606040"/>
            <a:ext cx="457200" cy="457200"/>
          </a:xfrm>
          <a:prstGeom prst="ellipse">
            <a:avLst/>
          </a:prstGeom>
          <a:solidFill>
            <a:srgbClr val="BF5B25"/>
          </a:solidFill>
          <a:ln w="25400">
            <a:solidFill>
              <a:srgbClr val="FFFFFF"/>
            </a:solidFill>
            <a:prstDash val="solid"/>
          </a:ln>
        </p:spPr>
        <p:txBody>
          <a:bodyPr/>
          <a:lstStyle/>
          <a:p>
            <a:endParaRPr lang="en-US"/>
          </a:p>
        </p:txBody>
      </p:sp>
      <p:sp>
        <p:nvSpPr>
          <p:cNvPr id="21" name="Text 17"/>
          <p:cNvSpPr/>
          <p:nvPr/>
        </p:nvSpPr>
        <p:spPr>
          <a:xfrm>
            <a:off x="12490704" y="2615184"/>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2" name="Text 18"/>
          <p:cNvSpPr/>
          <p:nvPr/>
        </p:nvSpPr>
        <p:spPr>
          <a:xfrm>
            <a:off x="12490704" y="3246120"/>
            <a:ext cx="4864608"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Activity isn't value</a:t>
            </a:r>
            <a:endParaRPr lang="en-US" sz="2100" dirty="0"/>
          </a:p>
        </p:txBody>
      </p:sp>
      <p:sp>
        <p:nvSpPr>
          <p:cNvPr id="23" name="Text 19"/>
          <p:cNvSpPr/>
          <p:nvPr/>
        </p:nvSpPr>
        <p:spPr>
          <a:xfrm>
            <a:off x="12490704" y="3767328"/>
            <a:ext cx="4864608" cy="150876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Prompts are requests; sessions are conversations. Neither proves value. Headline help and coverage links explain context.</a:t>
            </a:r>
            <a:endParaRPr lang="en-US" sz="1700" dirty="0"/>
          </a:p>
        </p:txBody>
      </p:sp>
      <p:sp>
        <p:nvSpPr>
          <p:cNvPr id="24" name="Shape 20"/>
          <p:cNvSpPr/>
          <p:nvPr/>
        </p:nvSpPr>
        <p:spPr>
          <a:xfrm>
            <a:off x="612648" y="5641848"/>
            <a:ext cx="5504688" cy="3127248"/>
          </a:xfrm>
          <a:prstGeom prst="roundRect">
            <a:avLst>
              <a:gd name="adj" fmla="val 2924"/>
            </a:avLst>
          </a:prstGeom>
          <a:solidFill>
            <a:srgbClr val="FFFFFF"/>
          </a:solidFill>
          <a:ln w="12700">
            <a:solidFill>
              <a:srgbClr val="E2DDEB"/>
            </a:solidFill>
            <a:prstDash val="solid"/>
          </a:ln>
        </p:spPr>
        <p:txBody>
          <a:bodyPr/>
          <a:lstStyle/>
          <a:p>
            <a:endParaRPr lang="en-US"/>
          </a:p>
        </p:txBody>
      </p:sp>
      <p:sp>
        <p:nvSpPr>
          <p:cNvPr id="25" name="Shape 21"/>
          <p:cNvSpPr/>
          <p:nvPr/>
        </p:nvSpPr>
        <p:spPr>
          <a:xfrm>
            <a:off x="932688" y="5961888"/>
            <a:ext cx="457200" cy="457200"/>
          </a:xfrm>
          <a:prstGeom prst="ellipse">
            <a:avLst/>
          </a:prstGeom>
          <a:solidFill>
            <a:srgbClr val="4268B2"/>
          </a:solidFill>
          <a:ln w="25400">
            <a:solidFill>
              <a:srgbClr val="FFFFFF"/>
            </a:solidFill>
            <a:prstDash val="solid"/>
          </a:ln>
        </p:spPr>
        <p:txBody>
          <a:bodyPr/>
          <a:lstStyle/>
          <a:p>
            <a:endParaRPr lang="en-US"/>
          </a:p>
        </p:txBody>
      </p:sp>
      <p:sp>
        <p:nvSpPr>
          <p:cNvPr id="26" name="Text 22"/>
          <p:cNvSpPr/>
          <p:nvPr/>
        </p:nvSpPr>
        <p:spPr>
          <a:xfrm>
            <a:off x="932688" y="597103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27" name="Text 23"/>
          <p:cNvSpPr/>
          <p:nvPr/>
        </p:nvSpPr>
        <p:spPr>
          <a:xfrm>
            <a:off x="932688" y="6601968"/>
            <a:ext cx="4864608"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Habits use one month</a:t>
            </a:r>
            <a:endParaRPr lang="en-US" sz="2100" dirty="0"/>
          </a:p>
        </p:txBody>
      </p:sp>
      <p:sp>
        <p:nvSpPr>
          <p:cNvPr id="28" name="Text 24"/>
          <p:cNvSpPr/>
          <p:nvPr/>
        </p:nvSpPr>
        <p:spPr>
          <a:xfrm>
            <a:off x="932688" y="7123176"/>
            <a:ext cx="4864608" cy="150876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Habit cards describe the month printed on the page. Tables nearby cover the whole selected period.</a:t>
            </a:r>
            <a:endParaRPr lang="en-US" sz="1700" dirty="0"/>
          </a:p>
        </p:txBody>
      </p:sp>
      <p:sp>
        <p:nvSpPr>
          <p:cNvPr id="29" name="Shape 25"/>
          <p:cNvSpPr/>
          <p:nvPr/>
        </p:nvSpPr>
        <p:spPr>
          <a:xfrm>
            <a:off x="6391656" y="5641848"/>
            <a:ext cx="5504688" cy="3127248"/>
          </a:xfrm>
          <a:prstGeom prst="roundRect">
            <a:avLst>
              <a:gd name="adj" fmla="val 2924"/>
            </a:avLst>
          </a:prstGeom>
          <a:solidFill>
            <a:srgbClr val="FFFFFF"/>
          </a:solidFill>
          <a:ln w="12700">
            <a:solidFill>
              <a:srgbClr val="E2DDEB"/>
            </a:solidFill>
            <a:prstDash val="solid"/>
          </a:ln>
        </p:spPr>
        <p:txBody>
          <a:bodyPr/>
          <a:lstStyle/>
          <a:p>
            <a:endParaRPr lang="en-US"/>
          </a:p>
        </p:txBody>
      </p:sp>
      <p:sp>
        <p:nvSpPr>
          <p:cNvPr id="30" name="Shape 26"/>
          <p:cNvSpPr/>
          <p:nvPr/>
        </p:nvSpPr>
        <p:spPr>
          <a:xfrm>
            <a:off x="6711696" y="5961888"/>
            <a:ext cx="457200" cy="457200"/>
          </a:xfrm>
          <a:prstGeom prst="ellipse">
            <a:avLst/>
          </a:prstGeom>
          <a:solidFill>
            <a:srgbClr val="7953B8"/>
          </a:solidFill>
          <a:ln w="25400">
            <a:solidFill>
              <a:srgbClr val="FFFFFF"/>
            </a:solidFill>
            <a:prstDash val="solid"/>
          </a:ln>
        </p:spPr>
        <p:txBody>
          <a:bodyPr/>
          <a:lstStyle/>
          <a:p>
            <a:endParaRPr lang="en-US"/>
          </a:p>
        </p:txBody>
      </p:sp>
      <p:sp>
        <p:nvSpPr>
          <p:cNvPr id="31" name="Text 27"/>
          <p:cNvSpPr/>
          <p:nvPr/>
        </p:nvSpPr>
        <p:spPr>
          <a:xfrm>
            <a:off x="6711696" y="597103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5</a:t>
            </a:r>
            <a:endParaRPr lang="en-US" sz="1800" dirty="0"/>
          </a:p>
        </p:txBody>
      </p:sp>
      <p:sp>
        <p:nvSpPr>
          <p:cNvPr id="32" name="Text 28"/>
          <p:cNvSpPr/>
          <p:nvPr/>
        </p:nvSpPr>
        <p:spPr>
          <a:xfrm>
            <a:off x="6711696" y="6601968"/>
            <a:ext cx="4864608"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License status is a snapshot</a:t>
            </a:r>
            <a:endParaRPr lang="en-US" sz="2100" dirty="0"/>
          </a:p>
        </p:txBody>
      </p:sp>
      <p:sp>
        <p:nvSpPr>
          <p:cNvPr id="33" name="Text 29"/>
          <p:cNvSpPr/>
          <p:nvPr/>
        </p:nvSpPr>
        <p:spPr>
          <a:xfrm>
            <a:off x="6711696" y="7123176"/>
            <a:ext cx="4864608" cy="150876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It comes from the people file at collection time. Unknown is shown as Unknown, never as unlicensed.</a:t>
            </a:r>
            <a:endParaRPr lang="en-US" sz="1700" dirty="0"/>
          </a:p>
        </p:txBody>
      </p:sp>
      <p:sp>
        <p:nvSpPr>
          <p:cNvPr id="34" name="Shape 30"/>
          <p:cNvSpPr/>
          <p:nvPr/>
        </p:nvSpPr>
        <p:spPr>
          <a:xfrm>
            <a:off x="12170664" y="5641848"/>
            <a:ext cx="5504688" cy="3127248"/>
          </a:xfrm>
          <a:prstGeom prst="roundRect">
            <a:avLst>
              <a:gd name="adj" fmla="val 2924"/>
            </a:avLst>
          </a:prstGeom>
          <a:solidFill>
            <a:srgbClr val="FFFFFF"/>
          </a:solidFill>
          <a:ln w="12700">
            <a:solidFill>
              <a:srgbClr val="E2DDEB"/>
            </a:solidFill>
            <a:prstDash val="solid"/>
          </a:ln>
        </p:spPr>
        <p:txBody>
          <a:bodyPr/>
          <a:lstStyle/>
          <a:p>
            <a:endParaRPr lang="en-US"/>
          </a:p>
        </p:txBody>
      </p:sp>
      <p:sp>
        <p:nvSpPr>
          <p:cNvPr id="35" name="Shape 31"/>
          <p:cNvSpPr/>
          <p:nvPr/>
        </p:nvSpPr>
        <p:spPr>
          <a:xfrm>
            <a:off x="12490704" y="5961888"/>
            <a:ext cx="457200" cy="457200"/>
          </a:xfrm>
          <a:prstGeom prst="ellipse">
            <a:avLst/>
          </a:prstGeom>
          <a:solidFill>
            <a:srgbClr val="008774"/>
          </a:solidFill>
          <a:ln w="25400">
            <a:solidFill>
              <a:srgbClr val="FFFFFF"/>
            </a:solidFill>
            <a:prstDash val="solid"/>
          </a:ln>
        </p:spPr>
        <p:txBody>
          <a:bodyPr/>
          <a:lstStyle/>
          <a:p>
            <a:endParaRPr lang="en-US"/>
          </a:p>
        </p:txBody>
      </p:sp>
      <p:sp>
        <p:nvSpPr>
          <p:cNvPr id="36" name="Text 32"/>
          <p:cNvSpPr/>
          <p:nvPr/>
        </p:nvSpPr>
        <p:spPr>
          <a:xfrm>
            <a:off x="12490704" y="5971032"/>
            <a:ext cx="457200" cy="457200"/>
          </a:xfrm>
          <a:prstGeom prst="rect">
            <a:avLst/>
          </a:prstGeom>
          <a:noFill/>
          <a:ln/>
        </p:spPr>
        <p:txBody>
          <a:bodyPr wrap="square" lIns="0" tIns="0" rIns="0" bIns="0" rtlCol="0" anchor="ctr"/>
          <a:lstStyle/>
          <a:p>
            <a:pPr marL="0" indent="0" algn="ctr">
              <a:buNone/>
            </a:pPr>
            <a:r>
              <a:rPr lang="en-US" sz="1800" dirty="0">
                <a:solidFill>
                  <a:srgbClr val="FFFFFF"/>
                </a:solidFill>
                <a:latin typeface="Segoe UI Semibold" pitchFamily="34" charset="0"/>
                <a:ea typeface="Segoe UI Semibold" pitchFamily="34" charset="-122"/>
                <a:cs typeface="Segoe UI Semibold" pitchFamily="34" charset="-120"/>
              </a:rPr>
              <a:t>6</a:t>
            </a:r>
            <a:endParaRPr lang="en-US" sz="1800" dirty="0"/>
          </a:p>
        </p:txBody>
      </p:sp>
      <p:sp>
        <p:nvSpPr>
          <p:cNvPr id="37" name="Text 33"/>
          <p:cNvSpPr/>
          <p:nvPr/>
        </p:nvSpPr>
        <p:spPr>
          <a:xfrm>
            <a:off x="12490704" y="6601968"/>
            <a:ext cx="4864608"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Publishers aren't tenant creators</a:t>
            </a:r>
            <a:endParaRPr lang="en-US" sz="2100" dirty="0"/>
          </a:p>
        </p:txBody>
      </p:sp>
      <p:sp>
        <p:nvSpPr>
          <p:cNvPr id="38" name="Text 34"/>
          <p:cNvSpPr/>
          <p:nvPr/>
        </p:nvSpPr>
        <p:spPr>
          <a:xfrm>
            <a:off x="12490704" y="7123176"/>
            <a:ext cx="4864608" cy="150876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For store agents, Developer Name is the publisher, not a tenant creator. System and untracked entries aren't review targets.</a:t>
            </a:r>
            <a:endParaRPr lang="en-US" sz="1700" dirty="0"/>
          </a:p>
        </p:txBody>
      </p:sp>
      <p:sp>
        <p:nvSpPr>
          <p:cNvPr id="39" name="Shape 35"/>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40" name="Text 36"/>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1" name="Text 37"/>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System agents are excluded by default; Security Copilot shows "Usage not tracked here".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15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PRIVACY BUILT IN</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Team-level by default, detail only when approved</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Two controls decide what each viewer can see. Agree them before you share the report.</a:t>
            </a:r>
            <a:endParaRPr lang="en-US" sz="2000" dirty="0"/>
          </a:p>
        </p:txBody>
      </p:sp>
      <p:sp>
        <p:nvSpPr>
          <p:cNvPr id="9" name="Shape 5"/>
          <p:cNvSpPr/>
          <p:nvPr/>
        </p:nvSpPr>
        <p:spPr>
          <a:xfrm>
            <a:off x="612648" y="2286000"/>
            <a:ext cx="10378440" cy="6583680"/>
          </a:xfrm>
          <a:prstGeom prst="roundRect">
            <a:avLst>
              <a:gd name="adj" fmla="val 1389"/>
            </a:avLst>
          </a:prstGeom>
          <a:solidFill>
            <a:srgbClr val="FFFFFF"/>
          </a:solidFill>
          <a:ln w="12700">
            <a:solidFill>
              <a:srgbClr val="E2DDEB"/>
            </a:solidFill>
            <a:prstDash val="solid"/>
          </a:ln>
        </p:spPr>
        <p:txBody>
          <a:bodyPr/>
          <a:lstStyle/>
          <a:p>
            <a:endParaRPr lang="en-US"/>
          </a:p>
        </p:txBody>
      </p:sp>
      <p:sp>
        <p:nvSpPr>
          <p:cNvPr id="10" name="Text 6"/>
          <p:cNvSpPr/>
          <p:nvPr/>
        </p:nvSpPr>
        <p:spPr>
          <a:xfrm>
            <a:off x="978408" y="2514600"/>
            <a:ext cx="7315200"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MINIMUM GROUP SIZE</a:t>
            </a:r>
            <a:endParaRPr lang="en-US" sz="1200" dirty="0"/>
          </a:p>
        </p:txBody>
      </p:sp>
      <p:sp>
        <p:nvSpPr>
          <p:cNvPr id="11" name="Text 7"/>
          <p:cNvSpPr/>
          <p:nvPr/>
        </p:nvSpPr>
        <p:spPr>
          <a:xfrm>
            <a:off x="978408" y="2880360"/>
            <a:ext cx="9601200" cy="731520"/>
          </a:xfrm>
          <a:prstGeom prst="rect">
            <a:avLst/>
          </a:prstGeom>
          <a:noFill/>
          <a:ln/>
        </p:spPr>
        <p:txBody>
          <a:bodyPr wrap="square" lIns="0" tIns="0" rIns="0" bIns="0" rtlCol="0" anchor="t"/>
          <a:lstStyle/>
          <a:p>
            <a:pPr marL="0" indent="0">
              <a:buNone/>
            </a:pPr>
            <a:r>
              <a:rPr lang="en-US" sz="1900" dirty="0">
                <a:solidFill>
                  <a:srgbClr val="251833"/>
                </a:solidFill>
                <a:latin typeface="Segoe UI Semibold" pitchFamily="34" charset="0"/>
                <a:ea typeface="Segoe UI Semibold" pitchFamily="34" charset="-122"/>
                <a:cs typeface="Segoe UI Semibold" pitchFamily="34" charset="-120"/>
              </a:rPr>
              <a:t>The smallest number of eligible people a group needs before the report shows its results.</a:t>
            </a:r>
            <a:endParaRPr lang="en-US" sz="1900" dirty="0"/>
          </a:p>
        </p:txBody>
      </p:sp>
      <p:sp>
        <p:nvSpPr>
          <p:cNvPr id="12" name="Shape 8"/>
          <p:cNvSpPr/>
          <p:nvPr/>
        </p:nvSpPr>
        <p:spPr>
          <a:xfrm>
            <a:off x="978408" y="3794760"/>
            <a:ext cx="3063240" cy="3429000"/>
          </a:xfrm>
          <a:prstGeom prst="roundRect">
            <a:avLst>
              <a:gd name="adj" fmla="val 2985"/>
            </a:avLst>
          </a:prstGeom>
          <a:solidFill>
            <a:srgbClr val="ECE5F4"/>
          </a:solidFill>
          <a:ln/>
        </p:spPr>
        <p:txBody>
          <a:bodyPr/>
          <a:lstStyle/>
          <a:p>
            <a:endParaRPr lang="en-US"/>
          </a:p>
        </p:txBody>
      </p:sp>
      <p:sp>
        <p:nvSpPr>
          <p:cNvPr id="13" name="Text 9"/>
          <p:cNvSpPr/>
          <p:nvPr/>
        </p:nvSpPr>
        <p:spPr>
          <a:xfrm>
            <a:off x="1252728" y="4023360"/>
            <a:ext cx="2560320" cy="1188720"/>
          </a:xfrm>
          <a:prstGeom prst="rect">
            <a:avLst/>
          </a:prstGeom>
          <a:noFill/>
          <a:ln/>
        </p:spPr>
        <p:txBody>
          <a:bodyPr wrap="square" lIns="0" tIns="0" rIns="0" bIns="0" rtlCol="0" anchor="ctr"/>
          <a:lstStyle/>
          <a:p>
            <a:pPr marL="0" indent="0">
              <a:buNone/>
            </a:pPr>
            <a:r>
              <a:rPr lang="en-US" sz="6400" dirty="0">
                <a:solidFill>
                  <a:srgbClr val="7953B8"/>
                </a:solidFill>
                <a:latin typeface="Segoe UI Semibold" pitchFamily="34" charset="0"/>
                <a:ea typeface="Segoe UI Semibold" pitchFamily="34" charset="-122"/>
                <a:cs typeface="Segoe UI Semibold" pitchFamily="34" charset="-120"/>
              </a:rPr>
              <a:t>3</a:t>
            </a:r>
            <a:endParaRPr lang="en-US" sz="6400" dirty="0"/>
          </a:p>
        </p:txBody>
      </p:sp>
      <p:sp>
        <p:nvSpPr>
          <p:cNvPr id="14" name="Text 10"/>
          <p:cNvSpPr/>
          <p:nvPr/>
        </p:nvSpPr>
        <p:spPr>
          <a:xfrm>
            <a:off x="1252728" y="5349240"/>
            <a:ext cx="2560320"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Default</a:t>
            </a:r>
            <a:endParaRPr lang="en-US" sz="2100" dirty="0"/>
          </a:p>
        </p:txBody>
      </p:sp>
      <p:sp>
        <p:nvSpPr>
          <p:cNvPr id="15" name="Text 11"/>
          <p:cNvSpPr/>
          <p:nvPr/>
        </p:nvSpPr>
        <p:spPr>
          <a:xfrm>
            <a:off x="1252728" y="5897880"/>
            <a:ext cx="2560320" cy="123444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Team-level reporting. Individual activity stays hidden.</a:t>
            </a:r>
            <a:endParaRPr lang="en-US" sz="1700" dirty="0"/>
          </a:p>
        </p:txBody>
      </p:sp>
      <p:sp>
        <p:nvSpPr>
          <p:cNvPr id="16" name="Shape 12"/>
          <p:cNvSpPr/>
          <p:nvPr/>
        </p:nvSpPr>
        <p:spPr>
          <a:xfrm>
            <a:off x="4224528" y="3794760"/>
            <a:ext cx="3063240" cy="3429000"/>
          </a:xfrm>
          <a:prstGeom prst="roundRect">
            <a:avLst>
              <a:gd name="adj" fmla="val 2985"/>
            </a:avLst>
          </a:prstGeom>
          <a:solidFill>
            <a:srgbClr val="ECE5F4"/>
          </a:solidFill>
          <a:ln/>
        </p:spPr>
        <p:txBody>
          <a:bodyPr/>
          <a:lstStyle/>
          <a:p>
            <a:endParaRPr lang="en-US"/>
          </a:p>
        </p:txBody>
      </p:sp>
      <p:sp>
        <p:nvSpPr>
          <p:cNvPr id="17" name="Text 13"/>
          <p:cNvSpPr/>
          <p:nvPr/>
        </p:nvSpPr>
        <p:spPr>
          <a:xfrm>
            <a:off x="4498848" y="4023360"/>
            <a:ext cx="2560320" cy="1188720"/>
          </a:xfrm>
          <a:prstGeom prst="rect">
            <a:avLst/>
          </a:prstGeom>
          <a:noFill/>
          <a:ln/>
        </p:spPr>
        <p:txBody>
          <a:bodyPr wrap="square" lIns="0" tIns="0" rIns="0" bIns="0" rtlCol="0" anchor="ctr"/>
          <a:lstStyle/>
          <a:p>
            <a:pPr marL="0" indent="0">
              <a:buNone/>
            </a:pPr>
            <a:r>
              <a:rPr lang="en-US" sz="6400" dirty="0">
                <a:solidFill>
                  <a:srgbClr val="008774"/>
                </a:solidFill>
                <a:latin typeface="Segoe UI Semibold" pitchFamily="34" charset="0"/>
                <a:ea typeface="Segoe UI Semibold" pitchFamily="34" charset="-122"/>
                <a:cs typeface="Segoe UI Semibold" pitchFamily="34" charset="-120"/>
              </a:rPr>
              <a:t>1</a:t>
            </a:r>
            <a:endParaRPr lang="en-US" sz="6400" dirty="0"/>
          </a:p>
        </p:txBody>
      </p:sp>
      <p:sp>
        <p:nvSpPr>
          <p:cNvPr id="18" name="Text 14"/>
          <p:cNvSpPr/>
          <p:nvPr/>
        </p:nvSpPr>
        <p:spPr>
          <a:xfrm>
            <a:off x="4498848" y="5349240"/>
            <a:ext cx="2560320"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Approved detail</a:t>
            </a:r>
            <a:endParaRPr lang="en-US" sz="2100" dirty="0"/>
          </a:p>
        </p:txBody>
      </p:sp>
      <p:sp>
        <p:nvSpPr>
          <p:cNvPr id="19" name="Text 15"/>
          <p:cNvSpPr/>
          <p:nvPr/>
        </p:nvSpPr>
        <p:spPr>
          <a:xfrm>
            <a:off x="4498848" y="5897880"/>
            <a:ext cx="2560320" cy="123444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Individual views, such as By user. Use only when approved.</a:t>
            </a:r>
            <a:endParaRPr lang="en-US" sz="1700" dirty="0"/>
          </a:p>
        </p:txBody>
      </p:sp>
      <p:sp>
        <p:nvSpPr>
          <p:cNvPr id="20" name="Shape 16"/>
          <p:cNvSpPr/>
          <p:nvPr/>
        </p:nvSpPr>
        <p:spPr>
          <a:xfrm>
            <a:off x="7470648" y="3794760"/>
            <a:ext cx="3063240" cy="3429000"/>
          </a:xfrm>
          <a:prstGeom prst="roundRect">
            <a:avLst>
              <a:gd name="adj" fmla="val 2985"/>
            </a:avLst>
          </a:prstGeom>
          <a:solidFill>
            <a:srgbClr val="ECE5F4"/>
          </a:solidFill>
          <a:ln/>
        </p:spPr>
        <p:txBody>
          <a:bodyPr/>
          <a:lstStyle/>
          <a:p>
            <a:endParaRPr lang="en-US"/>
          </a:p>
        </p:txBody>
      </p:sp>
      <p:sp>
        <p:nvSpPr>
          <p:cNvPr id="21" name="Text 17"/>
          <p:cNvSpPr/>
          <p:nvPr/>
        </p:nvSpPr>
        <p:spPr>
          <a:xfrm>
            <a:off x="7744968" y="4023360"/>
            <a:ext cx="2560320" cy="1188720"/>
          </a:xfrm>
          <a:prstGeom prst="rect">
            <a:avLst/>
          </a:prstGeom>
          <a:noFill/>
          <a:ln/>
        </p:spPr>
        <p:txBody>
          <a:bodyPr wrap="square" lIns="0" tIns="0" rIns="0" bIns="0" rtlCol="0" anchor="ctr"/>
          <a:lstStyle/>
          <a:p>
            <a:pPr marL="0" indent="0">
              <a:buNone/>
            </a:pPr>
            <a:r>
              <a:rPr lang="en-US" sz="6400" dirty="0">
                <a:solidFill>
                  <a:srgbClr val="BF5B25"/>
                </a:solidFill>
                <a:latin typeface="Segoe UI Semibold" pitchFamily="34" charset="0"/>
                <a:ea typeface="Segoe UI Semibold" pitchFamily="34" charset="-122"/>
                <a:cs typeface="Segoe UI Semibold" pitchFamily="34" charset="-120"/>
              </a:rPr>
              <a:t>10</a:t>
            </a:r>
            <a:endParaRPr lang="en-US" sz="6400" dirty="0"/>
          </a:p>
        </p:txBody>
      </p:sp>
      <p:sp>
        <p:nvSpPr>
          <p:cNvPr id="22" name="Text 18"/>
          <p:cNvSpPr/>
          <p:nvPr/>
        </p:nvSpPr>
        <p:spPr>
          <a:xfrm>
            <a:off x="7744968" y="5349240"/>
            <a:ext cx="2560320"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Your choice</a:t>
            </a:r>
            <a:endParaRPr lang="en-US" sz="2100" dirty="0"/>
          </a:p>
        </p:txBody>
      </p:sp>
      <p:sp>
        <p:nvSpPr>
          <p:cNvPr id="23" name="Text 19"/>
          <p:cNvSpPr/>
          <p:nvPr/>
        </p:nvSpPr>
        <p:spPr>
          <a:xfrm>
            <a:off x="7744968" y="5897880"/>
            <a:ext cx="2560320" cy="123444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Any whole number of 1 or more. For example, 10 shows groups of ten or more.</a:t>
            </a:r>
            <a:endParaRPr lang="en-US" sz="1700" dirty="0"/>
          </a:p>
        </p:txBody>
      </p:sp>
      <p:sp>
        <p:nvSpPr>
          <p:cNvPr id="24" name="Text 20"/>
          <p:cNvSpPr/>
          <p:nvPr/>
        </p:nvSpPr>
        <p:spPr>
          <a:xfrm>
            <a:off x="978408" y="7406640"/>
            <a:ext cx="9646920" cy="1234440"/>
          </a:xfrm>
          <a:prstGeom prst="rect">
            <a:avLst/>
          </a:prstGeom>
          <a:noFill/>
          <a:ln/>
        </p:spPr>
        <p:txBody>
          <a:bodyPr wrap="square" lIns="0" tIns="0" rIns="0" bIns="0" rtlCol="0" anchor="t"/>
          <a:lstStyle/>
          <a:p>
            <a:pPr marL="0" indent="0">
              <a:buNone/>
            </a:pPr>
            <a:r>
              <a:rPr lang="en-US" sz="1600" dirty="0">
                <a:solidFill>
                  <a:srgbClr val="26354A"/>
                </a:solidFill>
                <a:latin typeface="Segoe UI" pitchFamily="34" charset="0"/>
                <a:ea typeface="Segoe UI" pitchFamily="34" charset="-122"/>
                <a:cs typeface="Segoe UI" pitchFamily="34" charset="-120"/>
              </a:rPr>
              <a:t>It counts eligible people in the group, not active users, so a qualifying team can still show zero, one or two active users. It's a display rule, not anonymization.</a:t>
            </a:r>
            <a:endParaRPr lang="en-US" sz="1600" dirty="0"/>
          </a:p>
        </p:txBody>
      </p:sp>
      <p:sp>
        <p:nvSpPr>
          <p:cNvPr id="25" name="Shape 21"/>
          <p:cNvSpPr/>
          <p:nvPr/>
        </p:nvSpPr>
        <p:spPr>
          <a:xfrm>
            <a:off x="11311128" y="2286000"/>
            <a:ext cx="6364224" cy="6583680"/>
          </a:xfrm>
          <a:prstGeom prst="roundRect">
            <a:avLst>
              <a:gd name="adj" fmla="val 1437"/>
            </a:avLst>
          </a:prstGeom>
          <a:solidFill>
            <a:srgbClr val="FFFFFF"/>
          </a:solidFill>
          <a:ln w="12700">
            <a:solidFill>
              <a:srgbClr val="E2DDEB"/>
            </a:solidFill>
            <a:prstDash val="solid"/>
          </a:ln>
        </p:spPr>
        <p:txBody>
          <a:bodyPr/>
          <a:lstStyle/>
          <a:p>
            <a:endParaRPr lang="en-US"/>
          </a:p>
        </p:txBody>
      </p:sp>
      <p:sp>
        <p:nvSpPr>
          <p:cNvPr id="26" name="Text 22"/>
          <p:cNvSpPr/>
          <p:nvPr/>
        </p:nvSpPr>
        <p:spPr>
          <a:xfrm>
            <a:off x="11676888" y="2514600"/>
            <a:ext cx="5669280"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ROW-LEVEL SECURITY ROLES</a:t>
            </a:r>
            <a:endParaRPr lang="en-US" sz="1200" dirty="0"/>
          </a:p>
        </p:txBody>
      </p:sp>
      <p:sp>
        <p:nvSpPr>
          <p:cNvPr id="27" name="Shape 23"/>
          <p:cNvSpPr/>
          <p:nvPr/>
        </p:nvSpPr>
        <p:spPr>
          <a:xfrm>
            <a:off x="11676888" y="2971800"/>
            <a:ext cx="5632704" cy="2103120"/>
          </a:xfrm>
          <a:prstGeom prst="roundRect">
            <a:avLst>
              <a:gd name="adj" fmla="val 4348"/>
            </a:avLst>
          </a:prstGeom>
          <a:solidFill>
            <a:srgbClr val="ECE5F4"/>
          </a:solidFill>
          <a:ln/>
        </p:spPr>
        <p:txBody>
          <a:bodyPr/>
          <a:lstStyle/>
          <a:p>
            <a:endParaRPr lang="en-US"/>
          </a:p>
        </p:txBody>
      </p:sp>
      <p:sp>
        <p:nvSpPr>
          <p:cNvPr id="28" name="Text 24"/>
          <p:cNvSpPr/>
          <p:nvPr/>
        </p:nvSpPr>
        <p:spPr>
          <a:xfrm>
            <a:off x="11951208" y="3200400"/>
            <a:ext cx="5120640"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Reporting hierarchy</a:t>
            </a:r>
            <a:endParaRPr lang="en-US" sz="2100" dirty="0"/>
          </a:p>
        </p:txBody>
      </p:sp>
      <p:sp>
        <p:nvSpPr>
          <p:cNvPr id="29" name="Text 25"/>
          <p:cNvSpPr/>
          <p:nvPr/>
        </p:nvSpPr>
        <p:spPr>
          <a:xfrm>
            <a:off x="11951208" y="3703320"/>
            <a:ext cx="5120640" cy="118872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Managers see themselves and descendants. Blank PAX manager keys or out-of-file managers form roots, not collapsed branches.</a:t>
            </a:r>
            <a:endParaRPr lang="en-US" sz="1700" dirty="0"/>
          </a:p>
        </p:txBody>
      </p:sp>
      <p:sp>
        <p:nvSpPr>
          <p:cNvPr id="30" name="Shape 26"/>
          <p:cNvSpPr/>
          <p:nvPr/>
        </p:nvSpPr>
        <p:spPr>
          <a:xfrm>
            <a:off x="11676888" y="5303520"/>
            <a:ext cx="5632704" cy="2103120"/>
          </a:xfrm>
          <a:prstGeom prst="roundRect">
            <a:avLst>
              <a:gd name="adj" fmla="val 4348"/>
            </a:avLst>
          </a:prstGeom>
          <a:solidFill>
            <a:srgbClr val="ECE5F4"/>
          </a:solidFill>
          <a:ln/>
        </p:spPr>
        <p:txBody>
          <a:bodyPr/>
          <a:lstStyle/>
          <a:p>
            <a:endParaRPr lang="en-US"/>
          </a:p>
        </p:txBody>
      </p:sp>
      <p:sp>
        <p:nvSpPr>
          <p:cNvPr id="31" name="Text 27"/>
          <p:cNvSpPr/>
          <p:nvPr/>
        </p:nvSpPr>
        <p:spPr>
          <a:xfrm>
            <a:off x="11951208" y="5532120"/>
            <a:ext cx="5120640" cy="457200"/>
          </a:xfrm>
          <a:prstGeom prst="rect">
            <a:avLst/>
          </a:prstGeom>
          <a:noFill/>
          <a:ln/>
        </p:spPr>
        <p:txBody>
          <a:bodyPr wrap="square" lIns="0" tIns="0" rIns="0" bIns="0" rtlCol="0" anchor="ctr"/>
          <a:lstStyle/>
          <a:p>
            <a:pPr marL="0" indent="0">
              <a:buNone/>
            </a:pPr>
            <a:r>
              <a:rPr lang="en-US" sz="2100" dirty="0">
                <a:solidFill>
                  <a:srgbClr val="251833"/>
                </a:solidFill>
                <a:latin typeface="Segoe UI Semibold" pitchFamily="34" charset="0"/>
                <a:ea typeface="Segoe UI Semibold" pitchFamily="34" charset="-122"/>
                <a:cs typeface="Segoe UI Semibold" pitchFamily="34" charset="-120"/>
              </a:rPr>
              <a:t>All data viewers</a:t>
            </a:r>
            <a:endParaRPr lang="en-US" sz="2100" dirty="0"/>
          </a:p>
        </p:txBody>
      </p:sp>
      <p:sp>
        <p:nvSpPr>
          <p:cNvPr id="32" name="Text 28"/>
          <p:cNvSpPr/>
          <p:nvPr/>
        </p:nvSpPr>
        <p:spPr>
          <a:xfrm>
            <a:off x="11951208" y="6035040"/>
            <a:ext cx="5120640" cy="1188720"/>
          </a:xfrm>
          <a:prstGeom prst="rect">
            <a:avLst/>
          </a:prstGeom>
          <a:noFill/>
          <a:ln/>
        </p:spPr>
        <p:txBody>
          <a:bodyPr wrap="square" lIns="0" tIns="0" rIns="0" bIns="0" rtlCol="0" anchor="t"/>
          <a:lstStyle/>
          <a:p>
            <a:pPr marL="0" indent="0">
              <a:buNone/>
            </a:pPr>
            <a:r>
              <a:rPr lang="en-US" sz="1700" dirty="0">
                <a:solidFill>
                  <a:srgbClr val="637087"/>
                </a:solidFill>
                <a:latin typeface="Segoe UI" pitchFamily="34" charset="0"/>
                <a:ea typeface="Segoe UI" pitchFamily="34" charset="-122"/>
                <a:cs typeface="Segoe UI" pitchFamily="34" charset="-120"/>
              </a:rPr>
              <a:t>Executive sponsors, analysts and adoption leads see the whole organization.</a:t>
            </a:r>
            <a:endParaRPr lang="en-US" sz="1700" dirty="0"/>
          </a:p>
        </p:txBody>
      </p:sp>
      <p:sp>
        <p:nvSpPr>
          <p:cNvPr id="33" name="Text 29"/>
          <p:cNvSpPr/>
          <p:nvPr/>
        </p:nvSpPr>
        <p:spPr>
          <a:xfrm>
            <a:off x="11676888" y="7772400"/>
            <a:ext cx="5632704" cy="822960"/>
          </a:xfrm>
          <a:prstGeom prst="rect">
            <a:avLst/>
          </a:prstGeom>
          <a:noFill/>
          <a:ln/>
        </p:spPr>
        <p:txBody>
          <a:bodyPr wrap="square" lIns="0" tIns="0" rIns="0" bIns="0" rtlCol="0" anchor="ctr"/>
          <a:lstStyle/>
          <a:p>
            <a:pPr marL="0" indent="0">
              <a:buNone/>
            </a:pPr>
            <a:r>
              <a:rPr lang="en-US" sz="1700" dirty="0">
                <a:solidFill>
                  <a:srgbClr val="BF5B25"/>
                </a:solidFill>
                <a:latin typeface="Segoe UI Semibold" pitchFamily="34" charset="0"/>
                <a:ea typeface="Segoe UI Semibold" pitchFamily="34" charset="-122"/>
                <a:cs typeface="Segoe UI Semibold" pitchFamily="34" charset="-120"/>
              </a:rPr>
              <a:t>Unassigned viewers see nothing. Any unresolved-manager diagnostic belongs only to the affected person, not their descendants.</a:t>
            </a:r>
            <a:endParaRPr lang="en-US" sz="1700" dirty="0"/>
          </a:p>
        </p:txBody>
      </p:sp>
      <p:sp>
        <p:nvSpPr>
          <p:cNvPr id="34" name="Shape 30"/>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35" name="Text 31"/>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6" name="Text 32"/>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By default we only see team-level results, and each person sees only the data their role allows.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F8"/>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637087"/>
                </a:solidFill>
                <a:latin typeface="Segoe UI" pitchFamily="34" charset="0"/>
                <a:ea typeface="Segoe UI" pitchFamily="34" charset="-122"/>
                <a:cs typeface="Segoe UI" pitchFamily="34" charset="-120"/>
              </a:rPr>
              <a:t>16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marL="0" indent="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MAKE IT USEFUL</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251833"/>
                </a:solidFill>
                <a:latin typeface="Segoe UI Semibold" pitchFamily="34" charset="0"/>
                <a:ea typeface="Segoe UI Semibold" pitchFamily="34" charset="-122"/>
                <a:cs typeface="Segoe UI Semibold" pitchFamily="34" charset="-120"/>
              </a:rPr>
              <a:t>Turn patterns into conversations</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marL="0" indent="0">
              <a:buNone/>
            </a:pPr>
            <a:r>
              <a:rPr lang="en-US" sz="2000" dirty="0">
                <a:solidFill>
                  <a:srgbClr val="637087"/>
                </a:solidFill>
                <a:latin typeface="Segoe UI" pitchFamily="34" charset="0"/>
                <a:ea typeface="Segoe UI" pitchFamily="34" charset="-122"/>
                <a:cs typeface="Segoe UI" pitchFamily="34" charset="-120"/>
              </a:rPr>
              <a:t>The report shows the pattern. The team can explain it. Agree one change, then look again next month.</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2648" y="2331720"/>
          <a:ext cx="17062704" cy="914400"/>
        </p:xfrm>
        <a:graphic>
          <a:graphicData uri="http://schemas.openxmlformats.org/drawingml/2006/table">
            <a:tbl>
              <a:tblPr/>
              <a:tblGrid>
                <a:gridCol w="512064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5641848">
                  <a:extLst>
                    <a:ext uri="{9D8B030D-6E8A-4147-A177-3AD203B41FA5}">
                      <a16:colId xmlns:a16="http://schemas.microsoft.com/office/drawing/2014/main" val="20002"/>
                    </a:ext>
                  </a:extLst>
                </a:gridCol>
              </a:tblGrid>
              <a:tr h="548640">
                <a:tc>
                  <a:txBody>
                    <a:bodyPr/>
                    <a:lstStyle/>
                    <a:p>
                      <a:pPr marL="0" indent="0">
                        <a:buNone/>
                      </a:pPr>
                      <a:r>
                        <a:rPr lang="en-US" sz="1400" dirty="0">
                          <a:solidFill>
                            <a:srgbClr val="FFFFFF"/>
                          </a:solidFill>
                          <a:latin typeface="Segoe UI Semibold" pitchFamily="34" charset="0"/>
                          <a:ea typeface="Segoe UI Semibold" pitchFamily="34" charset="-122"/>
                          <a:cs typeface="Segoe UI Semibold" pitchFamily="34" charset="-120"/>
                        </a:rPr>
                        <a:t>If you see…</a:t>
                      </a:r>
                      <a:endParaRPr lang="en-US" sz="14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251833"/>
                    </a:solidFill>
                  </a:tcPr>
                </a:tc>
                <a:tc>
                  <a:txBody>
                    <a:bodyPr/>
                    <a:lstStyle/>
                    <a:p>
                      <a:pPr marL="0" indent="0">
                        <a:buNone/>
                      </a:pPr>
                      <a:r>
                        <a:rPr lang="en-US" sz="1400" dirty="0">
                          <a:solidFill>
                            <a:srgbClr val="FFFFFF"/>
                          </a:solidFill>
                          <a:latin typeface="Segoe UI Semibold" pitchFamily="34" charset="0"/>
                          <a:ea typeface="Segoe UI Semibold" pitchFamily="34" charset="-122"/>
                          <a:cs typeface="Segoe UI Semibold" pitchFamily="34" charset="-120"/>
                        </a:rPr>
                        <a:t>Ask the team…</a:t>
                      </a:r>
                      <a:endParaRPr lang="en-US" sz="14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251833"/>
                    </a:solidFill>
                  </a:tcPr>
                </a:tc>
                <a:tc>
                  <a:txBody>
                    <a:bodyPr/>
                    <a:lstStyle/>
                    <a:p>
                      <a:pPr marL="0" indent="0">
                        <a:buNone/>
                      </a:pPr>
                      <a:r>
                        <a:rPr lang="en-US" sz="1400" dirty="0">
                          <a:solidFill>
                            <a:srgbClr val="FFFFFF"/>
                          </a:solidFill>
                          <a:latin typeface="Segoe UI Semibold" pitchFamily="34" charset="0"/>
                          <a:ea typeface="Segoe UI Semibold" pitchFamily="34" charset="-122"/>
                          <a:cs typeface="Segoe UI Semibold" pitchFamily="34" charset="-120"/>
                        </a:rPr>
                        <a:t>Try next…</a:t>
                      </a:r>
                      <a:endParaRPr lang="en-US" sz="14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251833"/>
                    </a:solidFill>
                  </a:tcPr>
                </a:tc>
                <a:extLst>
                  <a:ext uri="{0D108BD9-81ED-4DB2-BD59-A6C34878D82A}">
                    <a16:rowId xmlns:a16="http://schemas.microsoft.com/office/drawing/2014/main" val="10000"/>
                  </a:ext>
                </a:extLst>
              </a:tr>
              <a:tr h="1097280">
                <a:tc>
                  <a:txBody>
                    <a:bodyPr/>
                    <a:lstStyle/>
                    <a:p>
                      <a:pPr marL="0" indent="0">
                        <a:buNone/>
                      </a:pPr>
                      <a:r>
                        <a:rPr lang="en-US" sz="1500" dirty="0">
                          <a:solidFill>
                            <a:srgbClr val="251833"/>
                          </a:solidFill>
                          <a:latin typeface="Segoe UI Semibold" pitchFamily="34" charset="0"/>
                          <a:ea typeface="Segoe UI Semibold" pitchFamily="34" charset="-122"/>
                          <a:cs typeface="Segoe UI Semibold" pitchFamily="34" charset="-120"/>
                        </a:rPr>
                        <a:t>Many licensed users are inactive</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What gets in the way? Is it time, training or the type of work?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Run a short session on two everyday tasks</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97280">
                <a:tc>
                  <a:txBody>
                    <a:bodyPr/>
                    <a:lstStyle/>
                    <a:p>
                      <a:pPr marL="0" indent="0">
                        <a:buNone/>
                      </a:pPr>
                      <a:r>
                        <a:rPr lang="en-US" sz="1500" dirty="0">
                          <a:solidFill>
                            <a:srgbClr val="251833"/>
                          </a:solidFill>
                          <a:latin typeface="Segoe UI Semibold" pitchFamily="34" charset="0"/>
                          <a:ea typeface="Segoe UI Semibold" pitchFamily="34" charset="-122"/>
                          <a:cs typeface="Segoe UI Semibold" pitchFamily="34" charset="-120"/>
                        </a:rPr>
                        <a:t>A team uses Copilot Chat often without a license</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Would licensed features help their regular work?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Review on License Prioritization with cost and need</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extLst>
                  <a:ext uri="{0D108BD9-81ED-4DB2-BD59-A6C34878D82A}">
                    <a16:rowId xmlns:a16="http://schemas.microsoft.com/office/drawing/2014/main" val="10002"/>
                  </a:ext>
                </a:extLst>
              </a:tr>
              <a:tr h="1097280">
                <a:tc>
                  <a:txBody>
                    <a:bodyPr/>
                    <a:lstStyle/>
                    <a:p>
                      <a:pPr marL="0" indent="0">
                        <a:buNone/>
                      </a:pPr>
                      <a:r>
                        <a:rPr lang="en-US" sz="1500" dirty="0">
                          <a:solidFill>
                            <a:srgbClr val="251833"/>
                          </a:solidFill>
                          <a:latin typeface="Segoe UI Semibold" pitchFamily="34" charset="0"/>
                          <a:ea typeface="Segoe UI Semibold" pitchFamily="34" charset="-122"/>
                          <a:cs typeface="Segoe UI Semibold" pitchFamily="34" charset="-120"/>
                        </a:rPr>
                        <a:t>People try an agent but don't come back</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Does it answer the questions people actually ask?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Ask the owner to improve it, then compare in a month</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97280">
                <a:tc>
                  <a:txBody>
                    <a:bodyPr/>
                    <a:lstStyle/>
                    <a:p>
                      <a:pPr marL="0" indent="0">
                        <a:buNone/>
                      </a:pPr>
                      <a:r>
                        <a:rPr lang="en-US" sz="1500" dirty="0">
                          <a:solidFill>
                            <a:srgbClr val="251833"/>
                          </a:solidFill>
                          <a:latin typeface="Segoe UI Semibold" pitchFamily="34" charset="0"/>
                          <a:ea typeface="Segoe UI Semibold" pitchFamily="34" charset="-122"/>
                          <a:cs typeface="Segoe UI Semibold" pitchFamily="34" charset="-120"/>
                        </a:rPr>
                        <a:t>A small team relies on a specialist agent</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Could other teams with similar work benefit?</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Share it with one more team and watch reach</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extLst>
                  <a:ext uri="{0D108BD9-81ED-4DB2-BD59-A6C34878D82A}">
                    <a16:rowId xmlns:a16="http://schemas.microsoft.com/office/drawing/2014/main" val="10004"/>
                  </a:ext>
                </a:extLst>
              </a:tr>
              <a:tr h="1097280">
                <a:tc>
                  <a:txBody>
                    <a:bodyPr/>
                    <a:lstStyle/>
                    <a:p>
                      <a:pPr marL="0" indent="0">
                        <a:buNone/>
                      </a:pPr>
                      <a:r>
                        <a:rPr lang="en-US" sz="1500" dirty="0">
                          <a:solidFill>
                            <a:srgbClr val="251833"/>
                          </a:solidFill>
                          <a:latin typeface="Segoe UI Semibold" pitchFamily="34" charset="0"/>
                          <a:ea typeface="Segoe UI Semibold" pitchFamily="34" charset="-122"/>
                          <a:cs typeface="Segoe UI Semibold" pitchFamily="34" charset="-120"/>
                        </a:rPr>
                        <a:t>Habits stay Light month after month</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Which tasks could become a weekly routine?</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marL="0" indent="0">
                        <a:buNone/>
                      </a:pPr>
                      <a:r>
                        <a:rPr lang="en-US" sz="1500" dirty="0">
                          <a:solidFill>
                            <a:srgbClr val="637087"/>
                          </a:solidFill>
                          <a:latin typeface="Segoe UI" pitchFamily="34" charset="0"/>
                          <a:ea typeface="Segoe UI" pitchFamily="34" charset="-122"/>
                          <a:cs typeface="Segoe UI" pitchFamily="34" charset="-120"/>
                        </a:rPr>
                        <a:t>Agree one task to try with Copilot each week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hape 5"/>
          <p:cNvSpPr/>
          <p:nvPr/>
        </p:nvSpPr>
        <p:spPr>
          <a:xfrm>
            <a:off x="612648" y="9144000"/>
            <a:ext cx="17062704" cy="566928"/>
          </a:xfrm>
          <a:prstGeom prst="roundRect">
            <a:avLst>
              <a:gd name="adj" fmla="val 12903"/>
            </a:avLst>
          </a:prstGeom>
          <a:solidFill>
            <a:srgbClr val="251833"/>
          </a:solidFill>
          <a:ln/>
        </p:spPr>
        <p:txBody>
          <a:bodyPr/>
          <a:lstStyle/>
          <a:p>
            <a:endParaRPr lang="en-US"/>
          </a:p>
        </p:txBody>
      </p:sp>
      <p:sp>
        <p:nvSpPr>
          <p:cNvPr id="11" name="Text 6"/>
          <p:cNvSpPr/>
          <p:nvPr/>
        </p:nvSpPr>
        <p:spPr>
          <a:xfrm>
            <a:off x="841248" y="9144000"/>
            <a:ext cx="1463040" cy="566928"/>
          </a:xfrm>
          <a:prstGeom prst="rect">
            <a:avLst/>
          </a:prstGeom>
          <a:noFill/>
          <a:ln/>
        </p:spPr>
        <p:txBody>
          <a:bodyPr wrap="square" lIns="0" tIns="0" rIns="0" bIns="0" rtlCol="0" anchor="ctr"/>
          <a:lstStyle/>
          <a:p>
            <a:pPr marL="0" indent="0">
              <a:buNone/>
            </a:pPr>
            <a:r>
              <a:rPr lang="en-US" sz="1300" kern="0" spc="10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12" name="Text 7"/>
          <p:cNvSpPr/>
          <p:nvPr/>
        </p:nvSpPr>
        <p:spPr>
          <a:xfrm>
            <a:off x="2304288" y="9144000"/>
            <a:ext cx="15142464" cy="566928"/>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Segoe UI" pitchFamily="34" charset="0"/>
                <a:ea typeface="Segoe UI" pitchFamily="34" charset="-122"/>
                <a:cs typeface="Segoe UI" pitchFamily="34" charset="-120"/>
              </a:rPr>
              <a:t>Let's agree one change to try and come back to the same view next month.</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51833"/>
        </a:solidFill>
        <a:effectLst/>
      </p:bgPr>
    </p:bg>
    <p:spTree>
      <p:nvGrpSpPr>
        <p:cNvPr id="1" name=""/>
        <p:cNvGrpSpPr/>
        <p:nvPr/>
      </p:nvGrpSpPr>
      <p:grpSpPr>
        <a:xfrm>
          <a:off x="0" y="0"/>
          <a:ext cx="0" cy="0"/>
          <a:chOff x="0" y="0"/>
          <a:chExt cx="0" cy="0"/>
        </a:xfrm>
      </p:grpSpPr>
      <p:pic>
        <p:nvPicPr>
          <p:cNvPr id="2" name="Image 0" descr="Microsoft Copilot"/>
          <p:cNvPicPr>
            <a:picLocks noChangeAspect="1"/>
          </p:cNvPicPr>
          <p:nvPr/>
        </p:nvPicPr>
        <p:blipFill>
          <a:blip r:embed="rId3"/>
          <a:stretch>
            <a:fillRect/>
          </a:stretch>
        </p:blipFill>
        <p:spPr>
          <a:xfrm>
            <a:off x="17026128" y="457200"/>
            <a:ext cx="758952" cy="758952"/>
          </a:xfrm>
          <a:prstGeom prst="rect">
            <a:avLst/>
          </a:prstGeom>
        </p:spPr>
      </p:pic>
      <p:pic>
        <p:nvPicPr>
          <p:cNvPr id="3" name="Image 1" descr="Microsoft"/>
          <p:cNvPicPr>
            <a:picLocks noChangeAspect="1"/>
          </p:cNvPicPr>
          <p:nvPr/>
        </p:nvPicPr>
        <p:blipFill>
          <a:blip r:embed="rId4"/>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marL="0" indent="0" algn="r">
              <a:buNone/>
            </a:pPr>
            <a:r>
              <a:rPr lang="en-US" sz="1100" dirty="0">
                <a:solidFill>
                  <a:srgbClr val="CEBEDC"/>
                </a:solidFill>
                <a:latin typeface="Segoe UI" pitchFamily="34" charset="0"/>
                <a:ea typeface="Segoe UI" pitchFamily="34" charset="-122"/>
                <a:cs typeface="Segoe UI" pitchFamily="34" charset="-120"/>
              </a:rPr>
              <a:t>17 / 17</a:t>
            </a:r>
            <a:endParaRPr lang="en-US" sz="1100" dirty="0"/>
          </a:p>
        </p:txBody>
      </p:sp>
      <p:sp>
        <p:nvSpPr>
          <p:cNvPr id="5" name="Text 1"/>
          <p:cNvSpPr/>
          <p:nvPr/>
        </p:nvSpPr>
        <p:spPr>
          <a:xfrm>
            <a:off x="612648" y="384048"/>
            <a:ext cx="14630400" cy="301752"/>
          </a:xfrm>
          <a:prstGeom prst="rect">
            <a:avLst/>
          </a:prstGeom>
          <a:noFill/>
          <a:ln/>
        </p:spPr>
        <p:txBody>
          <a:bodyPr wrap="square" lIns="0" tIns="0" rIns="0" bIns="0" rtlCol="0" anchor="ctr"/>
          <a:lstStyle/>
          <a:p>
            <a:pPr marL="0" indent="0">
              <a:buNone/>
            </a:pPr>
            <a:r>
              <a:rPr lang="en-US" sz="1200" kern="0" spc="150" dirty="0">
                <a:solidFill>
                  <a:srgbClr val="B9F3E0"/>
                </a:solidFill>
                <a:latin typeface="Segoe UI Semibold" pitchFamily="34" charset="0"/>
                <a:ea typeface="Segoe UI Semibold" pitchFamily="34" charset="-122"/>
                <a:cs typeface="Segoe UI Semibold" pitchFamily="34" charset="-120"/>
              </a:rPr>
              <a:t>MAKE THE MOST OF V2.0.0</a:t>
            </a:r>
            <a:endParaRPr lang="en-US" sz="1200" dirty="0"/>
          </a:p>
        </p:txBody>
      </p:sp>
      <p:sp>
        <p:nvSpPr>
          <p:cNvPr id="6" name="Text 2"/>
          <p:cNvSpPr/>
          <p:nvPr/>
        </p:nvSpPr>
        <p:spPr>
          <a:xfrm>
            <a:off x="612648" y="822960"/>
            <a:ext cx="15910560" cy="740664"/>
          </a:xfrm>
          <a:prstGeom prst="rect">
            <a:avLst/>
          </a:prstGeom>
          <a:noFill/>
          <a:ln/>
        </p:spPr>
        <p:txBody>
          <a:bodyPr wrap="square" lIns="0" tIns="0" rIns="0" bIns="0" rtlCol="0" anchor="ctr">
            <a:normAutofit/>
          </a:bodyPr>
          <a:lstStyle/>
          <a:p>
            <a:pPr marL="0" indent="0">
              <a:buNone/>
            </a:pPr>
            <a:r>
              <a:rPr lang="en-US" sz="3700" dirty="0">
                <a:solidFill>
                  <a:srgbClr val="FFFFFF"/>
                </a:solidFill>
                <a:latin typeface="Segoe UI Semibold" pitchFamily="34" charset="0"/>
                <a:ea typeface="Segoe UI Semibold" pitchFamily="34" charset="-122"/>
                <a:cs typeface="Segoe UI Semibold" pitchFamily="34" charset="-120"/>
              </a:rPr>
              <a:t>From a clearer picture to a useful conversation.</a:t>
            </a:r>
            <a:endParaRPr lang="en-US" sz="3700" dirty="0"/>
          </a:p>
        </p:txBody>
      </p:sp>
      <p:sp>
        <p:nvSpPr>
          <p:cNvPr id="7" name="Shape 3"/>
          <p:cNvSpPr/>
          <p:nvPr/>
        </p:nvSpPr>
        <p:spPr>
          <a:xfrm>
            <a:off x="612648" y="2377440"/>
            <a:ext cx="5486400" cy="3291840"/>
          </a:xfrm>
          <a:prstGeom prst="roundRect">
            <a:avLst>
              <a:gd name="adj" fmla="val 2778"/>
            </a:avLst>
          </a:prstGeom>
          <a:solidFill>
            <a:srgbClr val="3B2750"/>
          </a:solidFill>
          <a:ln/>
        </p:spPr>
        <p:txBody>
          <a:bodyPr/>
          <a:lstStyle/>
          <a:p>
            <a:endParaRPr lang="en-US"/>
          </a:p>
        </p:txBody>
      </p:sp>
      <p:sp>
        <p:nvSpPr>
          <p:cNvPr id="8" name="Text 4"/>
          <p:cNvSpPr/>
          <p:nvPr/>
        </p:nvSpPr>
        <p:spPr>
          <a:xfrm>
            <a:off x="978408" y="2606040"/>
            <a:ext cx="1828800" cy="640080"/>
          </a:xfrm>
          <a:prstGeom prst="rect">
            <a:avLst/>
          </a:prstGeom>
          <a:noFill/>
          <a:ln/>
        </p:spPr>
        <p:txBody>
          <a:bodyPr wrap="square" lIns="0" tIns="0" rIns="0" bIns="0" rtlCol="0" anchor="ctr"/>
          <a:lstStyle/>
          <a:p>
            <a:pPr marL="0" indent="0">
              <a:buNone/>
            </a:pPr>
            <a:r>
              <a:rPr lang="en-US" sz="3000" dirty="0">
                <a:solidFill>
                  <a:srgbClr val="B9F3E0"/>
                </a:solidFill>
                <a:latin typeface="Segoe UI Semibold" pitchFamily="34" charset="0"/>
                <a:ea typeface="Segoe UI Semibold" pitchFamily="34" charset="-122"/>
                <a:cs typeface="Segoe UI Semibold" pitchFamily="34" charset="-120"/>
              </a:rPr>
              <a:t>01</a:t>
            </a:r>
            <a:endParaRPr lang="en-US" sz="3000" dirty="0"/>
          </a:p>
        </p:txBody>
      </p:sp>
      <p:sp>
        <p:nvSpPr>
          <p:cNvPr id="9" name="Text 5"/>
          <p:cNvSpPr/>
          <p:nvPr/>
        </p:nvSpPr>
        <p:spPr>
          <a:xfrm>
            <a:off x="978408" y="3337560"/>
            <a:ext cx="4754880" cy="457200"/>
          </a:xfrm>
          <a:prstGeom prst="rect">
            <a:avLst/>
          </a:prstGeom>
          <a:noFill/>
          <a:ln/>
        </p:spPr>
        <p:txBody>
          <a:bodyPr wrap="square" lIns="0" tIns="0" rIns="0" bIns="0" rtlCol="0" anchor="ctr"/>
          <a:lstStyle/>
          <a:p>
            <a:pPr marL="0" indent="0">
              <a:buNone/>
            </a:pPr>
            <a:r>
              <a:rPr lang="en-US" sz="2100" dirty="0">
                <a:solidFill>
                  <a:srgbClr val="FFFFFF"/>
                </a:solidFill>
                <a:latin typeface="Segoe UI Semibold" pitchFamily="34" charset="0"/>
                <a:ea typeface="Segoe UI Semibold" pitchFamily="34" charset="-122"/>
                <a:cs typeface="Segoe UI Semibold" pitchFamily="34" charset="-120"/>
              </a:rPr>
              <a:t>Find the right view</a:t>
            </a:r>
            <a:endParaRPr lang="en-US" sz="2100" dirty="0"/>
          </a:p>
        </p:txBody>
      </p:sp>
      <p:sp>
        <p:nvSpPr>
          <p:cNvPr id="10" name="Text 6"/>
          <p:cNvSpPr/>
          <p:nvPr/>
        </p:nvSpPr>
        <p:spPr>
          <a:xfrm>
            <a:off x="978408" y="3931920"/>
            <a:ext cx="4754880" cy="1554480"/>
          </a:xfrm>
          <a:prstGeom prst="rect">
            <a:avLst/>
          </a:prstGeom>
          <a:noFill/>
          <a:ln/>
        </p:spPr>
        <p:txBody>
          <a:bodyPr wrap="square" lIns="0" tIns="0" rIns="0" bIns="0" rtlCol="0" anchor="t"/>
          <a:lstStyle/>
          <a:p>
            <a:pPr marL="0" indent="0">
              <a:buNone/>
            </a:pPr>
            <a:r>
              <a:rPr lang="en-US" sz="1700" dirty="0">
                <a:solidFill>
                  <a:srgbClr val="CEBEDC"/>
                </a:solidFill>
                <a:latin typeface="Segoe UI" pitchFamily="34" charset="0"/>
                <a:ea typeface="Segoe UI" pitchFamily="34" charset="-122"/>
                <a:cs typeface="Segoe UI" pitchFamily="34" charset="-120"/>
              </a:rPr>
              <a:t>Start on Copilot Usage Explorer with a team and a full month, then follow the question to the right page.</a:t>
            </a:r>
            <a:endParaRPr lang="en-US" sz="1700" dirty="0"/>
          </a:p>
        </p:txBody>
      </p:sp>
      <p:sp>
        <p:nvSpPr>
          <p:cNvPr id="11" name="Shape 7"/>
          <p:cNvSpPr/>
          <p:nvPr/>
        </p:nvSpPr>
        <p:spPr>
          <a:xfrm>
            <a:off x="6400800" y="2377440"/>
            <a:ext cx="5486400" cy="3291840"/>
          </a:xfrm>
          <a:prstGeom prst="roundRect">
            <a:avLst>
              <a:gd name="adj" fmla="val 2778"/>
            </a:avLst>
          </a:prstGeom>
          <a:solidFill>
            <a:srgbClr val="3B2750"/>
          </a:solidFill>
          <a:ln/>
        </p:spPr>
        <p:txBody>
          <a:bodyPr/>
          <a:lstStyle/>
          <a:p>
            <a:endParaRPr lang="en-US"/>
          </a:p>
        </p:txBody>
      </p:sp>
      <p:sp>
        <p:nvSpPr>
          <p:cNvPr id="12" name="Text 8"/>
          <p:cNvSpPr/>
          <p:nvPr/>
        </p:nvSpPr>
        <p:spPr>
          <a:xfrm>
            <a:off x="6766560" y="2606040"/>
            <a:ext cx="1828800" cy="640080"/>
          </a:xfrm>
          <a:prstGeom prst="rect">
            <a:avLst/>
          </a:prstGeom>
          <a:noFill/>
          <a:ln/>
        </p:spPr>
        <p:txBody>
          <a:bodyPr wrap="square" lIns="0" tIns="0" rIns="0" bIns="0" rtlCol="0" anchor="ctr"/>
          <a:lstStyle/>
          <a:p>
            <a:pPr marL="0" indent="0">
              <a:buNone/>
            </a:pPr>
            <a:r>
              <a:rPr lang="en-US" sz="3000" dirty="0">
                <a:solidFill>
                  <a:srgbClr val="B9F3E0"/>
                </a:solidFill>
                <a:latin typeface="Segoe UI Semibold" pitchFamily="34" charset="0"/>
                <a:ea typeface="Segoe UI Semibold" pitchFamily="34" charset="-122"/>
                <a:cs typeface="Segoe UI Semibold" pitchFamily="34" charset="-120"/>
              </a:rPr>
              <a:t>02</a:t>
            </a:r>
            <a:endParaRPr lang="en-US" sz="3000" dirty="0"/>
          </a:p>
        </p:txBody>
      </p:sp>
      <p:sp>
        <p:nvSpPr>
          <p:cNvPr id="13" name="Text 9"/>
          <p:cNvSpPr/>
          <p:nvPr/>
        </p:nvSpPr>
        <p:spPr>
          <a:xfrm>
            <a:off x="6766560" y="3337560"/>
            <a:ext cx="4754880" cy="457200"/>
          </a:xfrm>
          <a:prstGeom prst="rect">
            <a:avLst/>
          </a:prstGeom>
          <a:noFill/>
          <a:ln/>
        </p:spPr>
        <p:txBody>
          <a:bodyPr wrap="square" lIns="0" tIns="0" rIns="0" bIns="0" rtlCol="0" anchor="ctr"/>
          <a:lstStyle/>
          <a:p>
            <a:pPr marL="0" indent="0">
              <a:buNone/>
            </a:pPr>
            <a:r>
              <a:rPr lang="en-US" sz="2100" dirty="0">
                <a:solidFill>
                  <a:srgbClr val="FFFFFF"/>
                </a:solidFill>
                <a:latin typeface="Segoe UI Semibold" pitchFamily="34" charset="0"/>
                <a:ea typeface="Segoe UI Semibold" pitchFamily="34" charset="-122"/>
                <a:cs typeface="Segoe UI Semibold" pitchFamily="34" charset="-120"/>
              </a:rPr>
              <a:t>Read the right numbers</a:t>
            </a:r>
            <a:endParaRPr lang="en-US" sz="2100" dirty="0"/>
          </a:p>
        </p:txBody>
      </p:sp>
      <p:sp>
        <p:nvSpPr>
          <p:cNvPr id="14" name="Text 10"/>
          <p:cNvSpPr/>
          <p:nvPr/>
        </p:nvSpPr>
        <p:spPr>
          <a:xfrm>
            <a:off x="6766560" y="3931920"/>
            <a:ext cx="4754880" cy="1554480"/>
          </a:xfrm>
          <a:prstGeom prst="rect">
            <a:avLst/>
          </a:prstGeom>
          <a:noFill/>
          <a:ln/>
        </p:spPr>
        <p:txBody>
          <a:bodyPr wrap="square" lIns="0" tIns="0" rIns="0" bIns="0" rtlCol="0" anchor="t"/>
          <a:lstStyle/>
          <a:p>
            <a:pPr marL="0" indent="0">
              <a:buNone/>
            </a:pPr>
            <a:r>
              <a:rPr lang="en-US" sz="1700" dirty="0">
                <a:solidFill>
                  <a:srgbClr val="CEBEDC"/>
                </a:solidFill>
                <a:latin typeface="Segoe UI" pitchFamily="34" charset="0"/>
                <a:ea typeface="Segoe UI" pitchFamily="34" charset="-122"/>
                <a:cs typeface="Segoe UI" pitchFamily="34" charset="-120"/>
              </a:rPr>
              <a:t>Read people, prompts and sessions separately. Check the habit month and the license snapshot before comparing.</a:t>
            </a:r>
            <a:endParaRPr lang="en-US" sz="1700" dirty="0"/>
          </a:p>
        </p:txBody>
      </p:sp>
      <p:sp>
        <p:nvSpPr>
          <p:cNvPr id="15" name="Shape 11"/>
          <p:cNvSpPr/>
          <p:nvPr/>
        </p:nvSpPr>
        <p:spPr>
          <a:xfrm>
            <a:off x="12188952" y="2377440"/>
            <a:ext cx="5486400" cy="3291840"/>
          </a:xfrm>
          <a:prstGeom prst="roundRect">
            <a:avLst>
              <a:gd name="adj" fmla="val 2778"/>
            </a:avLst>
          </a:prstGeom>
          <a:solidFill>
            <a:srgbClr val="3B2750"/>
          </a:solidFill>
          <a:ln/>
        </p:spPr>
        <p:txBody>
          <a:bodyPr/>
          <a:lstStyle/>
          <a:p>
            <a:endParaRPr lang="en-US"/>
          </a:p>
        </p:txBody>
      </p:sp>
      <p:sp>
        <p:nvSpPr>
          <p:cNvPr id="16" name="Text 12"/>
          <p:cNvSpPr/>
          <p:nvPr/>
        </p:nvSpPr>
        <p:spPr>
          <a:xfrm>
            <a:off x="12554712" y="2606040"/>
            <a:ext cx="1828800" cy="640080"/>
          </a:xfrm>
          <a:prstGeom prst="rect">
            <a:avLst/>
          </a:prstGeom>
          <a:noFill/>
          <a:ln/>
        </p:spPr>
        <p:txBody>
          <a:bodyPr wrap="square" lIns="0" tIns="0" rIns="0" bIns="0" rtlCol="0" anchor="ctr"/>
          <a:lstStyle/>
          <a:p>
            <a:pPr marL="0" indent="0">
              <a:buNone/>
            </a:pPr>
            <a:r>
              <a:rPr lang="en-US" sz="3000" dirty="0">
                <a:solidFill>
                  <a:srgbClr val="B9F3E0"/>
                </a:solidFill>
                <a:latin typeface="Segoe UI Semibold" pitchFamily="34" charset="0"/>
                <a:ea typeface="Segoe UI Semibold" pitchFamily="34" charset="-122"/>
                <a:cs typeface="Segoe UI Semibold" pitchFamily="34" charset="-120"/>
              </a:rPr>
              <a:t>03</a:t>
            </a:r>
            <a:endParaRPr lang="en-US" sz="3000" dirty="0"/>
          </a:p>
        </p:txBody>
      </p:sp>
      <p:sp>
        <p:nvSpPr>
          <p:cNvPr id="17" name="Text 13"/>
          <p:cNvSpPr/>
          <p:nvPr/>
        </p:nvSpPr>
        <p:spPr>
          <a:xfrm>
            <a:off x="12554712" y="3337560"/>
            <a:ext cx="4754880" cy="457200"/>
          </a:xfrm>
          <a:prstGeom prst="rect">
            <a:avLst/>
          </a:prstGeom>
          <a:noFill/>
          <a:ln/>
        </p:spPr>
        <p:txBody>
          <a:bodyPr wrap="square" lIns="0" tIns="0" rIns="0" bIns="0" rtlCol="0" anchor="ctr"/>
          <a:lstStyle/>
          <a:p>
            <a:pPr marL="0" indent="0">
              <a:buNone/>
            </a:pPr>
            <a:r>
              <a:rPr lang="en-US" sz="2100" dirty="0">
                <a:solidFill>
                  <a:srgbClr val="FFFFFF"/>
                </a:solidFill>
                <a:latin typeface="Segoe UI Semibold" pitchFamily="34" charset="0"/>
                <a:ea typeface="Segoe UI Semibold" pitchFamily="34" charset="-122"/>
                <a:cs typeface="Segoe UI Semibold" pitchFamily="34" charset="-120"/>
              </a:rPr>
              <a:t>Agree one next step</a:t>
            </a:r>
            <a:endParaRPr lang="en-US" sz="2100" dirty="0"/>
          </a:p>
        </p:txBody>
      </p:sp>
      <p:sp>
        <p:nvSpPr>
          <p:cNvPr id="18" name="Text 14"/>
          <p:cNvSpPr/>
          <p:nvPr/>
        </p:nvSpPr>
        <p:spPr>
          <a:xfrm>
            <a:off x="12554712" y="3931920"/>
            <a:ext cx="4754880" cy="1554480"/>
          </a:xfrm>
          <a:prstGeom prst="rect">
            <a:avLst/>
          </a:prstGeom>
          <a:noFill/>
          <a:ln/>
        </p:spPr>
        <p:txBody>
          <a:bodyPr wrap="square" lIns="0" tIns="0" rIns="0" bIns="0" rtlCol="0" anchor="t"/>
          <a:lstStyle/>
          <a:p>
            <a:pPr marL="0" indent="0">
              <a:buNone/>
            </a:pPr>
            <a:r>
              <a:rPr lang="en-US" sz="1700" dirty="0">
                <a:solidFill>
                  <a:srgbClr val="CEBEDC"/>
                </a:solidFill>
                <a:latin typeface="Segoe UI" pitchFamily="34" charset="0"/>
                <a:ea typeface="Segoe UI" pitchFamily="34" charset="-122"/>
                <a:cs typeface="Segoe UI" pitchFamily="34" charset="-120"/>
              </a:rPr>
              <a:t>Share what works, improve an agent or start a licensing conversation, then look again next month.</a:t>
            </a:r>
            <a:endParaRPr lang="en-US" sz="1700" dirty="0"/>
          </a:p>
        </p:txBody>
      </p:sp>
      <p:sp>
        <p:nvSpPr>
          <p:cNvPr id="19" name="Shape 15"/>
          <p:cNvSpPr/>
          <p:nvPr/>
        </p:nvSpPr>
        <p:spPr>
          <a:xfrm>
            <a:off x="612648" y="5989320"/>
            <a:ext cx="17062704" cy="2240280"/>
          </a:xfrm>
          <a:prstGeom prst="roundRect">
            <a:avLst>
              <a:gd name="adj" fmla="val 4082"/>
            </a:avLst>
          </a:prstGeom>
          <a:solidFill>
            <a:srgbClr val="FFFFFF"/>
          </a:solidFill>
          <a:ln/>
        </p:spPr>
        <p:txBody>
          <a:bodyPr/>
          <a:lstStyle/>
          <a:p>
            <a:endParaRPr lang="en-US"/>
          </a:p>
        </p:txBody>
      </p:sp>
      <p:sp>
        <p:nvSpPr>
          <p:cNvPr id="20" name="Text 16"/>
          <p:cNvSpPr/>
          <p:nvPr/>
        </p:nvSpPr>
        <p:spPr>
          <a:xfrm>
            <a:off x="978408" y="6263640"/>
            <a:ext cx="7315200" cy="320040"/>
          </a:xfrm>
          <a:prstGeom prst="rect">
            <a:avLst/>
          </a:prstGeom>
          <a:noFill/>
          <a:ln/>
        </p:spPr>
        <p:txBody>
          <a:bodyPr wrap="square" lIns="0" tIns="0" rIns="0" bIns="0" rtlCol="0" anchor="ctr"/>
          <a:lstStyle/>
          <a:p>
            <a:pPr marL="0" indent="0">
              <a:buNone/>
            </a:pPr>
            <a:r>
              <a:rPr lang="en-US" sz="1200" kern="0" spc="150" dirty="0">
                <a:solidFill>
                  <a:srgbClr val="7953B8"/>
                </a:solidFill>
                <a:latin typeface="Segoe UI Semibold" pitchFamily="34" charset="0"/>
                <a:ea typeface="Segoe UI Semibold" pitchFamily="34" charset="-122"/>
                <a:cs typeface="Segoe UI Semibold" pitchFamily="34" charset="-120"/>
              </a:rPr>
              <a:t>KEEP LEARNING</a:t>
            </a:r>
            <a:endParaRPr lang="en-US" sz="1200" dirty="0"/>
          </a:p>
        </p:txBody>
      </p:sp>
      <p:sp>
        <p:nvSpPr>
          <p:cNvPr id="21" name="Text 17">
            <a:hlinkClick r:id="rId5"/>
          </p:cNvPr>
          <p:cNvSpPr/>
          <p:nvPr/>
        </p:nvSpPr>
        <p:spPr>
          <a:xfrm>
            <a:off x="978408" y="6720840"/>
            <a:ext cx="3931920" cy="411480"/>
          </a:xfrm>
          <a:prstGeom prst="rect">
            <a:avLst/>
          </a:prstGeom>
          <a:noFill/>
          <a:ln/>
        </p:spPr>
        <p:txBody>
          <a:bodyPr wrap="square" lIns="0" tIns="0" rIns="0" bIns="0" rtlCol="0" anchor="ctr"/>
          <a:lstStyle/>
          <a:p>
            <a:pPr marL="0" indent="0">
              <a:buNone/>
            </a:pPr>
            <a:r>
              <a:rPr lang="en-US" sz="2000" u="sng" dirty="0">
                <a:solidFill>
                  <a:srgbClr val="251833"/>
                </a:solidFill>
                <a:latin typeface="Segoe UI Semibold" pitchFamily="34" charset="0"/>
                <a:ea typeface="Segoe UI Semibold" pitchFamily="34" charset="-122"/>
                <a:cs typeface="Segoe UI Semibold" pitchFamily="34" charset="-120"/>
                <a:hlinkClick r:id="rId5">
                  <a:extLst>
                    <a:ext uri="{A12FA001-AC4F-418D-AE19-62706E023703}">
                      <ahyp:hlinkClr xmlns:ahyp="http://schemas.microsoft.com/office/drawing/2018/hyperlinkcolor" val="tx"/>
                    </a:ext>
                  </a:extLst>
                </a:hlinkClick>
              </a:rPr>
              <a:t>Interpretation Guide</a:t>
            </a:r>
            <a:endParaRPr lang="en-US" sz="2000" dirty="0"/>
          </a:p>
        </p:txBody>
      </p:sp>
      <p:sp>
        <p:nvSpPr>
          <p:cNvPr id="22" name="Text 18"/>
          <p:cNvSpPr/>
          <p:nvPr/>
        </p:nvSpPr>
        <p:spPr>
          <a:xfrm>
            <a:off x="978408" y="7223760"/>
            <a:ext cx="3931920" cy="731520"/>
          </a:xfrm>
          <a:prstGeom prst="rect">
            <a:avLst/>
          </a:prstGeom>
          <a:noFill/>
          <a:ln/>
        </p:spPr>
        <p:txBody>
          <a:bodyPr wrap="square" lIns="0" tIns="0" rIns="0" bIns="0" rtlCol="0" anchor="t"/>
          <a:lstStyle/>
          <a:p>
            <a:pPr marL="0" indent="0">
              <a:buNone/>
            </a:pPr>
            <a:r>
              <a:rPr lang="en-US" sz="1600" dirty="0">
                <a:solidFill>
                  <a:srgbClr val="637087"/>
                </a:solidFill>
                <a:latin typeface="Segoe UI" pitchFamily="34" charset="0"/>
                <a:ea typeface="Segoe UI" pitchFamily="34" charset="-122"/>
                <a:cs typeface="Segoe UI" pitchFamily="34" charset="-120"/>
              </a:rPr>
              <a:t>What every number means, page by page</a:t>
            </a:r>
            <a:endParaRPr lang="en-US" sz="1600" dirty="0"/>
          </a:p>
        </p:txBody>
      </p:sp>
      <p:sp>
        <p:nvSpPr>
          <p:cNvPr id="23" name="Text 19">
            <a:hlinkClick r:id="rId6"/>
          </p:cNvPr>
          <p:cNvSpPr/>
          <p:nvPr/>
        </p:nvSpPr>
        <p:spPr>
          <a:xfrm>
            <a:off x="5184648" y="6720840"/>
            <a:ext cx="3931920" cy="411480"/>
          </a:xfrm>
          <a:prstGeom prst="rect">
            <a:avLst/>
          </a:prstGeom>
          <a:noFill/>
          <a:ln/>
        </p:spPr>
        <p:txBody>
          <a:bodyPr wrap="square" lIns="0" tIns="0" rIns="0" bIns="0" rtlCol="0" anchor="ctr"/>
          <a:lstStyle/>
          <a:p>
            <a:pPr marL="0" indent="0">
              <a:buNone/>
            </a:pPr>
            <a:r>
              <a:rPr lang="en-US" sz="2000" u="sng" dirty="0">
                <a:solidFill>
                  <a:srgbClr val="251833"/>
                </a:solidFill>
                <a:latin typeface="Segoe UI Semibold" pitchFamily="34" charset="0"/>
                <a:ea typeface="Segoe UI Semibold" pitchFamily="34" charset="-122"/>
                <a:cs typeface="Segoe UI Semibold" pitchFamily="34" charset="-120"/>
                <a:hlinkClick r:id="rId6">
                  <a:extLst>
                    <a:ext uri="{A12FA001-AC4F-418D-AE19-62706E023703}">
                      <ahyp:hlinkClr xmlns:ahyp="http://schemas.microsoft.com/office/drawing/2018/hyperlinkcolor" val="tx"/>
                    </a:ext>
                  </a:extLst>
                </a:hlinkClick>
              </a:rPr>
              <a:t>Metric Glossary &amp; Guide</a:t>
            </a:r>
            <a:endParaRPr lang="en-US" sz="2000" dirty="0"/>
          </a:p>
        </p:txBody>
      </p:sp>
      <p:sp>
        <p:nvSpPr>
          <p:cNvPr id="24" name="Text 20"/>
          <p:cNvSpPr/>
          <p:nvPr/>
        </p:nvSpPr>
        <p:spPr>
          <a:xfrm>
            <a:off x="5184648" y="7223760"/>
            <a:ext cx="3931920" cy="731520"/>
          </a:xfrm>
          <a:prstGeom prst="rect">
            <a:avLst/>
          </a:prstGeom>
          <a:noFill/>
          <a:ln/>
        </p:spPr>
        <p:txBody>
          <a:bodyPr wrap="square" lIns="0" tIns="0" rIns="0" bIns="0" rtlCol="0" anchor="t"/>
          <a:lstStyle/>
          <a:p>
            <a:pPr marL="0" indent="0">
              <a:buNone/>
            </a:pPr>
            <a:r>
              <a:rPr lang="en-US" sz="1600" dirty="0">
                <a:solidFill>
                  <a:srgbClr val="637087"/>
                </a:solidFill>
                <a:latin typeface="Segoe UI" pitchFamily="34" charset="0"/>
                <a:ea typeface="Segoe UI" pitchFamily="34" charset="-122"/>
                <a:cs typeface="Segoe UI" pitchFamily="34" charset="-120"/>
              </a:rPr>
              <a:t>Definitions inside the report itself</a:t>
            </a:r>
            <a:endParaRPr lang="en-US" sz="1600" dirty="0"/>
          </a:p>
        </p:txBody>
      </p:sp>
      <p:sp>
        <p:nvSpPr>
          <p:cNvPr id="25" name="Text 21">
            <a:hlinkClick r:id="rId7"/>
          </p:cNvPr>
          <p:cNvSpPr/>
          <p:nvPr/>
        </p:nvSpPr>
        <p:spPr>
          <a:xfrm>
            <a:off x="9390888" y="6720840"/>
            <a:ext cx="3931920" cy="411480"/>
          </a:xfrm>
          <a:prstGeom prst="rect">
            <a:avLst/>
          </a:prstGeom>
          <a:noFill/>
          <a:ln/>
        </p:spPr>
        <p:txBody>
          <a:bodyPr wrap="square" lIns="0" tIns="0" rIns="0" bIns="0" rtlCol="0" anchor="ctr"/>
          <a:lstStyle/>
          <a:p>
            <a:pPr marL="0" indent="0">
              <a:buNone/>
            </a:pPr>
            <a:r>
              <a:rPr lang="en-US" sz="2000" u="sng" dirty="0">
                <a:solidFill>
                  <a:srgbClr val="251833"/>
                </a:solidFill>
                <a:latin typeface="Segoe UI Semibold" pitchFamily="34" charset="0"/>
                <a:ea typeface="Segoe UI Semibold" pitchFamily="34" charset="-122"/>
                <a:cs typeface="Segoe UI Semibold" pitchFamily="34" charset="-120"/>
                <a:hlinkClick r:id="rId7">
                  <a:extLst>
                    <a:ext uri="{A12FA001-AC4F-418D-AE19-62706E023703}">
                      <ahyp:hlinkClr xmlns:ahyp="http://schemas.microsoft.com/office/drawing/2018/hyperlinkcolor" val="tx"/>
                    </a:ext>
                  </a:extLst>
                </a:hlinkClick>
              </a:rPr>
              <a:t>Screenshot tour</a:t>
            </a:r>
            <a:endParaRPr lang="en-US" sz="2000" dirty="0"/>
          </a:p>
        </p:txBody>
      </p:sp>
      <p:sp>
        <p:nvSpPr>
          <p:cNvPr id="26" name="Text 22"/>
          <p:cNvSpPr/>
          <p:nvPr/>
        </p:nvSpPr>
        <p:spPr>
          <a:xfrm>
            <a:off x="9390888" y="7223760"/>
            <a:ext cx="3931920" cy="731520"/>
          </a:xfrm>
          <a:prstGeom prst="rect">
            <a:avLst/>
          </a:prstGeom>
          <a:noFill/>
          <a:ln/>
        </p:spPr>
        <p:txBody>
          <a:bodyPr wrap="square" lIns="0" tIns="0" rIns="0" bIns="0" rtlCol="0" anchor="t"/>
          <a:lstStyle/>
          <a:p>
            <a:pPr marL="0" indent="0">
              <a:buNone/>
            </a:pPr>
            <a:r>
              <a:rPr lang="en-US" sz="1600" dirty="0">
                <a:solidFill>
                  <a:srgbClr val="637087"/>
                </a:solidFill>
                <a:latin typeface="Segoe UI" pitchFamily="34" charset="0"/>
                <a:ea typeface="Segoe UI" pitchFamily="34" charset="-122"/>
                <a:cs typeface="Segoe UI" pitchFamily="34" charset="-120"/>
              </a:rPr>
              <a:t>All 17 pages on GitHub</a:t>
            </a:r>
            <a:endParaRPr lang="en-US" sz="1600" dirty="0"/>
          </a:p>
        </p:txBody>
      </p:sp>
      <p:sp>
        <p:nvSpPr>
          <p:cNvPr id="27" name="Text 23">
            <a:hlinkClick r:id="rId8"/>
          </p:cNvPr>
          <p:cNvSpPr/>
          <p:nvPr/>
        </p:nvSpPr>
        <p:spPr>
          <a:xfrm>
            <a:off x="13597128" y="6720840"/>
            <a:ext cx="3931920" cy="411480"/>
          </a:xfrm>
          <a:prstGeom prst="rect">
            <a:avLst/>
          </a:prstGeom>
          <a:noFill/>
          <a:ln/>
        </p:spPr>
        <p:txBody>
          <a:bodyPr wrap="square" lIns="0" tIns="0" rIns="0" bIns="0" rtlCol="0" anchor="ctr"/>
          <a:lstStyle/>
          <a:p>
            <a:pPr marL="0" indent="0">
              <a:buNone/>
            </a:pPr>
            <a:r>
              <a:rPr lang="en-US" sz="2000" u="sng" dirty="0">
                <a:solidFill>
                  <a:srgbClr val="251833"/>
                </a:solidFill>
                <a:latin typeface="Segoe UI Semibold" pitchFamily="34" charset="0"/>
                <a:ea typeface="Segoe UI Semibold" pitchFamily="34" charset="-122"/>
                <a:cs typeface="Segoe UI Semibold" pitchFamily="34" charset="-120"/>
                <a:hlinkClick r:id="rId8">
                  <a:extLst>
                    <a:ext uri="{A12FA001-AC4F-418D-AE19-62706E023703}">
                      <ahyp:hlinkClr xmlns:ahyp="http://schemas.microsoft.com/office/drawing/2018/hyperlinkcolor" val="tx"/>
                    </a:ext>
                  </a:extLst>
                </a:hlinkClick>
              </a:rPr>
              <a:t>aka.ms/Analytics-Hub</a:t>
            </a:r>
            <a:endParaRPr lang="en-US" sz="2000" dirty="0"/>
          </a:p>
        </p:txBody>
      </p:sp>
      <p:sp>
        <p:nvSpPr>
          <p:cNvPr id="28" name="Text 24"/>
          <p:cNvSpPr/>
          <p:nvPr/>
        </p:nvSpPr>
        <p:spPr>
          <a:xfrm>
            <a:off x="13597128" y="7223760"/>
            <a:ext cx="3931920" cy="731520"/>
          </a:xfrm>
          <a:prstGeom prst="rect">
            <a:avLst/>
          </a:prstGeom>
          <a:noFill/>
          <a:ln/>
        </p:spPr>
        <p:txBody>
          <a:bodyPr wrap="square" lIns="0" tIns="0" rIns="0" bIns="0" rtlCol="0" anchor="t"/>
          <a:lstStyle/>
          <a:p>
            <a:pPr marL="0" indent="0">
              <a:buNone/>
            </a:pPr>
            <a:r>
              <a:rPr lang="en-US" sz="1600" dirty="0">
                <a:solidFill>
                  <a:srgbClr val="637087"/>
                </a:solidFill>
                <a:latin typeface="Segoe UI" pitchFamily="34" charset="0"/>
                <a:ea typeface="Segoe UI" pitchFamily="34" charset="-122"/>
                <a:cs typeface="Segoe UI" pitchFamily="34" charset="-120"/>
              </a:rPr>
              <a:t>More free Copilot analytics reports</a:t>
            </a:r>
            <a:endParaRPr lang="en-US" sz="1600" dirty="0"/>
          </a:p>
        </p:txBody>
      </p:sp>
      <p:sp>
        <p:nvSpPr>
          <p:cNvPr id="29" name="Text 25"/>
          <p:cNvSpPr/>
          <p:nvPr/>
        </p:nvSpPr>
        <p:spPr>
          <a:xfrm>
            <a:off x="612648" y="8549640"/>
            <a:ext cx="17062704" cy="548640"/>
          </a:xfrm>
          <a:prstGeom prst="rect">
            <a:avLst/>
          </a:prstGeom>
          <a:noFill/>
          <a:ln/>
        </p:spPr>
        <p:txBody>
          <a:bodyPr wrap="square" lIns="0" tIns="0" rIns="0" bIns="0" rtlCol="0" anchor="ctr"/>
          <a:lstStyle/>
          <a:p>
            <a:pPr marL="0" indent="0">
              <a:buNone/>
            </a:pPr>
            <a:r>
              <a:rPr lang="en-US" sz="1300" dirty="0">
                <a:solidFill>
                  <a:srgbClr val="CEBEDC"/>
                </a:solidFill>
                <a:latin typeface="Segoe UI" pitchFamily="34" charset="0"/>
                <a:ea typeface="Segoe UI" pitchFamily="34" charset="-122"/>
                <a:cs typeface="Segoe UI" pitchFamily="34" charset="-120"/>
              </a:rPr>
              <a:t>Synthetic screenshots use Minimum Group Size 1 for optional detail; templates default to 3. Real individual views require approval. Get the report at aka.ms/AI-in-One.</a:t>
            </a:r>
            <a:r>
              <a:rPr lang="en-US" sz="1300" u="sng" dirty="0">
                <a:solidFill>
                  <a:srgbClr val="FFFFFF"/>
                </a:solidFill>
                <a:latin typeface="Segoe UI" pitchFamily="34" charset="0"/>
                <a:ea typeface="Segoe UI" pitchFamily="34" charset="-122"/>
                <a:cs typeface="Segoe UI" pitchFamily="34" charset="-120"/>
                <a:hlinkClick r:id="rId9">
                  <a:extLst>
                    <a:ext uri="{A12FA001-AC4F-418D-AE19-62706E023703}">
                      <ahyp:hlinkClr xmlns:ahyp="http://schemas.microsoft.com/office/drawing/2018/hyperlinkcolor" val="tx"/>
                    </a:ext>
                  </a:extLst>
                </a:hlinkClick>
              </a:rPr>
              <a:t/>
            </a:r>
            <a:r>
              <a:rPr lang="en-US" sz="1300" dirty="0">
                <a:solidFill>
                  <a:srgbClr val="CEBEDC"/>
                </a:solidFill>
                <a:latin typeface="Segoe UI" pitchFamily="34" charset="0"/>
                <a:ea typeface="Segoe UI" pitchFamily="34" charset="-122"/>
                <a:cs typeface="Segoe UI" pitchFamily="34" charset="-120"/>
              </a:rPr>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TotalTime>
  <Words>4864</Words>
  <Application>Microsoft Office PowerPoint</Application>
  <PresentationFormat>Custom</PresentationFormat>
  <Paragraphs>425</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AI-in-One Dashboard v2.0.0 - Storyboard</dc:title>
  <dc:subject>PptxGenJS Presentation</dc:subject>
  <dc:creator>Microsoft Copilot Analytics Team</dc:creator>
  <cp:lastModifiedBy>Brian Middendorf</cp:lastModifiedBy>
  <cp:revision>1</cp:revision>
  <dcterms:created xsi:type="dcterms:W3CDTF">2026-10-06T00:08:47Z</dcterms:created>
  <dcterms:modified xsi:type="dcterms:W3CDTF">2026-10-06T00:20:48Z</dcterms:modified>
</cp:coreProperties>
</file>